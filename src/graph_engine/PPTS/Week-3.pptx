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Times New Roman" charset="1" panose="02020603050405020304"/>
      <p:regular r:id="rId33"/>
    </p:embeddedFont>
    <p:embeddedFont>
      <p:font typeface="Times New Roman Bold" charset="1" panose="02020803070505020304"/>
      <p:regular r:id="rId34"/>
    </p:embeddedFont>
    <p:embeddedFont>
      <p:font typeface="Calibri (MS)" charset="1" panose="020F0502020204030204"/>
      <p:regular r:id="rId35"/>
    </p:embeddedFont>
    <p:embeddedFont>
      <p:font typeface="TT Rounds Condensed" charset="1" panose="02000506030000020003"/>
      <p:regular r:id="rId36"/>
    </p:embeddedFont>
    <p:embeddedFont>
      <p:font typeface="Calibri (MS) Bold" charset="1" panose="020F0702030404030204"/>
      <p:regular r:id="rId37"/>
    </p:embeddedFont>
    <p:embeddedFont>
      <p:font typeface="Canva Sans Bold" charset="1" panose="020B0803030501040103"/>
      <p:regular r:id="rId38"/>
    </p:embeddedFont>
    <p:embeddedFont>
      <p:font typeface="Arimo" charset="1" panose="020B0604020202020204"/>
      <p:regular r:id="rId39"/>
    </p:embeddedFont>
    <p:embeddedFont>
      <p:font typeface="Arimo Bold" charset="1" panose="020B07040202020202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5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" y="-14288"/>
            <a:ext cx="18345150" cy="10315575"/>
            <a:chOff x="0" y="0"/>
            <a:chExt cx="24460200" cy="13754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60200" cy="13754100"/>
            </a:xfrm>
            <a:custGeom>
              <a:avLst/>
              <a:gdLst/>
              <a:ahLst/>
              <a:cxnLst/>
              <a:rect r="r" b="b" t="t" l="l"/>
              <a:pathLst>
                <a:path h="13754100" w="24460200">
                  <a:moveTo>
                    <a:pt x="0" y="0"/>
                  </a:moveTo>
                  <a:lnTo>
                    <a:pt x="24460200" y="0"/>
                  </a:lnTo>
                  <a:lnTo>
                    <a:pt x="24460200" y="13754100"/>
                  </a:lnTo>
                  <a:lnTo>
                    <a:pt x="0" y="1375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36795" y="4511040"/>
            <a:ext cx="1201769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CORTEX:A Context &amp; Graph-Aware Multi-Agent Framework for Explainable Industrial IoT Threat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4750" y="7169338"/>
            <a:ext cx="7853455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Lokpradeep B - AM.SC.U4CYS23018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Uday  Ganesh B - AM.SC.U4CYS23019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charan N - AM.SC.U4CYS23029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Akshara Kruti P -  AM.SC.U4CYS23035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67058" y="8526651"/>
            <a:ext cx="8878252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Kurunandan Jain,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9525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40519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CONTENTS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242472" y="1271988"/>
            <a:ext cx="8329372" cy="709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0"/>
              </a:lnSpc>
            </a:pP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</a:t>
            </a: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Statement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Proposed Architecture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Overall Novelty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Expected Contributions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Week's Progress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Results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Individual Week’s Contribution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  <a:p>
            <a:pPr algn="just" marL="863601" indent="-431801" lvl="1">
              <a:lnSpc>
                <a:spcPts val="5600"/>
              </a:lnSpc>
              <a:buAutoNum type="arabicPeriod" startAt="1"/>
            </a:pPr>
            <a:r>
              <a:rPr lang="en-US" sz="4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4"/>
            <a:chOff x="0" y="0"/>
            <a:chExt cx="210312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+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3" r="0" b="-3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6101" y="1863566"/>
            <a:ext cx="15826499" cy="651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Amb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iguous Attack Progression: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Multi-stage Industrial IoT attacks propagate across devices and protocols, making the complete attack progression difficult to reconstruct accurately.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Insufficient Operational Context: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Security events often lack sufficient operational and asset context, reducing the reliability of threat interpretation in mission-critical environments.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Uncertain Threat Prioritization: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 analysts struggle to distinguish critical attacks from low-impact events due to the absence of reliable confidence estimation during investigation.</a:t>
            </a:r>
          </a:p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Delayed Incident Investigation: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Inaccurate attack reconstruction and fragmented evidence increase manual investigation time, delaying response in Industrial IoT environments.</a:t>
            </a:r>
          </a:p>
          <a:p>
            <a:pPr algn="l">
              <a:lnSpc>
                <a:spcPts val="515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257300" y="90487"/>
            <a:ext cx="15773400" cy="1376362"/>
            <a:chOff x="0" y="0"/>
            <a:chExt cx="21031200" cy="1835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</a:t>
              </a: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TATEMENT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96546" y="-320069"/>
            <a:ext cx="10894907" cy="1348769"/>
            <a:chOff x="0" y="0"/>
            <a:chExt cx="14823734" cy="1835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23734" cy="1835150"/>
            </a:xfrm>
            <a:custGeom>
              <a:avLst/>
              <a:gdLst/>
              <a:ahLst/>
              <a:cxnLst/>
              <a:rect r="r" b="b" t="t" l="l"/>
              <a:pathLst>
                <a:path h="1835150" w="14823734">
                  <a:moveTo>
                    <a:pt x="0" y="0"/>
                  </a:moveTo>
                  <a:lnTo>
                    <a:pt x="14823734" y="0"/>
                  </a:lnTo>
                  <a:lnTo>
                    <a:pt x="14823734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-41875" b="-1733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4823734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</a:t>
              </a: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ARCHITECTURE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601885" y="1541248"/>
            <a:ext cx="13084230" cy="7204504"/>
          </a:xfrm>
          <a:custGeom>
            <a:avLst/>
            <a:gdLst/>
            <a:ahLst/>
            <a:cxnLst/>
            <a:rect r="r" b="b" t="t" l="l"/>
            <a:pathLst>
              <a:path h="7204504" w="13084230">
                <a:moveTo>
                  <a:pt x="0" y="0"/>
                </a:moveTo>
                <a:lnTo>
                  <a:pt x="13084230" y="0"/>
                </a:lnTo>
                <a:lnTo>
                  <a:pt x="13084230" y="7204504"/>
                </a:lnTo>
                <a:lnTo>
                  <a:pt x="0" y="7204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76834" y="9616499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03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85377" y="872658"/>
            <a:ext cx="14734885" cy="9172466"/>
          </a:xfrm>
          <a:custGeom>
            <a:avLst/>
            <a:gdLst/>
            <a:ahLst/>
            <a:cxnLst/>
            <a:rect r="r" b="b" t="t" l="l"/>
            <a:pathLst>
              <a:path h="9172466" w="14734885">
                <a:moveTo>
                  <a:pt x="0" y="0"/>
                </a:moveTo>
                <a:lnTo>
                  <a:pt x="14734884" y="0"/>
                </a:lnTo>
                <a:lnTo>
                  <a:pt x="14734884" y="9172466"/>
                </a:lnTo>
                <a:lnTo>
                  <a:pt x="0" y="9172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45395" y="9459899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38610" y="424432"/>
            <a:ext cx="698015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 NOVELTY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31595"/>
            <a:ext cx="16295868" cy="792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</a:t>
            </a: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 Consistency Reasoning (DCCR)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Introduces a novel context reasoning framework that continuously generates Dynamic Context Profiles, models operational states, and evaluates context consistency with confidence-aware contextual intelligence.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Adaptive Graph-Based Attack Reconstruction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Dynamically reconstructs multi-stage attack paths using temporal relationships, provenance graphs, and graph intelligence to reveal attack progression.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Context &amp; Graph-Aware Multi-Agent Intelligence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Employs specialized CrewAI agents to collaboratively fuse contextual and graph intelligence, enabling explainable threat investigation and autonomous cyber decision support.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Adaptive Confidence-Driven Threat Assessment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Produces trustworthy threat prioritization by confidence-aware fusion of contextual reasoning and graph intelligence for explainable Industrial IoT cyber threat assessment.</a:t>
            </a:r>
          </a:p>
          <a:p>
            <a:pPr algn="l">
              <a:lnSpc>
                <a:spcPts val="48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97573" y="1273810"/>
          <a:ext cx="11659332" cy="7706043"/>
        </p:xfrm>
        <a:graphic>
          <a:graphicData uri="http://schemas.openxmlformats.org/drawingml/2006/table">
            <a:tbl>
              <a:tblPr/>
              <a:tblGrid>
                <a:gridCol w="5829666"/>
                <a:gridCol w="5829666"/>
              </a:tblGrid>
              <a:tr h="43758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UDAY</a:t>
                      </a:r>
                      <a:endParaRPr lang="en-US" sz="1100"/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IIoT Dataset Collection &amp; Preprocessing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Contextual IntelligenceEngine  Development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Multi-Agent AI Integration</a:t>
                      </a:r>
                    </a:p>
                    <a:p>
                      <a:pPr algn="l" marL="496567" indent="-248284" lvl="1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Dashboard Development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AKSHARA</a:t>
                      </a:r>
                      <a:endParaRPr lang="en-US" sz="1100"/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Contextual IntelligenceEngine Development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 Acquisition &amp; </a:t>
                      </a: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Operational Context Modeling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 Confidence Estimation &amp; Validation</a:t>
                      </a:r>
                    </a:p>
                    <a:p>
                      <a:pPr algn="l" marL="453388" indent="-226694" lvl="1">
                        <a:lnSpc>
                          <a:spcPts val="2939"/>
                        </a:lnSpc>
                        <a:buFont typeface="Arial"/>
                        <a:buChar char="•"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Dynamic Contextual Reasoning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02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5"/>
                        </a:lnSpc>
                        <a:defRPr/>
                      </a:pPr>
                      <a:r>
                        <a:rPr lang="en-US" sz="2203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                          LOKPRADEEP</a:t>
                      </a:r>
                      <a:endParaRPr lang="en-US" sz="1100"/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Adaptive Graph Intelligence Development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Temporal Knowledge Graph &amp; Neo4j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Attack Reconstruction &amp; Graph Analytics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Dashboard Development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CHARAN</a:t>
                      </a:r>
                      <a:endParaRPr lang="en-US" sz="1100"/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Network Provenance Graph 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Multi-Agent AI Development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CrewAI &amp; Llama 3 (Ollama) Integration</a:t>
                      </a:r>
                    </a:p>
                    <a:p>
                      <a:pPr algn="l" marL="431796" indent="-215898" lvl="1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Confidence Fusion &amp; Threat Intelligence</a:t>
                      </a:r>
                    </a:p>
                    <a:p>
                      <a:pPr algn="l">
                        <a:lnSpc>
                          <a:spcPts val="27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3586196" y="1849198"/>
          <a:ext cx="3976263" cy="5371914"/>
        </p:xfrm>
        <a:graphic>
          <a:graphicData uri="http://schemas.openxmlformats.org/drawingml/2006/table">
            <a:tbl>
              <a:tblPr/>
              <a:tblGrid>
                <a:gridCol w="3976263"/>
              </a:tblGrid>
              <a:tr h="53719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65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Common Contributions</a:t>
                      </a:r>
                      <a:endParaRPr lang="en-US" sz="1100"/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Survey &amp; Methodology</a:t>
                      </a:r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Integration &amp; Testing</a:t>
                      </a:r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Evaluation</a:t>
                      </a:r>
                    </a:p>
                    <a:p>
                      <a:pPr algn="l" marL="431799" indent="-215899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Experimental Analysis</a:t>
                      </a:r>
                    </a:p>
                    <a:p>
                      <a:pPr algn="ctr">
                        <a:lnSpc>
                          <a:spcPts val="3654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00976" y="228600"/>
            <a:ext cx="6790849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Overall Contributions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119634" y="953050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-347662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1031200" cy="180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40"/>
                </a:lnSpc>
              </a:pPr>
              <a:r>
                <a:rPr lang="en-US" sz="55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This Week's Progress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0809" y="1551979"/>
            <a:ext cx="17546382" cy="586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Finalized the ToN-IoT dataset by analyzing its structure a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nd identifying the required features 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Complet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 the data preprocessing pipeline, including data cleaning, categorical encoding, feature normalization, and dataset preparation.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Conducted feature analysis to identify significant features and prepare the feature mapping for contextual and graph-based analysis.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Started implementing the Contextual Intelligence Engine (Layer 3A) by defining contextual parameters and establishing the workflow for contextual analysis.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Ini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tiated the Adaptive Graph Intelligence Engine (Layer 3B) by defining graph entities, relationships, and the foundation of the Temporal Knowledge Graph and Network Provenance Graph.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57300" y="3750469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Individual Week’s Contribution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3338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08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2319" y="616494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Lokpradeep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11485" y="3072608"/>
            <a:ext cx="15847815" cy="262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Performed grap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h-orien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 data preprocessing for graph construction.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Conducted graph feature engineering by extracting entities, temporal attributes, and relationship information.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esigned the graph schema by defining graph nodes, relationships, and graph properties.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-347662"/>
            <a:ext cx="15773400" cy="1376362"/>
            <a:chOff x="0" y="0"/>
            <a:chExt cx="21031200" cy="1835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1031200" cy="180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Graph-Oriented Dataset Preparation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813389"/>
            <a:ext cx="9144000" cy="5486400"/>
          </a:xfrm>
          <a:custGeom>
            <a:avLst/>
            <a:gdLst/>
            <a:ahLst/>
            <a:cxnLst/>
            <a:rect r="r" b="b" t="t" l="l"/>
            <a:pathLst>
              <a:path h="5486400" w="9144000">
                <a:moveTo>
                  <a:pt x="0" y="0"/>
                </a:moveTo>
                <a:lnTo>
                  <a:pt x="9144000" y="0"/>
                </a:lnTo>
                <a:lnTo>
                  <a:pt x="9144000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4572763"/>
            <a:ext cx="8989481" cy="5393688"/>
          </a:xfrm>
          <a:custGeom>
            <a:avLst/>
            <a:gdLst/>
            <a:ahLst/>
            <a:cxnLst/>
            <a:rect r="r" b="b" t="t" l="l"/>
            <a:pathLst>
              <a:path h="5393688" w="8989481">
                <a:moveTo>
                  <a:pt x="0" y="0"/>
                </a:moveTo>
                <a:lnTo>
                  <a:pt x="8989481" y="0"/>
                </a:lnTo>
                <a:lnTo>
                  <a:pt x="8989481" y="5393688"/>
                </a:lnTo>
                <a:lnTo>
                  <a:pt x="0" y="5393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5302" y="9239250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3364" y="-347662"/>
            <a:ext cx="15773400" cy="1376362"/>
            <a:chOff x="0" y="0"/>
            <a:chExt cx="21031200" cy="1835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1031200" cy="180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Graph-Oriented Dataset Preparation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01593" y="1241135"/>
            <a:ext cx="11756571" cy="8229600"/>
          </a:xfrm>
          <a:custGeom>
            <a:avLst/>
            <a:gdLst/>
            <a:ahLst/>
            <a:cxnLst/>
            <a:rect r="r" b="b" t="t" l="l"/>
            <a:pathLst>
              <a:path h="8229600" w="11756571">
                <a:moveTo>
                  <a:pt x="0" y="0"/>
                </a:moveTo>
                <a:lnTo>
                  <a:pt x="11756572" y="0"/>
                </a:lnTo>
                <a:lnTo>
                  <a:pt x="1175657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94368" y="9451685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6147" y="-243146"/>
            <a:ext cx="18620293" cy="1376362"/>
            <a:chOff x="0" y="0"/>
            <a:chExt cx="24827058" cy="1835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27058" cy="1835150"/>
            </a:xfrm>
            <a:custGeom>
              <a:avLst/>
              <a:gdLst/>
              <a:ahLst/>
              <a:cxnLst/>
              <a:rect r="r" b="b" t="t" l="l"/>
              <a:pathLst>
                <a:path h="1835150" w="24827058">
                  <a:moveTo>
                    <a:pt x="0" y="0"/>
                  </a:moveTo>
                  <a:lnTo>
                    <a:pt x="24827058" y="0"/>
                  </a:lnTo>
                  <a:lnTo>
                    <a:pt x="24827058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15289" b="-1733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4827058" cy="180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Graph Feature &amp; Relationship Engineering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9050" y="1133217"/>
            <a:ext cx="8020566" cy="8020566"/>
          </a:xfrm>
          <a:custGeom>
            <a:avLst/>
            <a:gdLst/>
            <a:ahLst/>
            <a:cxnLst/>
            <a:rect r="r" b="b" t="t" l="l"/>
            <a:pathLst>
              <a:path h="8020566" w="8020566">
                <a:moveTo>
                  <a:pt x="0" y="0"/>
                </a:moveTo>
                <a:lnTo>
                  <a:pt x="8020566" y="0"/>
                </a:lnTo>
                <a:lnTo>
                  <a:pt x="8020566" y="8020566"/>
                </a:lnTo>
                <a:lnTo>
                  <a:pt x="0" y="8020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16563" y="1789442"/>
            <a:ext cx="10471437" cy="6708116"/>
          </a:xfrm>
          <a:custGeom>
            <a:avLst/>
            <a:gdLst/>
            <a:ahLst/>
            <a:cxnLst/>
            <a:rect r="r" b="b" t="t" l="l"/>
            <a:pathLst>
              <a:path h="6708116" w="10471437">
                <a:moveTo>
                  <a:pt x="0" y="0"/>
                </a:moveTo>
                <a:lnTo>
                  <a:pt x="10471437" y="0"/>
                </a:lnTo>
                <a:lnTo>
                  <a:pt x="10471437" y="6708116"/>
                </a:lnTo>
                <a:lnTo>
                  <a:pt x="0" y="6708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5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894368" y="9451685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-193614"/>
            <a:ext cx="15773400" cy="1376362"/>
            <a:chOff x="0" y="0"/>
            <a:chExt cx="21031200" cy="1835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1031200" cy="180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Graph Feature &amp; Relationship Engineering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38818" y="1182748"/>
            <a:ext cx="13459253" cy="8075552"/>
          </a:xfrm>
          <a:custGeom>
            <a:avLst/>
            <a:gdLst/>
            <a:ahLst/>
            <a:cxnLst/>
            <a:rect r="r" b="b" t="t" l="l"/>
            <a:pathLst>
              <a:path h="8075552" w="13459253">
                <a:moveTo>
                  <a:pt x="0" y="0"/>
                </a:moveTo>
                <a:lnTo>
                  <a:pt x="13459252" y="0"/>
                </a:lnTo>
                <a:lnTo>
                  <a:pt x="13459252" y="8075552"/>
                </a:lnTo>
                <a:lnTo>
                  <a:pt x="0" y="8075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94368" y="9451685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-347662"/>
            <a:ext cx="15773400" cy="1376362"/>
            <a:chOff x="0" y="0"/>
            <a:chExt cx="21031200" cy="1835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1031200" cy="180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Graph Schema Design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87261" y="1028700"/>
            <a:ext cx="10580214" cy="9621383"/>
          </a:xfrm>
          <a:custGeom>
            <a:avLst/>
            <a:gdLst/>
            <a:ahLst/>
            <a:cxnLst/>
            <a:rect r="r" b="b" t="t" l="l"/>
            <a:pathLst>
              <a:path h="9621383" w="10580214">
                <a:moveTo>
                  <a:pt x="0" y="0"/>
                </a:moveTo>
                <a:lnTo>
                  <a:pt x="10580214" y="0"/>
                </a:lnTo>
                <a:lnTo>
                  <a:pt x="10580214" y="9621383"/>
                </a:lnTo>
                <a:lnTo>
                  <a:pt x="0" y="9621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1635512"/>
            <a:ext cx="9482838" cy="7420320"/>
          </a:xfrm>
          <a:custGeom>
            <a:avLst/>
            <a:gdLst/>
            <a:ahLst/>
            <a:cxnLst/>
            <a:rect r="r" b="b" t="t" l="l"/>
            <a:pathLst>
              <a:path h="7420320" w="9482838">
                <a:moveTo>
                  <a:pt x="0" y="0"/>
                </a:moveTo>
                <a:lnTo>
                  <a:pt x="9482838" y="0"/>
                </a:lnTo>
                <a:lnTo>
                  <a:pt x="9482838" y="7420321"/>
                </a:lnTo>
                <a:lnTo>
                  <a:pt x="0" y="7420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894368" y="9451685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-347662"/>
            <a:ext cx="15773400" cy="1376362"/>
            <a:chOff x="0" y="0"/>
            <a:chExt cx="21031200" cy="1835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1031200" cy="180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Graph Schema Design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87261" y="1028700"/>
            <a:ext cx="10580214" cy="9621383"/>
          </a:xfrm>
          <a:custGeom>
            <a:avLst/>
            <a:gdLst/>
            <a:ahLst/>
            <a:cxnLst/>
            <a:rect r="r" b="b" t="t" l="l"/>
            <a:pathLst>
              <a:path h="9621383" w="10580214">
                <a:moveTo>
                  <a:pt x="0" y="0"/>
                </a:moveTo>
                <a:lnTo>
                  <a:pt x="10580214" y="0"/>
                </a:lnTo>
                <a:lnTo>
                  <a:pt x="10580214" y="9621383"/>
                </a:lnTo>
                <a:lnTo>
                  <a:pt x="0" y="9621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1635512"/>
            <a:ext cx="9482838" cy="7420320"/>
          </a:xfrm>
          <a:custGeom>
            <a:avLst/>
            <a:gdLst/>
            <a:ahLst/>
            <a:cxnLst/>
            <a:rect r="r" b="b" t="t" l="l"/>
            <a:pathLst>
              <a:path h="7420320" w="9482838">
                <a:moveTo>
                  <a:pt x="0" y="0"/>
                </a:moveTo>
                <a:lnTo>
                  <a:pt x="9482838" y="0"/>
                </a:lnTo>
                <a:lnTo>
                  <a:pt x="9482838" y="7420321"/>
                </a:lnTo>
                <a:lnTo>
                  <a:pt x="0" y="7420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894368" y="9451685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79809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5860" y="855728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Uday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0809" y="2174987"/>
            <a:ext cx="17546382" cy="4567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Finalized the TON-IoT dataset and completed context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-orien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 feature analysis.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Developed the Feature Dictionary and Context Attribute Repository for six contextual dimensions.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Designed the Dynamic Context Profile for Industrial IoT entities.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ted Stage 1: Multi-Source Context Extraction for Network, IoT, Linux, and Windows telemetry.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repared the Contextual Intelligence Engine for Stage 2 development.</a:t>
            </a:r>
          </a:p>
          <a:p>
            <a:pPr algn="just">
              <a:lnSpc>
                <a:spcPts val="5151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851261" y="833264"/>
            <a:ext cx="15087999" cy="7728950"/>
          </a:xfrm>
          <a:custGeom>
            <a:avLst/>
            <a:gdLst/>
            <a:ahLst/>
            <a:cxnLst/>
            <a:rect r="r" b="b" t="t" l="l"/>
            <a:pathLst>
              <a:path h="7728950" w="15087999">
                <a:moveTo>
                  <a:pt x="0" y="0"/>
                </a:moveTo>
                <a:lnTo>
                  <a:pt x="15087999" y="0"/>
                </a:lnTo>
                <a:lnTo>
                  <a:pt x="15087999" y="7728950"/>
                </a:lnTo>
                <a:lnTo>
                  <a:pt x="0" y="7728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807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57300" y="-193614"/>
            <a:ext cx="15773400" cy="1376362"/>
            <a:chOff x="0" y="0"/>
            <a:chExt cx="21031200" cy="1835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1031200" cy="180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Context Dimension Attribute Distribution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01885" y="1954122"/>
            <a:ext cx="13084230" cy="6840696"/>
          </a:xfrm>
          <a:custGeom>
            <a:avLst/>
            <a:gdLst/>
            <a:ahLst/>
            <a:cxnLst/>
            <a:rect r="r" b="b" t="t" l="l"/>
            <a:pathLst>
              <a:path h="6840696" w="13084230">
                <a:moveTo>
                  <a:pt x="0" y="0"/>
                </a:moveTo>
                <a:lnTo>
                  <a:pt x="13084230" y="0"/>
                </a:lnTo>
                <a:lnTo>
                  <a:pt x="13084230" y="6840696"/>
                </a:lnTo>
                <a:lnTo>
                  <a:pt x="0" y="6840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752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57300" y="-193614"/>
            <a:ext cx="15773400" cy="1376362"/>
            <a:chOff x="0" y="0"/>
            <a:chExt cx="21031200" cy="1835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1031200" cy="1806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Dynamic Context Profile Composition by Entity Type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74966" y="1004777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Charan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11708" y="2676971"/>
            <a:ext cx="16276843" cy="582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2319" indent="-376159" lvl="1">
              <a:lnSpc>
                <a:spcPts val="6585"/>
              </a:lnSpc>
              <a:buFont typeface="Arial"/>
              <a:buChar char="•"/>
            </a:pPr>
            <a:r>
              <a:rPr lang="en-US" sz="34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Developed the Network Provenance Graph schema(NPG) using the processed ToN-IoT network datasets.</a:t>
            </a:r>
          </a:p>
          <a:p>
            <a:pPr algn="just" marL="752319" indent="-376159" lvl="1">
              <a:lnSpc>
                <a:spcPts val="6585"/>
              </a:lnSpc>
              <a:buFont typeface="Arial"/>
              <a:buChar char="•"/>
            </a:pPr>
            <a:r>
              <a:rPr lang="en-US" sz="34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Implemented graph analytics for attack path reconstruction and event correlation.</a:t>
            </a:r>
          </a:p>
          <a:p>
            <a:pPr algn="just" marL="752319" indent="-376159" lvl="1">
              <a:lnSpc>
                <a:spcPts val="6585"/>
              </a:lnSpc>
              <a:buFont typeface="Arial"/>
              <a:buChar char="•"/>
            </a:pPr>
            <a:r>
              <a:rPr lang="en-US" sz="34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Validated the graph structure and optimized nodes, relationships, and graph connectivity.</a:t>
            </a:r>
          </a:p>
          <a:p>
            <a:pPr algn="just">
              <a:lnSpc>
                <a:spcPts val="6585"/>
              </a:lnSpc>
            </a:pPr>
            <a:r>
              <a:rPr lang="en-US" sz="348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algn="just">
              <a:lnSpc>
                <a:spcPts val="6585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1024" y="1491037"/>
            <a:ext cx="12015055" cy="7305440"/>
          </a:xfrm>
          <a:custGeom>
            <a:avLst/>
            <a:gdLst/>
            <a:ahLst/>
            <a:cxnLst/>
            <a:rect r="r" b="b" t="t" l="l"/>
            <a:pathLst>
              <a:path h="7305440" w="12015055">
                <a:moveTo>
                  <a:pt x="0" y="0"/>
                </a:moveTo>
                <a:lnTo>
                  <a:pt x="12015055" y="0"/>
                </a:lnTo>
                <a:lnTo>
                  <a:pt x="12015055" y="7305441"/>
                </a:lnTo>
                <a:lnTo>
                  <a:pt x="0" y="73054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644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7326" y="385416"/>
            <a:ext cx="1800958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  <a:spcBef>
                <a:spcPct val="0"/>
              </a:spcBef>
            </a:pPr>
            <a:r>
              <a:rPr lang="en-US" b="true" sz="358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Network Provenance Graph (NPG) Schema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66518"/>
            <a:ext cx="18288000" cy="10020482"/>
            <a:chOff x="0" y="0"/>
            <a:chExt cx="24951425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51426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951426">
                  <a:moveTo>
                    <a:pt x="0" y="0"/>
                  </a:moveTo>
                  <a:lnTo>
                    <a:pt x="24951426" y="0"/>
                  </a:lnTo>
                  <a:lnTo>
                    <a:pt x="24951426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94" r="0" b="-149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164742" y="1028700"/>
            <a:ext cx="11618268" cy="8147111"/>
          </a:xfrm>
          <a:custGeom>
            <a:avLst/>
            <a:gdLst/>
            <a:ahLst/>
            <a:cxnLst/>
            <a:rect r="r" b="b" t="t" l="l"/>
            <a:pathLst>
              <a:path h="8147111" w="11618268">
                <a:moveTo>
                  <a:pt x="0" y="0"/>
                </a:moveTo>
                <a:lnTo>
                  <a:pt x="11618268" y="0"/>
                </a:lnTo>
                <a:lnTo>
                  <a:pt x="11618268" y="8147111"/>
                </a:lnTo>
                <a:lnTo>
                  <a:pt x="0" y="8147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954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649681" y="9460971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3405" y="533400"/>
            <a:ext cx="1484923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3"/>
              </a:lnSpc>
              <a:spcBef>
                <a:spcPct val="0"/>
              </a:spcBef>
            </a:pPr>
            <a:r>
              <a:rPr lang="en-US" b="true" sz="316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ATTACK PATH RECONSTRUCTION USING NETWORK PROVENANCE GRAPH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20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5773400" cy="1376362"/>
            <a:chOff x="0" y="0"/>
            <a:chExt cx="21031200" cy="1835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835150"/>
            </a:xfrm>
            <a:custGeom>
              <a:avLst/>
              <a:gdLst/>
              <a:ahLst/>
              <a:cxnLst/>
              <a:rect r="r" b="b" t="t" l="l"/>
              <a:pathLst>
                <a:path h="183515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35150"/>
                  </a:lnTo>
                  <a:lnTo>
                    <a:pt x="0" y="1835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302" r="0" b="-17330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031200" cy="1816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39"/>
                </a:lnSpc>
              </a:pPr>
              <a:r>
                <a:rPr lang="en-US" sz="54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Akshara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0809" y="2478026"/>
            <a:ext cx="17546382" cy="391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Computed contextual score distributions for six operational context dimensions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Evaluated the overlap between benign and malicious context scores to assess the effectiveness of each context dimension for cyber threat intelligence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Classified the features in the dataset into contextual categories</a:t>
            </a:r>
          </a:p>
          <a:p>
            <a:pPr algn="just" marL="690879" indent="-345439" lvl="1">
              <a:lnSpc>
                <a:spcPts val="515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Defined dynamic contextual parameters with importance scores and cyber threat intelligence contribution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828652" y="1334943"/>
            <a:ext cx="12779989" cy="7683968"/>
          </a:xfrm>
          <a:custGeom>
            <a:avLst/>
            <a:gdLst/>
            <a:ahLst/>
            <a:cxnLst/>
            <a:rect r="r" b="b" t="t" l="l"/>
            <a:pathLst>
              <a:path h="7683968" w="12779989">
                <a:moveTo>
                  <a:pt x="0" y="0"/>
                </a:moveTo>
                <a:lnTo>
                  <a:pt x="12779989" y="0"/>
                </a:lnTo>
                <a:lnTo>
                  <a:pt x="12779989" y="7683969"/>
                </a:lnTo>
                <a:lnTo>
                  <a:pt x="0" y="7683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22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9008" y="264586"/>
            <a:ext cx="13750064" cy="76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9"/>
              </a:lnSpc>
            </a:pPr>
            <a:r>
              <a:rPr lang="en-US" sz="439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 of feature into contextual categories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3337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397003" y="1194592"/>
            <a:ext cx="10069611" cy="8471378"/>
          </a:xfrm>
          <a:custGeom>
            <a:avLst/>
            <a:gdLst/>
            <a:ahLst/>
            <a:cxnLst/>
            <a:rect r="r" b="b" t="t" l="l"/>
            <a:pathLst>
              <a:path h="8471378" w="10069611">
                <a:moveTo>
                  <a:pt x="0" y="0"/>
                </a:moveTo>
                <a:lnTo>
                  <a:pt x="10069611" y="0"/>
                </a:lnTo>
                <a:lnTo>
                  <a:pt x="10069611" y="8471378"/>
                </a:lnTo>
                <a:lnTo>
                  <a:pt x="0" y="8471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13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64586"/>
            <a:ext cx="17274683" cy="76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9"/>
              </a:lnSpc>
            </a:pPr>
            <a:r>
              <a:rPr lang="en-US" sz="439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Importance scores and cyber threat intelligence contribution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5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04860" y="1877498"/>
            <a:ext cx="12480749" cy="7278414"/>
          </a:xfrm>
          <a:custGeom>
            <a:avLst/>
            <a:gdLst/>
            <a:ahLst/>
            <a:cxnLst/>
            <a:rect r="r" b="b" t="t" l="l"/>
            <a:pathLst>
              <a:path h="7278414" w="12480749">
                <a:moveTo>
                  <a:pt x="0" y="0"/>
                </a:moveTo>
                <a:lnTo>
                  <a:pt x="12480749" y="0"/>
                </a:lnTo>
                <a:lnTo>
                  <a:pt x="12480749" y="7278414"/>
                </a:lnTo>
                <a:lnTo>
                  <a:pt x="0" y="727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31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94368" y="9460971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21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64586"/>
            <a:ext cx="17274683" cy="76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9"/>
              </a:lnSpc>
            </a:pPr>
            <a:r>
              <a:rPr lang="en-US" sz="439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Context Profile Score Distribution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74327" y="9442132"/>
            <a:ext cx="13649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24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18214" y="228600"/>
            <a:ext cx="305157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3"/>
              </a:lnSpc>
              <a:spcBef>
                <a:spcPct val="0"/>
              </a:spcBef>
            </a:pPr>
            <a:r>
              <a:rPr lang="en-US" b="true" sz="502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8083" y="2158216"/>
            <a:ext cx="16295868" cy="487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essfully completed the ToN-IoT dataset preparation, context-oriented preprocessing, and graph-oriented feature engineering.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Established the initial development workflows for the Contextual Intelligence (Layer 3A) and Adaptive Graph Intelligence (Layer 3B) modules.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Completed the design of the contextual reasoning and graph intelligence foundations, including the Temporal Knowledge Graph and Network Provenance Graph planning.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is well-positioned to advance toward the implementation, integration, and validation of the core intelligence modules in the next development phase.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00" y="0"/>
            <a:ext cx="18288000" cy="10253662"/>
            <a:chOff x="0" y="0"/>
            <a:chExt cx="24384000" cy="13671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671550"/>
            </a:xfrm>
            <a:custGeom>
              <a:avLst/>
              <a:gdLst/>
              <a:ahLst/>
              <a:cxnLst/>
              <a:rect r="r" b="b" t="t" l="l"/>
              <a:pathLst>
                <a:path h="136715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671550"/>
                  </a:lnTo>
                  <a:lnTo>
                    <a:pt x="0" y="136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343013" y="2535860"/>
            <a:ext cx="4979963" cy="4114800"/>
          </a:xfrm>
          <a:custGeom>
            <a:avLst/>
            <a:gdLst/>
            <a:ahLst/>
            <a:cxnLst/>
            <a:rect r="r" b="b" t="t" l="l"/>
            <a:pathLst>
              <a:path h="4114800" w="4979963">
                <a:moveTo>
                  <a:pt x="0" y="0"/>
                </a:moveTo>
                <a:lnTo>
                  <a:pt x="4979963" y="0"/>
                </a:lnTo>
                <a:lnTo>
                  <a:pt x="49799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DAHQqzbzLkw</dc:identifier>
  <dcterms:modified xsi:type="dcterms:W3CDTF">2011-08-01T06:04:30Z</dcterms:modified>
  <cp:revision>1</cp:revision>
  <dc:title>Week-3</dc:title>
</cp:coreProperties>
</file>