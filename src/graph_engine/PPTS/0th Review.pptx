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8288000" cy="10287000"/>
  <p:notesSz cx="6858000" cy="9144000"/>
  <p:embeddedFontLst>
    <p:embeddedFont>
      <p:font typeface="Arial Bold" panose="020B0704020202020204" pitchFamily="34" charset="0"/>
      <p:regular r:id="rId11"/>
      <p:bold r:id="rId12"/>
    </p:embeddedFont>
    <p:embeddedFont>
      <p:font typeface="Garamond Bold" panose="02020804030307010803" pitchFamily="18" charset="0"/>
      <p:regular r:id="rId13"/>
      <p:bold r:id="rId14"/>
    </p:embeddedFont>
    <p:embeddedFont>
      <p:font typeface="Times New Roman Bold" panose="02020803070505020304" pitchFamily="18"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D9AD9-111C-FFE0-6B1B-343B77ABB22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1AA1CD-BB10-89A6-34EB-1D4E6B4BFEB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12F6981-E33A-DC62-9364-B184EF159A9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A11CC61-1430-4A58-FE32-7139671D705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CEF4FD2-2BEA-FF80-73FF-F8F3AEEA5C6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1A96E720-F614-A1DA-7252-07566C02C69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26FA340-27C4-0CC5-F10B-FFAE2FB95E7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226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13716000"/>
                  </a:moveTo>
                  <a:lnTo>
                    <a:pt x="0" y="13716000"/>
                  </a:lnTo>
                  <a:lnTo>
                    <a:pt x="0" y="0"/>
                  </a:lnTo>
                  <a:lnTo>
                    <a:pt x="24384000" y="0"/>
                  </a:lnTo>
                  <a:lnTo>
                    <a:pt x="24384000" y="13716000"/>
                  </a:lnTo>
                  <a:close/>
                </a:path>
              </a:pathLst>
            </a:custGeom>
            <a:solidFill>
              <a:srgbClr val="2F5496"/>
            </a:solidFill>
          </p:spPr>
        </p:sp>
      </p:grpSp>
      <p:grpSp>
        <p:nvGrpSpPr>
          <p:cNvPr id="4" name="Group 4"/>
          <p:cNvGrpSpPr/>
          <p:nvPr/>
        </p:nvGrpSpPr>
        <p:grpSpPr>
          <a:xfrm>
            <a:off x="1096941" y="3478609"/>
            <a:ext cx="200939" cy="3302279"/>
            <a:chOff x="0" y="0"/>
            <a:chExt cx="267919" cy="4403039"/>
          </a:xfrm>
        </p:grpSpPr>
        <p:sp>
          <p:nvSpPr>
            <p:cNvPr id="5" name="Freeform 5"/>
            <p:cNvSpPr/>
            <p:nvPr/>
          </p:nvSpPr>
          <p:spPr>
            <a:xfrm>
              <a:off x="0" y="34925"/>
              <a:ext cx="69850" cy="4332732"/>
            </a:xfrm>
            <a:custGeom>
              <a:avLst/>
              <a:gdLst/>
              <a:ahLst/>
              <a:cxnLst/>
              <a:rect l="l" t="t" r="r" b="b"/>
              <a:pathLst>
                <a:path w="69850" h="4332732">
                  <a:moveTo>
                    <a:pt x="69850" y="0"/>
                  </a:moveTo>
                  <a:lnTo>
                    <a:pt x="69850" y="4332732"/>
                  </a:lnTo>
                  <a:lnTo>
                    <a:pt x="0" y="4332732"/>
                  </a:lnTo>
                  <a:lnTo>
                    <a:pt x="0" y="0"/>
                  </a:lnTo>
                  <a:close/>
                </a:path>
              </a:pathLst>
            </a:custGeom>
            <a:solidFill>
              <a:srgbClr val="FFFFFF"/>
            </a:solidFill>
          </p:spPr>
        </p:sp>
      </p:grpSp>
      <p:grpSp>
        <p:nvGrpSpPr>
          <p:cNvPr id="6" name="Group 6"/>
          <p:cNvGrpSpPr/>
          <p:nvPr/>
        </p:nvGrpSpPr>
        <p:grpSpPr>
          <a:xfrm>
            <a:off x="887982" y="398869"/>
            <a:ext cx="5344068" cy="1706556"/>
            <a:chOff x="0" y="0"/>
            <a:chExt cx="7125424" cy="2275408"/>
          </a:xfrm>
        </p:grpSpPr>
        <p:sp>
          <p:nvSpPr>
            <p:cNvPr id="7" name="Freeform 7"/>
            <p:cNvSpPr/>
            <p:nvPr/>
          </p:nvSpPr>
          <p:spPr>
            <a:xfrm>
              <a:off x="0" y="0"/>
              <a:ext cx="7125462" cy="2275459"/>
            </a:xfrm>
            <a:custGeom>
              <a:avLst/>
              <a:gdLst/>
              <a:ahLst/>
              <a:cxnLst/>
              <a:rect l="l" t="t" r="r" b="b"/>
              <a:pathLst>
                <a:path w="7125462" h="2275459">
                  <a:moveTo>
                    <a:pt x="0" y="0"/>
                  </a:moveTo>
                  <a:lnTo>
                    <a:pt x="7125462" y="0"/>
                  </a:lnTo>
                  <a:lnTo>
                    <a:pt x="7125462" y="2275459"/>
                  </a:lnTo>
                  <a:lnTo>
                    <a:pt x="0" y="2275459"/>
                  </a:lnTo>
                  <a:lnTo>
                    <a:pt x="0" y="0"/>
                  </a:lnTo>
                  <a:close/>
                </a:path>
              </a:pathLst>
            </a:custGeom>
            <a:blipFill>
              <a:blip r:embed="rId3"/>
              <a:stretch>
                <a:fillRect b="2"/>
              </a:stretch>
            </a:blipFill>
          </p:spPr>
        </p:sp>
      </p:grpSp>
      <p:grpSp>
        <p:nvGrpSpPr>
          <p:cNvPr id="8" name="Group 8"/>
          <p:cNvGrpSpPr/>
          <p:nvPr/>
        </p:nvGrpSpPr>
        <p:grpSpPr>
          <a:xfrm>
            <a:off x="13942298" y="398869"/>
            <a:ext cx="3599631" cy="1706556"/>
            <a:chOff x="0" y="0"/>
            <a:chExt cx="4799508" cy="2275408"/>
          </a:xfrm>
        </p:grpSpPr>
        <p:sp>
          <p:nvSpPr>
            <p:cNvPr id="9" name="Freeform 9"/>
            <p:cNvSpPr/>
            <p:nvPr/>
          </p:nvSpPr>
          <p:spPr>
            <a:xfrm>
              <a:off x="0" y="0"/>
              <a:ext cx="4799457" cy="2275459"/>
            </a:xfrm>
            <a:custGeom>
              <a:avLst/>
              <a:gdLst/>
              <a:ahLst/>
              <a:cxnLst/>
              <a:rect l="l" t="t" r="r" b="b"/>
              <a:pathLst>
                <a:path w="4799457" h="2275459">
                  <a:moveTo>
                    <a:pt x="0" y="0"/>
                  </a:moveTo>
                  <a:lnTo>
                    <a:pt x="4799457" y="0"/>
                  </a:lnTo>
                  <a:lnTo>
                    <a:pt x="4799457" y="2275459"/>
                  </a:lnTo>
                  <a:lnTo>
                    <a:pt x="0" y="2275459"/>
                  </a:lnTo>
                  <a:lnTo>
                    <a:pt x="0" y="0"/>
                  </a:lnTo>
                  <a:close/>
                </a:path>
              </a:pathLst>
            </a:custGeom>
            <a:blipFill>
              <a:blip r:embed="rId4"/>
              <a:stretch>
                <a:fillRect r="-1" b="-189"/>
              </a:stretch>
            </a:blipFill>
          </p:spPr>
        </p:sp>
      </p:grpSp>
      <p:sp>
        <p:nvSpPr>
          <p:cNvPr id="10" name="TextBox 10"/>
          <p:cNvSpPr txBox="1"/>
          <p:nvPr/>
        </p:nvSpPr>
        <p:spPr>
          <a:xfrm>
            <a:off x="1297880" y="3478609"/>
            <a:ext cx="15692239" cy="3924300"/>
          </a:xfrm>
          <a:prstGeom prst="rect">
            <a:avLst/>
          </a:prstGeom>
        </p:spPr>
        <p:txBody>
          <a:bodyPr lIns="0" tIns="0" rIns="0" bIns="0" rtlCol="0" anchor="t">
            <a:spAutoFit/>
          </a:bodyPr>
          <a:lstStyle/>
          <a:p>
            <a:pPr algn="ctr">
              <a:lnSpc>
                <a:spcPts val="7799"/>
              </a:lnSpc>
            </a:pPr>
            <a:r>
              <a:rPr lang="en-US" sz="6499" b="1">
                <a:solidFill>
                  <a:srgbClr val="FFFFFF"/>
                </a:solidFill>
                <a:latin typeface="Garamond Bold"/>
                <a:ea typeface="Garamond Bold"/>
                <a:cs typeface="Garamond Bold"/>
                <a:sym typeface="Garamond Bold"/>
              </a:rPr>
              <a:t>IoT Threat Twin for Smart-City Defense:</a:t>
            </a:r>
          </a:p>
          <a:p>
            <a:pPr algn="ctr">
              <a:lnSpc>
                <a:spcPts val="7799"/>
              </a:lnSpc>
            </a:pPr>
            <a:r>
              <a:rPr lang="en-US" sz="6499" b="1">
                <a:solidFill>
                  <a:srgbClr val="FFFFFF"/>
                </a:solidFill>
                <a:latin typeface="Garamond Bold"/>
                <a:ea typeface="Garamond Bold"/>
                <a:cs typeface="Garamond Bold"/>
                <a:sym typeface="Garamond Bold"/>
              </a:rPr>
              <a:t>Multi-Agent Correlation, Drift-Aware Behavior, and Autonomous Response</a:t>
            </a:r>
          </a:p>
          <a:p>
            <a:pPr algn="ctr">
              <a:lnSpc>
                <a:spcPts val="7799"/>
              </a:lnSpc>
            </a:pPr>
            <a:endParaRPr lang="en-US" sz="6499" b="1">
              <a:solidFill>
                <a:srgbClr val="FFFFFF"/>
              </a:solidFill>
              <a:latin typeface="Garamond Bold"/>
              <a:ea typeface="Garamond Bold"/>
              <a:cs typeface="Garamond Bold"/>
              <a:sym typeface="Garamond Bold"/>
            </a:endParaRPr>
          </a:p>
        </p:txBody>
      </p:sp>
      <p:sp>
        <p:nvSpPr>
          <p:cNvPr id="11" name="TextBox 11"/>
          <p:cNvSpPr txBox="1"/>
          <p:nvPr/>
        </p:nvSpPr>
        <p:spPr>
          <a:xfrm>
            <a:off x="13053060" y="9461232"/>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1</a:t>
            </a:r>
          </a:p>
        </p:txBody>
      </p:sp>
      <p:grpSp>
        <p:nvGrpSpPr>
          <p:cNvPr id="12" name="Group 12"/>
          <p:cNvGrpSpPr/>
          <p:nvPr/>
        </p:nvGrpSpPr>
        <p:grpSpPr>
          <a:xfrm>
            <a:off x="17138371" y="3295998"/>
            <a:ext cx="120929" cy="3302279"/>
            <a:chOff x="0" y="0"/>
            <a:chExt cx="161239" cy="4403039"/>
          </a:xfrm>
        </p:grpSpPr>
        <p:sp>
          <p:nvSpPr>
            <p:cNvPr id="13" name="Freeform 13"/>
            <p:cNvSpPr/>
            <p:nvPr/>
          </p:nvSpPr>
          <p:spPr>
            <a:xfrm>
              <a:off x="91440" y="34925"/>
              <a:ext cx="69850" cy="4332732"/>
            </a:xfrm>
            <a:custGeom>
              <a:avLst/>
              <a:gdLst/>
              <a:ahLst/>
              <a:cxnLst/>
              <a:rect l="l" t="t" r="r" b="b"/>
              <a:pathLst>
                <a:path w="69850" h="4332732">
                  <a:moveTo>
                    <a:pt x="69850" y="0"/>
                  </a:moveTo>
                  <a:lnTo>
                    <a:pt x="69850" y="4332732"/>
                  </a:lnTo>
                  <a:lnTo>
                    <a:pt x="0" y="4332732"/>
                  </a:lnTo>
                  <a:lnTo>
                    <a:pt x="0" y="0"/>
                  </a:lnTo>
                  <a:close/>
                </a:path>
              </a:pathLst>
            </a:custGeom>
            <a:solidFill>
              <a:srgbClr val="FFFFFF"/>
            </a:solid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96941" y="3052516"/>
            <a:ext cx="200939" cy="3302279"/>
            <a:chOff x="0" y="0"/>
            <a:chExt cx="267919" cy="4403039"/>
          </a:xfrm>
        </p:grpSpPr>
        <p:sp>
          <p:nvSpPr>
            <p:cNvPr id="3" name="Freeform 3"/>
            <p:cNvSpPr/>
            <p:nvPr/>
          </p:nvSpPr>
          <p:spPr>
            <a:xfrm>
              <a:off x="0" y="34925"/>
              <a:ext cx="69850" cy="4332732"/>
            </a:xfrm>
            <a:custGeom>
              <a:avLst/>
              <a:gdLst/>
              <a:ahLst/>
              <a:cxnLst/>
              <a:rect l="l" t="t" r="r" b="b"/>
              <a:pathLst>
                <a:path w="69850" h="4332732">
                  <a:moveTo>
                    <a:pt x="69850" y="0"/>
                  </a:moveTo>
                  <a:lnTo>
                    <a:pt x="69850" y="4332732"/>
                  </a:lnTo>
                  <a:lnTo>
                    <a:pt x="0" y="4332732"/>
                  </a:lnTo>
                  <a:lnTo>
                    <a:pt x="0" y="0"/>
                  </a:lnTo>
                  <a:close/>
                </a:path>
              </a:pathLst>
            </a:custGeom>
            <a:solidFill>
              <a:srgbClr val="FFFFFF"/>
            </a:solidFill>
          </p:spPr>
        </p:sp>
      </p:grpSp>
      <p:sp>
        <p:nvSpPr>
          <p:cNvPr id="4" name="TextBox 4"/>
          <p:cNvSpPr txBox="1"/>
          <p:nvPr/>
        </p:nvSpPr>
        <p:spPr>
          <a:xfrm>
            <a:off x="2891798" y="1198991"/>
            <a:ext cx="12652654" cy="6953761"/>
          </a:xfrm>
          <a:prstGeom prst="rect">
            <a:avLst/>
          </a:prstGeom>
        </p:spPr>
        <p:txBody>
          <a:bodyPr lIns="0" tIns="0" rIns="0" bIns="0" rtlCol="0" anchor="t">
            <a:spAutoFit/>
          </a:bodyPr>
          <a:lstStyle/>
          <a:p>
            <a:pPr algn="ctr">
              <a:lnSpc>
                <a:spcPts val="11771"/>
              </a:lnSpc>
            </a:pPr>
            <a:r>
              <a:rPr lang="en-US" sz="5999" b="1">
                <a:solidFill>
                  <a:srgbClr val="000000"/>
                </a:solidFill>
                <a:latin typeface="Times New Roman Bold"/>
                <a:ea typeface="Times New Roman Bold"/>
                <a:cs typeface="Times New Roman Bold"/>
                <a:sym typeface="Times New Roman Bold"/>
              </a:rPr>
              <a:t>Team members: </a:t>
            </a:r>
          </a:p>
          <a:p>
            <a:pPr algn="ctr">
              <a:lnSpc>
                <a:spcPts val="10987"/>
              </a:lnSpc>
            </a:pPr>
            <a:r>
              <a:rPr lang="en-US" sz="5600" b="1">
                <a:solidFill>
                  <a:srgbClr val="000000"/>
                </a:solidFill>
                <a:latin typeface="Times New Roman Bold"/>
                <a:ea typeface="Times New Roman Bold"/>
                <a:cs typeface="Times New Roman Bold"/>
                <a:sym typeface="Times New Roman Bold"/>
              </a:rPr>
              <a:t>Lokpradeep B     - AM.SC.U4CYS23018</a:t>
            </a:r>
          </a:p>
          <a:p>
            <a:pPr algn="ctr">
              <a:lnSpc>
                <a:spcPts val="10987"/>
              </a:lnSpc>
            </a:pPr>
            <a:r>
              <a:rPr lang="en-US" sz="5600" b="1">
                <a:solidFill>
                  <a:srgbClr val="000000"/>
                </a:solidFill>
                <a:latin typeface="Times New Roman Bold"/>
                <a:ea typeface="Times New Roman Bold"/>
                <a:cs typeface="Times New Roman Bold"/>
                <a:sym typeface="Times New Roman Bold"/>
              </a:rPr>
              <a:t>Uday Ganesh B  - AM.SC.U4CYS23019</a:t>
            </a:r>
          </a:p>
          <a:p>
            <a:pPr algn="ctr">
              <a:lnSpc>
                <a:spcPts val="10987"/>
              </a:lnSpc>
            </a:pPr>
            <a:r>
              <a:rPr lang="en-US" sz="5600" b="1">
                <a:solidFill>
                  <a:srgbClr val="000000"/>
                </a:solidFill>
                <a:latin typeface="Times New Roman Bold"/>
                <a:ea typeface="Times New Roman Bold"/>
                <a:cs typeface="Times New Roman Bold"/>
                <a:sym typeface="Times New Roman Bold"/>
              </a:rPr>
              <a:t>Sri Charan N     - AM.SC.U4CYS23029</a:t>
            </a:r>
          </a:p>
          <a:p>
            <a:pPr algn="ctr">
              <a:lnSpc>
                <a:spcPts val="10989"/>
              </a:lnSpc>
            </a:pPr>
            <a:r>
              <a:rPr lang="en-US" sz="5600" b="1">
                <a:solidFill>
                  <a:srgbClr val="000000"/>
                </a:solidFill>
                <a:latin typeface="Times New Roman Bold"/>
                <a:ea typeface="Times New Roman Bold"/>
                <a:cs typeface="Times New Roman Bold"/>
                <a:sym typeface="Times New Roman Bold"/>
              </a:rPr>
              <a:t>Akshara kruti P   - AM.SC.U4CYS23035</a:t>
            </a:r>
          </a:p>
        </p:txBody>
      </p:sp>
      <p:sp>
        <p:nvSpPr>
          <p:cNvPr id="5" name="TextBox 5"/>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1</a:t>
            </a:r>
          </a:p>
        </p:txBody>
      </p:sp>
      <p:grpSp>
        <p:nvGrpSpPr>
          <p:cNvPr id="6" name="Group 6"/>
          <p:cNvGrpSpPr/>
          <p:nvPr/>
        </p:nvGrpSpPr>
        <p:grpSpPr>
          <a:xfrm>
            <a:off x="17138371" y="3052516"/>
            <a:ext cx="120929" cy="3302279"/>
            <a:chOff x="0" y="0"/>
            <a:chExt cx="161239" cy="4403039"/>
          </a:xfrm>
        </p:grpSpPr>
        <p:sp>
          <p:nvSpPr>
            <p:cNvPr id="7" name="Freeform 7"/>
            <p:cNvSpPr/>
            <p:nvPr/>
          </p:nvSpPr>
          <p:spPr>
            <a:xfrm>
              <a:off x="91440" y="34925"/>
              <a:ext cx="69850" cy="4332732"/>
            </a:xfrm>
            <a:custGeom>
              <a:avLst/>
              <a:gdLst/>
              <a:ahLst/>
              <a:cxnLst/>
              <a:rect l="l" t="t" r="r" b="b"/>
              <a:pathLst>
                <a:path w="69850" h="4332732">
                  <a:moveTo>
                    <a:pt x="69850" y="0"/>
                  </a:moveTo>
                  <a:lnTo>
                    <a:pt x="69850" y="4332732"/>
                  </a:lnTo>
                  <a:lnTo>
                    <a:pt x="0" y="4332732"/>
                  </a:lnTo>
                  <a:lnTo>
                    <a:pt x="0" y="0"/>
                  </a:lnTo>
                  <a:close/>
                </a:path>
              </a:pathLst>
            </a:custGeom>
            <a:solidFill>
              <a:srgbClr val="FFFFFF"/>
            </a:solidFill>
          </p:spPr>
        </p:sp>
      </p:grpSp>
      <p:grpSp>
        <p:nvGrpSpPr>
          <p:cNvPr id="8" name="Group 8"/>
          <p:cNvGrpSpPr/>
          <p:nvPr/>
        </p:nvGrpSpPr>
        <p:grpSpPr>
          <a:xfrm>
            <a:off x="0" y="9199774"/>
            <a:ext cx="18288000" cy="1143848"/>
            <a:chOff x="0" y="0"/>
            <a:chExt cx="24384000" cy="1525130"/>
          </a:xfrm>
        </p:grpSpPr>
        <p:grpSp>
          <p:nvGrpSpPr>
            <p:cNvPr id="9" name="Group 9"/>
            <p:cNvGrpSpPr/>
            <p:nvPr/>
          </p:nvGrpSpPr>
          <p:grpSpPr>
            <a:xfrm>
              <a:off x="0" y="0"/>
              <a:ext cx="24384000" cy="105410"/>
              <a:chOff x="0" y="0"/>
              <a:chExt cx="24384000" cy="105410"/>
            </a:xfrm>
          </p:grpSpPr>
          <p:sp>
            <p:nvSpPr>
              <p:cNvPr id="10" name="Freeform 10"/>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11" name="Group 11"/>
            <p:cNvGrpSpPr/>
            <p:nvPr/>
          </p:nvGrpSpPr>
          <p:grpSpPr>
            <a:xfrm>
              <a:off x="0" y="105270"/>
              <a:ext cx="24384000" cy="1419860"/>
              <a:chOff x="0" y="0"/>
              <a:chExt cx="24384000" cy="1419860"/>
            </a:xfrm>
          </p:grpSpPr>
          <p:sp>
            <p:nvSpPr>
              <p:cNvPr id="12" name="Freeform 12"/>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13" name="Group 13"/>
            <p:cNvGrpSpPr/>
            <p:nvPr/>
          </p:nvGrpSpPr>
          <p:grpSpPr>
            <a:xfrm>
              <a:off x="295897" y="198095"/>
              <a:ext cx="3870960" cy="1236129"/>
              <a:chOff x="0" y="0"/>
              <a:chExt cx="3870960" cy="1236129"/>
            </a:xfrm>
          </p:grpSpPr>
          <p:sp>
            <p:nvSpPr>
              <p:cNvPr id="14" name="Freeform 14"/>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15" name="Group 15"/>
            <p:cNvGrpSpPr/>
            <p:nvPr/>
          </p:nvGrpSpPr>
          <p:grpSpPr>
            <a:xfrm>
              <a:off x="4059809" y="354406"/>
              <a:ext cx="2627452" cy="1062838"/>
              <a:chOff x="0" y="0"/>
              <a:chExt cx="2627452" cy="1062838"/>
            </a:xfrm>
          </p:grpSpPr>
          <p:sp>
            <p:nvSpPr>
              <p:cNvPr id="16" name="Freeform 16"/>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grpSp>
      <p:sp>
        <p:nvSpPr>
          <p:cNvPr id="17" name="TextBox 17"/>
          <p:cNvSpPr txBox="1"/>
          <p:nvPr/>
        </p:nvSpPr>
        <p:spPr>
          <a:xfrm>
            <a:off x="13053060" y="9461232"/>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2</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144000"/>
            <a:ext cx="18288000" cy="1143848"/>
            <a:chOff x="0" y="0"/>
            <a:chExt cx="24384000" cy="1525130"/>
          </a:xfrm>
        </p:grpSpPr>
        <p:grpSp>
          <p:nvGrpSpPr>
            <p:cNvPr id="3" name="Group 3"/>
            <p:cNvGrpSpPr/>
            <p:nvPr/>
          </p:nvGrpSpPr>
          <p:grpSpPr>
            <a:xfrm>
              <a:off x="0" y="0"/>
              <a:ext cx="24384000" cy="105410"/>
              <a:chOff x="0" y="0"/>
              <a:chExt cx="24384000" cy="105410"/>
            </a:xfrm>
          </p:grpSpPr>
          <p:sp>
            <p:nvSpPr>
              <p:cNvPr id="4" name="Freeform 4"/>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5" name="Group 5"/>
            <p:cNvGrpSpPr/>
            <p:nvPr/>
          </p:nvGrpSpPr>
          <p:grpSpPr>
            <a:xfrm>
              <a:off x="0" y="105270"/>
              <a:ext cx="24384000" cy="1419860"/>
              <a:chOff x="0" y="0"/>
              <a:chExt cx="24384000" cy="1419860"/>
            </a:xfrm>
          </p:grpSpPr>
          <p:sp>
            <p:nvSpPr>
              <p:cNvPr id="6" name="Freeform 6"/>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7" name="Group 7"/>
            <p:cNvGrpSpPr/>
            <p:nvPr/>
          </p:nvGrpSpPr>
          <p:grpSpPr>
            <a:xfrm>
              <a:off x="295897" y="198095"/>
              <a:ext cx="3870960" cy="1236129"/>
              <a:chOff x="0" y="0"/>
              <a:chExt cx="3870960" cy="1236129"/>
            </a:xfrm>
          </p:grpSpPr>
          <p:sp>
            <p:nvSpPr>
              <p:cNvPr id="8" name="Freeform 8"/>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9" name="Group 9"/>
            <p:cNvGrpSpPr/>
            <p:nvPr/>
          </p:nvGrpSpPr>
          <p:grpSpPr>
            <a:xfrm>
              <a:off x="4059809" y="354406"/>
              <a:ext cx="2627452" cy="1062838"/>
              <a:chOff x="0" y="0"/>
              <a:chExt cx="2627452" cy="1062838"/>
            </a:xfrm>
          </p:grpSpPr>
          <p:sp>
            <p:nvSpPr>
              <p:cNvPr id="10" name="Freeform 10"/>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grpSp>
      <p:sp>
        <p:nvSpPr>
          <p:cNvPr id="11" name="TextBox 11"/>
          <p:cNvSpPr txBox="1"/>
          <p:nvPr/>
        </p:nvSpPr>
        <p:spPr>
          <a:xfrm>
            <a:off x="6861631" y="232320"/>
            <a:ext cx="4564737" cy="1038225"/>
          </a:xfrm>
          <a:prstGeom prst="rect">
            <a:avLst/>
          </a:prstGeom>
        </p:spPr>
        <p:txBody>
          <a:bodyPr lIns="0" tIns="0" rIns="0" bIns="0" rtlCol="0" anchor="t">
            <a:spAutoFit/>
          </a:bodyPr>
          <a:lstStyle/>
          <a:p>
            <a:pPr algn="ctr">
              <a:lnSpc>
                <a:spcPts val="7920"/>
              </a:lnSpc>
            </a:pPr>
            <a:r>
              <a:rPr lang="en-US" sz="6600" b="1">
                <a:solidFill>
                  <a:srgbClr val="000000"/>
                </a:solidFill>
                <a:latin typeface="Times New Roman Bold"/>
                <a:ea typeface="Times New Roman Bold"/>
                <a:cs typeface="Times New Roman Bold"/>
                <a:sym typeface="Times New Roman Bold"/>
              </a:rPr>
              <a:t>ABSTRACT</a:t>
            </a:r>
          </a:p>
        </p:txBody>
      </p:sp>
      <p:sp>
        <p:nvSpPr>
          <p:cNvPr id="12" name="TextBox 12"/>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3</a:t>
            </a:r>
          </a:p>
        </p:txBody>
      </p:sp>
      <p:sp>
        <p:nvSpPr>
          <p:cNvPr id="13" name="TextBox 13"/>
          <p:cNvSpPr txBox="1"/>
          <p:nvPr/>
        </p:nvSpPr>
        <p:spPr>
          <a:xfrm>
            <a:off x="1028700" y="1386205"/>
            <a:ext cx="16688019" cy="7872095"/>
          </a:xfrm>
          <a:prstGeom prst="rect">
            <a:avLst/>
          </a:prstGeom>
        </p:spPr>
        <p:txBody>
          <a:bodyPr lIns="0" tIns="0" rIns="0" bIns="0" rtlCol="0" anchor="t">
            <a:spAutoFit/>
          </a:bodyPr>
          <a:lstStyle/>
          <a:p>
            <a:pPr algn="just">
              <a:lnSpc>
                <a:spcPts val="4480"/>
              </a:lnSpc>
            </a:pPr>
            <a:r>
              <a:rPr lang="en-US" sz="3200">
                <a:solidFill>
                  <a:srgbClr val="000000"/>
                </a:solidFill>
                <a:latin typeface="Times New Roman"/>
                <a:ea typeface="Times New Roman"/>
                <a:cs typeface="Times New Roman"/>
                <a:sym typeface="Times New Roman"/>
              </a:rPr>
              <a:t>Modern smart-city infrastructures rely on large-scale Internet of Things (IoT) ecosystems consisting of sensors, cameras, gateways, controllers, and critical monitoring devices. These environments continuously generate massive volumes of heterogeneous security telemetry, making it difficult for traditional security monitoring systems to identify coordinated and evolving cyber threats.</a:t>
            </a:r>
          </a:p>
          <a:p>
            <a:pPr algn="just">
              <a:lnSpc>
                <a:spcPts val="4480"/>
              </a:lnSpc>
            </a:pPr>
            <a:endParaRPr lang="en-US" sz="3200">
              <a:solidFill>
                <a:srgbClr val="000000"/>
              </a:solidFill>
              <a:latin typeface="Times New Roman"/>
              <a:ea typeface="Times New Roman"/>
              <a:cs typeface="Times New Roman"/>
              <a:sym typeface="Times New Roman"/>
            </a:endParaRPr>
          </a:p>
          <a:p>
            <a:pPr algn="just">
              <a:lnSpc>
                <a:spcPts val="4480"/>
              </a:lnSpc>
            </a:pPr>
            <a:r>
              <a:rPr lang="en-US" sz="3200">
                <a:solidFill>
                  <a:srgbClr val="000000"/>
                </a:solidFill>
                <a:latin typeface="Times New Roman"/>
                <a:ea typeface="Times New Roman"/>
                <a:cs typeface="Times New Roman"/>
                <a:sym typeface="Times New Roman"/>
              </a:rPr>
              <a:t>The proposed project, "</a:t>
            </a:r>
            <a:r>
              <a:rPr lang="en-US" sz="3200" b="1">
                <a:solidFill>
                  <a:srgbClr val="000000"/>
                </a:solidFill>
                <a:latin typeface="Times New Roman Bold"/>
                <a:ea typeface="Times New Roman Bold"/>
                <a:cs typeface="Times New Roman Bold"/>
                <a:sym typeface="Times New Roman Bold"/>
              </a:rPr>
              <a:t>IoT Threat Twin for Smart-City Defense: Multi-Agent Correlation, Drift-Aware Behavior, and Autonomous Response</a:t>
            </a:r>
            <a:r>
              <a:rPr lang="en-US" sz="3200">
                <a:solidFill>
                  <a:srgbClr val="000000"/>
                </a:solidFill>
                <a:latin typeface="Times New Roman"/>
                <a:ea typeface="Times New Roman"/>
                <a:cs typeface="Times New Roman"/>
                <a:sym typeface="Times New Roman"/>
              </a:rPr>
              <a:t>", introduces a next-generation intelligent security framework that transforms raw IoT telemetry into contextual attack narratives and actionable defense intelligence.</a:t>
            </a:r>
          </a:p>
          <a:p>
            <a:pPr algn="just">
              <a:lnSpc>
                <a:spcPts val="4480"/>
              </a:lnSpc>
            </a:pPr>
            <a:endParaRPr lang="en-US" sz="3200">
              <a:solidFill>
                <a:srgbClr val="000000"/>
              </a:solidFill>
              <a:latin typeface="Times New Roman"/>
              <a:ea typeface="Times New Roman"/>
              <a:cs typeface="Times New Roman"/>
              <a:sym typeface="Times New Roman"/>
            </a:endParaRPr>
          </a:p>
          <a:p>
            <a:pPr algn="just">
              <a:lnSpc>
                <a:spcPts val="4480"/>
              </a:lnSpc>
            </a:pPr>
            <a:r>
              <a:rPr lang="en-US" sz="3200">
                <a:solidFill>
                  <a:srgbClr val="000000"/>
                </a:solidFill>
                <a:latin typeface="Times New Roman"/>
                <a:ea typeface="Times New Roman"/>
                <a:cs typeface="Times New Roman"/>
                <a:sym typeface="Times New Roman"/>
              </a:rPr>
              <a:t>IoT Threat Twin creates a living security representation of the environment capable of understanding what happened, explaining why it happened, predicting what may happen next, and recommending optimal response actions.</a:t>
            </a:r>
          </a:p>
          <a:p>
            <a:pPr algn="just">
              <a:lnSpc>
                <a:spcPts val="4480"/>
              </a:lnSpc>
            </a:pPr>
            <a:endParaRPr lang="en-US" sz="3200">
              <a:solidFill>
                <a:srgbClr val="000000"/>
              </a:solidFill>
              <a:latin typeface="Times New Roman"/>
              <a:ea typeface="Times New Roman"/>
              <a:cs typeface="Times New Roman"/>
              <a:sym typeface="Times New Roman"/>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144000"/>
            <a:ext cx="18288000" cy="79058"/>
            <a:chOff x="0" y="0"/>
            <a:chExt cx="24384000" cy="105410"/>
          </a:xfrm>
        </p:grpSpPr>
        <p:sp>
          <p:nvSpPr>
            <p:cNvPr id="3" name="Freeform 3"/>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4" name="Group 4"/>
          <p:cNvGrpSpPr/>
          <p:nvPr/>
        </p:nvGrpSpPr>
        <p:grpSpPr>
          <a:xfrm>
            <a:off x="0" y="9222953"/>
            <a:ext cx="18288000" cy="1064895"/>
            <a:chOff x="0" y="0"/>
            <a:chExt cx="24384000" cy="1419860"/>
          </a:xfrm>
        </p:grpSpPr>
        <p:sp>
          <p:nvSpPr>
            <p:cNvPr id="5" name="Freeform 5"/>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6" name="Group 6"/>
          <p:cNvGrpSpPr/>
          <p:nvPr/>
        </p:nvGrpSpPr>
        <p:grpSpPr>
          <a:xfrm>
            <a:off x="221923" y="9292571"/>
            <a:ext cx="2903220" cy="927097"/>
            <a:chOff x="0" y="0"/>
            <a:chExt cx="3870960" cy="1236129"/>
          </a:xfrm>
        </p:grpSpPr>
        <p:sp>
          <p:nvSpPr>
            <p:cNvPr id="7" name="Freeform 7"/>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8" name="Group 8"/>
          <p:cNvGrpSpPr/>
          <p:nvPr/>
        </p:nvGrpSpPr>
        <p:grpSpPr>
          <a:xfrm>
            <a:off x="3044857" y="9409805"/>
            <a:ext cx="1970589" cy="797128"/>
            <a:chOff x="0" y="0"/>
            <a:chExt cx="2627452" cy="1062838"/>
          </a:xfrm>
        </p:grpSpPr>
        <p:sp>
          <p:nvSpPr>
            <p:cNvPr id="9" name="Freeform 9"/>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sp>
        <p:nvSpPr>
          <p:cNvPr id="10" name="TextBox 10"/>
          <p:cNvSpPr txBox="1"/>
          <p:nvPr/>
        </p:nvSpPr>
        <p:spPr>
          <a:xfrm>
            <a:off x="6861631" y="-38100"/>
            <a:ext cx="4564737" cy="1038225"/>
          </a:xfrm>
          <a:prstGeom prst="rect">
            <a:avLst/>
          </a:prstGeom>
        </p:spPr>
        <p:txBody>
          <a:bodyPr lIns="0" tIns="0" rIns="0" bIns="0" rtlCol="0" anchor="t">
            <a:spAutoFit/>
          </a:bodyPr>
          <a:lstStyle/>
          <a:p>
            <a:pPr algn="ctr">
              <a:lnSpc>
                <a:spcPts val="7920"/>
              </a:lnSpc>
            </a:pPr>
            <a:r>
              <a:rPr lang="en-US" sz="6600" b="1">
                <a:solidFill>
                  <a:srgbClr val="000000"/>
                </a:solidFill>
                <a:latin typeface="Times New Roman Bold"/>
                <a:ea typeface="Times New Roman Bold"/>
                <a:cs typeface="Times New Roman Bold"/>
                <a:sym typeface="Times New Roman Bold"/>
              </a:rPr>
              <a:t>ABSTRACT</a:t>
            </a:r>
          </a:p>
        </p:txBody>
      </p:sp>
      <p:sp>
        <p:nvSpPr>
          <p:cNvPr id="11" name="TextBox 11"/>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4</a:t>
            </a:r>
          </a:p>
        </p:txBody>
      </p:sp>
      <p:sp>
        <p:nvSpPr>
          <p:cNvPr id="12" name="TextBox 12"/>
          <p:cNvSpPr txBox="1"/>
          <p:nvPr/>
        </p:nvSpPr>
        <p:spPr>
          <a:xfrm>
            <a:off x="1028700" y="866775"/>
            <a:ext cx="16322892" cy="7857405"/>
          </a:xfrm>
          <a:prstGeom prst="rect">
            <a:avLst/>
          </a:prstGeom>
        </p:spPr>
        <p:txBody>
          <a:bodyPr lIns="0" tIns="0" rIns="0" bIns="0" rtlCol="0" anchor="t">
            <a:spAutoFit/>
          </a:bodyPr>
          <a:lstStyle/>
          <a:p>
            <a:pPr algn="just">
              <a:lnSpc>
                <a:spcPts val="4439"/>
              </a:lnSpc>
            </a:pPr>
            <a:r>
              <a:rPr lang="en-US" sz="2757">
                <a:solidFill>
                  <a:srgbClr val="000000"/>
                </a:solidFill>
                <a:latin typeface="Times New Roman"/>
                <a:ea typeface="Times New Roman"/>
                <a:cs typeface="Times New Roman"/>
                <a:sym typeface="Times New Roman"/>
              </a:rPr>
              <a:t>The framework integrates six major intelligence layers:</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IoT Telemetry &amp; Adaptive Deception Layer </a:t>
            </a:r>
            <a:r>
              <a:rPr lang="en-US" sz="2757">
                <a:solidFill>
                  <a:srgbClr val="000000"/>
                </a:solidFill>
                <a:latin typeface="Times New Roman"/>
                <a:ea typeface="Times New Roman"/>
                <a:cs typeface="Times New Roman"/>
                <a:sym typeface="Times New Roman"/>
              </a:rPr>
              <a:t>Captures real-world attacker behavior using IoT devices, smart-city infrastructure logs, and adaptive IoT deception mechanisms.</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Drift-Aware Behavioral Analytics Layer</a:t>
            </a:r>
            <a:r>
              <a:rPr lang="en-US" sz="2757">
                <a:solidFill>
                  <a:srgbClr val="000000"/>
                </a:solidFill>
                <a:latin typeface="Times New Roman"/>
                <a:ea typeface="Times New Roman"/>
                <a:cs typeface="Times New Roman"/>
                <a:sym typeface="Times New Roman"/>
              </a:rPr>
              <a:t> Continuously learns device, user, and service behavior while distinguishing legitimate operational changes from malicious deviations.</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Temporal Knowledge Graph Engine </a:t>
            </a:r>
            <a:r>
              <a:rPr lang="en-US" sz="2757">
                <a:solidFill>
                  <a:srgbClr val="000000"/>
                </a:solidFill>
                <a:latin typeface="Times New Roman"/>
                <a:ea typeface="Times New Roman"/>
                <a:cs typeface="Times New Roman"/>
                <a:sym typeface="Times New Roman"/>
              </a:rPr>
              <a:t>Correlates security events across time to reconstruct multi-stage attack chains and infer hidden attack relationships.</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Network Provenance Graph Engine </a:t>
            </a:r>
            <a:r>
              <a:rPr lang="en-US" sz="2757">
                <a:solidFill>
                  <a:srgbClr val="000000"/>
                </a:solidFill>
                <a:latin typeface="Times New Roman"/>
                <a:ea typeface="Times New Roman"/>
                <a:cs typeface="Times New Roman"/>
                <a:sym typeface="Times New Roman"/>
              </a:rPr>
              <a:t>Models device-to-device interactions and attack propagation paths to detect lateral movement across smart-city infrastructure.</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Multi-Agent Threat Intelligence Layer </a:t>
            </a:r>
            <a:r>
              <a:rPr lang="en-US" sz="2757">
                <a:solidFill>
                  <a:srgbClr val="000000"/>
                </a:solidFill>
                <a:latin typeface="Times New Roman"/>
                <a:ea typeface="Times New Roman"/>
                <a:cs typeface="Times New Roman"/>
                <a:sym typeface="Times New Roman"/>
              </a:rPr>
              <a:t>Employs collaborative AI agents including Log Analysis Agents, Threat Intelligence Agents, Correlation Agents, Response Agents, and Report Generation Agents for autonomous investigation and decision support.</a:t>
            </a:r>
          </a:p>
          <a:p>
            <a:pPr marL="595395" lvl="1" indent="-297697" algn="just">
              <a:lnSpc>
                <a:spcPts val="4439"/>
              </a:lnSpc>
              <a:buAutoNum type="arabicPeriod"/>
            </a:pPr>
            <a:r>
              <a:rPr lang="en-US" sz="2757" b="1">
                <a:solidFill>
                  <a:srgbClr val="000000"/>
                </a:solidFill>
                <a:latin typeface="Times New Roman Bold"/>
                <a:ea typeface="Times New Roman Bold"/>
                <a:cs typeface="Times New Roman Bold"/>
                <a:sym typeface="Times New Roman Bold"/>
              </a:rPr>
              <a:t>Autonomous Response &amp; Threat Narrative Layer </a:t>
            </a:r>
            <a:r>
              <a:rPr lang="en-US" sz="2757">
                <a:solidFill>
                  <a:srgbClr val="000000"/>
                </a:solidFill>
                <a:latin typeface="Times New Roman"/>
                <a:ea typeface="Times New Roman"/>
                <a:cs typeface="Times New Roman"/>
                <a:sym typeface="Times New Roman"/>
              </a:rPr>
              <a:t>Generates explainable attack narratives, predicts potential attack progression, recommends mitigation strategies, and assists security analysts in rapid incident response.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ABD8B-6C2C-ADB5-1838-579477EBD7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A913DB-E089-95CF-A2E9-FAE18AC4297C}"/>
              </a:ext>
            </a:extLst>
          </p:cNvPr>
          <p:cNvGrpSpPr/>
          <p:nvPr/>
        </p:nvGrpSpPr>
        <p:grpSpPr>
          <a:xfrm>
            <a:off x="0" y="9144000"/>
            <a:ext cx="18288000" cy="79058"/>
            <a:chOff x="0" y="0"/>
            <a:chExt cx="24384000" cy="105410"/>
          </a:xfrm>
        </p:grpSpPr>
        <p:sp>
          <p:nvSpPr>
            <p:cNvPr id="3" name="Freeform 3">
              <a:extLst>
                <a:ext uri="{FF2B5EF4-FFF2-40B4-BE49-F238E27FC236}">
                  <a16:creationId xmlns:a16="http://schemas.microsoft.com/office/drawing/2014/main" id="{D352438D-25EC-6FFC-8A48-6121A169F552}"/>
                </a:ext>
              </a:extLst>
            </p:cNvPr>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4" name="Group 4">
            <a:extLst>
              <a:ext uri="{FF2B5EF4-FFF2-40B4-BE49-F238E27FC236}">
                <a16:creationId xmlns:a16="http://schemas.microsoft.com/office/drawing/2014/main" id="{55F0A959-D5A0-68FD-1235-70C50849B86D}"/>
              </a:ext>
            </a:extLst>
          </p:cNvPr>
          <p:cNvGrpSpPr/>
          <p:nvPr/>
        </p:nvGrpSpPr>
        <p:grpSpPr>
          <a:xfrm>
            <a:off x="0" y="9222953"/>
            <a:ext cx="18288000" cy="1064895"/>
            <a:chOff x="0" y="0"/>
            <a:chExt cx="24384000" cy="1419860"/>
          </a:xfrm>
        </p:grpSpPr>
        <p:sp>
          <p:nvSpPr>
            <p:cNvPr id="5" name="Freeform 5">
              <a:extLst>
                <a:ext uri="{FF2B5EF4-FFF2-40B4-BE49-F238E27FC236}">
                  <a16:creationId xmlns:a16="http://schemas.microsoft.com/office/drawing/2014/main" id="{555166B9-CFAB-B1D4-FDF5-21C63C4E5168}"/>
                </a:ext>
              </a:extLst>
            </p:cNvPr>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6" name="Group 6">
            <a:extLst>
              <a:ext uri="{FF2B5EF4-FFF2-40B4-BE49-F238E27FC236}">
                <a16:creationId xmlns:a16="http://schemas.microsoft.com/office/drawing/2014/main" id="{3340352A-8295-3F9B-3BF4-5DDF0F1E415B}"/>
              </a:ext>
            </a:extLst>
          </p:cNvPr>
          <p:cNvGrpSpPr/>
          <p:nvPr/>
        </p:nvGrpSpPr>
        <p:grpSpPr>
          <a:xfrm>
            <a:off x="221923" y="9292571"/>
            <a:ext cx="2903220" cy="927097"/>
            <a:chOff x="0" y="0"/>
            <a:chExt cx="3870960" cy="1236129"/>
          </a:xfrm>
        </p:grpSpPr>
        <p:sp>
          <p:nvSpPr>
            <p:cNvPr id="7" name="Freeform 7">
              <a:extLst>
                <a:ext uri="{FF2B5EF4-FFF2-40B4-BE49-F238E27FC236}">
                  <a16:creationId xmlns:a16="http://schemas.microsoft.com/office/drawing/2014/main" id="{3C6457E0-38C7-E7E2-9BC2-6E23FE5665A5}"/>
                </a:ext>
              </a:extLst>
            </p:cNvPr>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8" name="Group 8">
            <a:extLst>
              <a:ext uri="{FF2B5EF4-FFF2-40B4-BE49-F238E27FC236}">
                <a16:creationId xmlns:a16="http://schemas.microsoft.com/office/drawing/2014/main" id="{819F1EDB-AC07-647F-A63C-D1671DE9F461}"/>
              </a:ext>
            </a:extLst>
          </p:cNvPr>
          <p:cNvGrpSpPr/>
          <p:nvPr/>
        </p:nvGrpSpPr>
        <p:grpSpPr>
          <a:xfrm>
            <a:off x="3044857" y="9409805"/>
            <a:ext cx="1970589" cy="797128"/>
            <a:chOff x="0" y="0"/>
            <a:chExt cx="2627452" cy="1062838"/>
          </a:xfrm>
        </p:grpSpPr>
        <p:sp>
          <p:nvSpPr>
            <p:cNvPr id="9" name="Freeform 9">
              <a:extLst>
                <a:ext uri="{FF2B5EF4-FFF2-40B4-BE49-F238E27FC236}">
                  <a16:creationId xmlns:a16="http://schemas.microsoft.com/office/drawing/2014/main" id="{7F146B9B-AE82-BC09-CF88-9F0A0E5AC9C8}"/>
                </a:ext>
              </a:extLst>
            </p:cNvPr>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sp>
        <p:nvSpPr>
          <p:cNvPr id="10" name="TextBox 10">
            <a:extLst>
              <a:ext uri="{FF2B5EF4-FFF2-40B4-BE49-F238E27FC236}">
                <a16:creationId xmlns:a16="http://schemas.microsoft.com/office/drawing/2014/main" id="{A4D2264B-BDAB-10E0-7C2C-BA56B8F3207A}"/>
              </a:ext>
            </a:extLst>
          </p:cNvPr>
          <p:cNvSpPr txBox="1"/>
          <p:nvPr/>
        </p:nvSpPr>
        <p:spPr>
          <a:xfrm>
            <a:off x="6861631" y="0"/>
            <a:ext cx="5558969" cy="856004"/>
          </a:xfrm>
          <a:prstGeom prst="rect">
            <a:avLst/>
          </a:prstGeom>
        </p:spPr>
        <p:txBody>
          <a:bodyPr wrap="square" lIns="0" tIns="0" rIns="0" bIns="0" rtlCol="0" anchor="t">
            <a:spAutoFit/>
          </a:bodyPr>
          <a:lstStyle/>
          <a:p>
            <a:pPr algn="ctr">
              <a:lnSpc>
                <a:spcPts val="7920"/>
              </a:lnSpc>
            </a:pPr>
            <a:r>
              <a:rPr lang="en-US" sz="3200" b="1" dirty="0">
                <a:solidFill>
                  <a:srgbClr val="000000"/>
                </a:solidFill>
                <a:latin typeface="Times New Roman Bold"/>
                <a:ea typeface="Times New Roman Bold"/>
                <a:cs typeface="Times New Roman Bold"/>
                <a:sym typeface="Times New Roman Bold"/>
              </a:rPr>
              <a:t>Block Diagram</a:t>
            </a:r>
          </a:p>
        </p:txBody>
      </p:sp>
      <p:sp>
        <p:nvSpPr>
          <p:cNvPr id="11" name="TextBox 11">
            <a:extLst>
              <a:ext uri="{FF2B5EF4-FFF2-40B4-BE49-F238E27FC236}">
                <a16:creationId xmlns:a16="http://schemas.microsoft.com/office/drawing/2014/main" id="{730D6049-8797-64ED-E4E2-4D27C7CAFA25}"/>
              </a:ext>
            </a:extLst>
          </p:cNvPr>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4</a:t>
            </a:r>
          </a:p>
        </p:txBody>
      </p:sp>
      <p:pic>
        <p:nvPicPr>
          <p:cNvPr id="16" name="Picture 15">
            <a:extLst>
              <a:ext uri="{FF2B5EF4-FFF2-40B4-BE49-F238E27FC236}">
                <a16:creationId xmlns:a16="http://schemas.microsoft.com/office/drawing/2014/main" id="{11748CDA-C166-3004-761C-A660EED2F1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2240" y="984665"/>
            <a:ext cx="11850515" cy="7900343"/>
          </a:xfrm>
          <a:prstGeom prst="rect">
            <a:avLst/>
          </a:prstGeom>
        </p:spPr>
      </p:pic>
    </p:spTree>
    <p:extLst>
      <p:ext uri="{BB962C8B-B14F-4D97-AF65-F5344CB8AC3E}">
        <p14:creationId xmlns:p14="http://schemas.microsoft.com/office/powerpoint/2010/main" val="142452289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144000"/>
            <a:ext cx="18288000" cy="79058"/>
            <a:chOff x="0" y="0"/>
            <a:chExt cx="24384000" cy="105410"/>
          </a:xfrm>
        </p:grpSpPr>
        <p:sp>
          <p:nvSpPr>
            <p:cNvPr id="3" name="Freeform 3"/>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4" name="Group 4"/>
          <p:cNvGrpSpPr/>
          <p:nvPr/>
        </p:nvGrpSpPr>
        <p:grpSpPr>
          <a:xfrm>
            <a:off x="0" y="9222953"/>
            <a:ext cx="18288000" cy="1064895"/>
            <a:chOff x="0" y="0"/>
            <a:chExt cx="24384000" cy="1419860"/>
          </a:xfrm>
        </p:grpSpPr>
        <p:sp>
          <p:nvSpPr>
            <p:cNvPr id="5" name="Freeform 5"/>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6" name="Group 6"/>
          <p:cNvGrpSpPr/>
          <p:nvPr/>
        </p:nvGrpSpPr>
        <p:grpSpPr>
          <a:xfrm>
            <a:off x="221923" y="9292571"/>
            <a:ext cx="2903220" cy="927097"/>
            <a:chOff x="0" y="0"/>
            <a:chExt cx="3870960" cy="1236129"/>
          </a:xfrm>
        </p:grpSpPr>
        <p:sp>
          <p:nvSpPr>
            <p:cNvPr id="7" name="Freeform 7"/>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8" name="Group 8"/>
          <p:cNvGrpSpPr/>
          <p:nvPr/>
        </p:nvGrpSpPr>
        <p:grpSpPr>
          <a:xfrm>
            <a:off x="3044857" y="9409805"/>
            <a:ext cx="1970589" cy="797128"/>
            <a:chOff x="0" y="0"/>
            <a:chExt cx="2627452" cy="1062838"/>
          </a:xfrm>
        </p:grpSpPr>
        <p:sp>
          <p:nvSpPr>
            <p:cNvPr id="9" name="Freeform 9"/>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sp>
        <p:nvSpPr>
          <p:cNvPr id="10" name="TextBox 10"/>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5</a:t>
            </a:r>
          </a:p>
        </p:txBody>
      </p:sp>
      <p:sp>
        <p:nvSpPr>
          <p:cNvPr id="11" name="TextBox 11"/>
          <p:cNvSpPr txBox="1"/>
          <p:nvPr/>
        </p:nvSpPr>
        <p:spPr>
          <a:xfrm>
            <a:off x="4030151" y="-19050"/>
            <a:ext cx="9702288" cy="1590675"/>
          </a:xfrm>
          <a:prstGeom prst="rect">
            <a:avLst/>
          </a:prstGeom>
        </p:spPr>
        <p:txBody>
          <a:bodyPr lIns="0" tIns="0" rIns="0" bIns="0" rtlCol="0" anchor="t">
            <a:spAutoFit/>
          </a:bodyPr>
          <a:lstStyle/>
          <a:p>
            <a:pPr algn="ctr">
              <a:lnSpc>
                <a:spcPts val="4199"/>
              </a:lnSpc>
            </a:pPr>
            <a:endParaRPr/>
          </a:p>
          <a:p>
            <a:pPr algn="ctr">
              <a:lnSpc>
                <a:spcPts val="4199"/>
              </a:lnSpc>
            </a:pPr>
            <a:r>
              <a:rPr lang="en-US" sz="3499" b="1">
                <a:solidFill>
                  <a:srgbClr val="000000"/>
                </a:solidFill>
                <a:latin typeface="Arial Bold"/>
                <a:ea typeface="Arial Bold"/>
                <a:cs typeface="Arial Bold"/>
                <a:sym typeface="Arial Bold"/>
              </a:rPr>
              <a:t>Work Distribution &amp; Responsibilities</a:t>
            </a:r>
          </a:p>
          <a:p>
            <a:pPr algn="ctr">
              <a:lnSpc>
                <a:spcPts val="4199"/>
              </a:lnSpc>
              <a:spcBef>
                <a:spcPct val="0"/>
              </a:spcBef>
            </a:pPr>
            <a:endParaRPr lang="en-US" sz="3499" b="1">
              <a:solidFill>
                <a:srgbClr val="000000"/>
              </a:solidFill>
              <a:latin typeface="Arial Bold"/>
              <a:ea typeface="Arial Bold"/>
              <a:cs typeface="Arial Bold"/>
              <a:sym typeface="Arial Bold"/>
            </a:endParaRPr>
          </a:p>
        </p:txBody>
      </p:sp>
      <p:sp>
        <p:nvSpPr>
          <p:cNvPr id="12" name="TextBox 12"/>
          <p:cNvSpPr txBox="1"/>
          <p:nvPr/>
        </p:nvSpPr>
        <p:spPr>
          <a:xfrm>
            <a:off x="1215477" y="2175760"/>
            <a:ext cx="7202239" cy="4524375"/>
          </a:xfrm>
          <a:prstGeom prst="rect">
            <a:avLst/>
          </a:prstGeom>
        </p:spPr>
        <p:txBody>
          <a:bodyPr lIns="0" tIns="0" rIns="0" bIns="0" rtlCol="0" anchor="t">
            <a:spAutoFit/>
          </a:bodyPr>
          <a:lstStyle/>
          <a:p>
            <a:pPr algn="ctr">
              <a:lnSpc>
                <a:spcPts val="3240"/>
              </a:lnSpc>
            </a:pPr>
            <a:r>
              <a:rPr lang="en-US" sz="2700" b="1">
                <a:solidFill>
                  <a:srgbClr val="000000"/>
                </a:solidFill>
                <a:latin typeface="Arial Bold"/>
                <a:ea typeface="Arial Bold"/>
                <a:cs typeface="Arial Bold"/>
                <a:sym typeface="Arial Bold"/>
              </a:rPr>
              <a:t>Uday</a:t>
            </a:r>
          </a:p>
          <a:p>
            <a:pPr algn="ctr">
              <a:lnSpc>
                <a:spcPts val="3240"/>
              </a:lnSpc>
            </a:pPr>
            <a:endParaRPr lang="en-US" sz="2700" b="1">
              <a:solidFill>
                <a:srgbClr val="000000"/>
              </a:solidFill>
              <a:latin typeface="Arial Bold"/>
              <a:ea typeface="Arial Bold"/>
              <a:cs typeface="Arial Bold"/>
              <a:sym typeface="Arial Bold"/>
            </a:endParaRPr>
          </a:p>
          <a:p>
            <a:pPr algn="ctr">
              <a:lnSpc>
                <a:spcPts val="3240"/>
              </a:lnSpc>
            </a:pPr>
            <a:r>
              <a:rPr lang="en-US" sz="2700" b="1">
                <a:solidFill>
                  <a:srgbClr val="000000"/>
                </a:solidFill>
                <a:latin typeface="Arial Bold"/>
                <a:ea typeface="Arial Bold"/>
                <a:cs typeface="Arial Bold"/>
                <a:sym typeface="Arial Bold"/>
              </a:rPr>
              <a:t>IoT Infrastructure &amp; Threat Intelligence Lead</a:t>
            </a:r>
          </a:p>
          <a:p>
            <a:pPr algn="ctr">
              <a:lnSpc>
                <a:spcPts val="3240"/>
              </a:lnSpc>
            </a:pPr>
            <a:endParaRPr lang="en-US" sz="2700" b="1">
              <a:solidFill>
                <a:srgbClr val="000000"/>
              </a:solidFill>
              <a:latin typeface="Arial Bold"/>
              <a:ea typeface="Arial Bold"/>
              <a:cs typeface="Arial Bold"/>
              <a:sym typeface="Arial Bold"/>
            </a:endParaRPr>
          </a:p>
          <a:p>
            <a:pPr marL="582930" lvl="1" indent="-291465" algn="l">
              <a:lnSpc>
                <a:spcPts val="3240"/>
              </a:lnSpc>
              <a:buFont typeface="Arial"/>
              <a:buChar char="•"/>
            </a:pPr>
            <a:r>
              <a:rPr lang="en-US" sz="2700">
                <a:solidFill>
                  <a:srgbClr val="000000"/>
                </a:solidFill>
                <a:latin typeface="Arial"/>
                <a:ea typeface="Arial"/>
                <a:cs typeface="Arial"/>
                <a:sym typeface="Arial"/>
              </a:rPr>
              <a:t>Smart-city IoT testbed setup</a:t>
            </a:r>
          </a:p>
          <a:p>
            <a:pPr marL="582930" lvl="1" indent="-291465" algn="l">
              <a:lnSpc>
                <a:spcPts val="3240"/>
              </a:lnSpc>
              <a:buFont typeface="Arial"/>
              <a:buChar char="•"/>
            </a:pPr>
            <a:r>
              <a:rPr lang="en-US" sz="2700">
                <a:solidFill>
                  <a:srgbClr val="000000"/>
                </a:solidFill>
                <a:latin typeface="Arial"/>
                <a:ea typeface="Arial"/>
                <a:cs typeface="Arial"/>
                <a:sym typeface="Arial"/>
              </a:rPr>
              <a:t>IoT telemetry collection</a:t>
            </a:r>
          </a:p>
          <a:p>
            <a:pPr marL="582930" lvl="1" indent="-291465" algn="l">
              <a:lnSpc>
                <a:spcPts val="3240"/>
              </a:lnSpc>
              <a:buFont typeface="Arial"/>
              <a:buChar char="•"/>
            </a:pPr>
            <a:r>
              <a:rPr lang="en-US" sz="2700">
                <a:solidFill>
                  <a:srgbClr val="000000"/>
                </a:solidFill>
                <a:latin typeface="Arial"/>
                <a:ea typeface="Arial"/>
                <a:cs typeface="Arial"/>
                <a:sym typeface="Arial"/>
              </a:rPr>
              <a:t>IoT honeypot deployment</a:t>
            </a:r>
          </a:p>
          <a:p>
            <a:pPr marL="582930" lvl="1" indent="-291465" algn="l">
              <a:lnSpc>
                <a:spcPts val="3240"/>
              </a:lnSpc>
              <a:buFont typeface="Arial"/>
              <a:buChar char="•"/>
            </a:pPr>
            <a:r>
              <a:rPr lang="en-US" sz="2700">
                <a:solidFill>
                  <a:srgbClr val="000000"/>
                </a:solidFill>
                <a:latin typeface="Arial"/>
                <a:ea typeface="Arial"/>
                <a:cs typeface="Arial"/>
                <a:sym typeface="Arial"/>
              </a:rPr>
              <a:t>Device log acquisition</a:t>
            </a:r>
          </a:p>
          <a:p>
            <a:pPr marL="582930" lvl="1" indent="-291465" algn="l">
              <a:lnSpc>
                <a:spcPts val="3240"/>
              </a:lnSpc>
              <a:buFont typeface="Arial"/>
              <a:buChar char="•"/>
            </a:pPr>
            <a:r>
              <a:rPr lang="en-US" sz="2700">
                <a:solidFill>
                  <a:srgbClr val="000000"/>
                </a:solidFill>
                <a:latin typeface="Arial"/>
                <a:ea typeface="Arial"/>
                <a:cs typeface="Arial"/>
                <a:sym typeface="Arial"/>
              </a:rPr>
              <a:t>Threat intelligence feed integration</a:t>
            </a:r>
          </a:p>
          <a:p>
            <a:pPr marL="582930" lvl="1" indent="-291465" algn="l">
              <a:lnSpc>
                <a:spcPts val="3240"/>
              </a:lnSpc>
              <a:buFont typeface="Arial"/>
              <a:buChar char="•"/>
            </a:pPr>
            <a:r>
              <a:rPr lang="en-US" sz="2700">
                <a:solidFill>
                  <a:srgbClr val="000000"/>
                </a:solidFill>
                <a:latin typeface="Arial"/>
                <a:ea typeface="Arial"/>
                <a:cs typeface="Arial"/>
                <a:sym typeface="Arial"/>
              </a:rPr>
              <a:t>Attack dataset preparation</a:t>
            </a:r>
          </a:p>
          <a:p>
            <a:pPr marL="582930" lvl="1" indent="-291465" algn="l">
              <a:lnSpc>
                <a:spcPts val="3240"/>
              </a:lnSpc>
              <a:buFont typeface="Arial"/>
              <a:buChar char="•"/>
            </a:pPr>
            <a:r>
              <a:rPr lang="en-US" sz="2700">
                <a:solidFill>
                  <a:srgbClr val="000000"/>
                </a:solidFill>
                <a:latin typeface="Arial"/>
                <a:ea typeface="Arial"/>
                <a:cs typeface="Arial"/>
                <a:sym typeface="Arial"/>
              </a:rPr>
              <a:t>IoT protocol monitoring </a:t>
            </a:r>
          </a:p>
        </p:txBody>
      </p:sp>
      <p:sp>
        <p:nvSpPr>
          <p:cNvPr id="13" name="TextBox 13"/>
          <p:cNvSpPr txBox="1"/>
          <p:nvPr/>
        </p:nvSpPr>
        <p:spPr>
          <a:xfrm>
            <a:off x="9369207" y="2175760"/>
            <a:ext cx="7596307" cy="4524375"/>
          </a:xfrm>
          <a:prstGeom prst="rect">
            <a:avLst/>
          </a:prstGeom>
        </p:spPr>
        <p:txBody>
          <a:bodyPr lIns="0" tIns="0" rIns="0" bIns="0" rtlCol="0" anchor="t">
            <a:spAutoFit/>
          </a:bodyPr>
          <a:lstStyle/>
          <a:p>
            <a:pPr algn="ctr">
              <a:lnSpc>
                <a:spcPts val="3240"/>
              </a:lnSpc>
              <a:spcBef>
                <a:spcPct val="0"/>
              </a:spcBef>
            </a:pPr>
            <a:r>
              <a:rPr lang="en-US" sz="2700" b="1">
                <a:solidFill>
                  <a:srgbClr val="000000"/>
                </a:solidFill>
                <a:latin typeface="Arial Bold"/>
                <a:ea typeface="Arial Bold"/>
                <a:cs typeface="Arial Bold"/>
                <a:sym typeface="Arial Bold"/>
              </a:rPr>
              <a:t>Lokpradeep</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algn="ctr">
              <a:lnSpc>
                <a:spcPts val="3240"/>
              </a:lnSpc>
              <a:spcBef>
                <a:spcPct val="0"/>
              </a:spcBef>
            </a:pPr>
            <a:r>
              <a:rPr lang="en-US" sz="2700" b="1">
                <a:solidFill>
                  <a:srgbClr val="000000"/>
                </a:solidFill>
                <a:latin typeface="Arial Bold"/>
                <a:ea typeface="Arial Bold"/>
                <a:cs typeface="Arial Bold"/>
                <a:sym typeface="Arial Bold"/>
              </a:rPr>
              <a:t>Graph Analytics &amp; Attack Reconstruction Lead</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marL="582930" lvl="1" indent="-291465" algn="l">
              <a:lnSpc>
                <a:spcPts val="3240"/>
              </a:lnSpc>
              <a:buFont typeface="Arial"/>
              <a:buChar char="•"/>
            </a:pPr>
            <a:r>
              <a:rPr lang="en-US" sz="2700">
                <a:solidFill>
                  <a:srgbClr val="000000"/>
                </a:solidFill>
                <a:latin typeface="Arial"/>
                <a:ea typeface="Arial"/>
                <a:cs typeface="Arial"/>
                <a:sym typeface="Arial"/>
              </a:rPr>
              <a:t>Temporal Knowledge Graph design</a:t>
            </a:r>
          </a:p>
          <a:p>
            <a:pPr marL="582930" lvl="1" indent="-291465" algn="l">
              <a:lnSpc>
                <a:spcPts val="3240"/>
              </a:lnSpc>
              <a:buFont typeface="Arial"/>
              <a:buChar char="•"/>
            </a:pPr>
            <a:r>
              <a:rPr lang="en-US" sz="2700">
                <a:solidFill>
                  <a:srgbClr val="000000"/>
                </a:solidFill>
                <a:latin typeface="Arial"/>
                <a:ea typeface="Arial"/>
                <a:cs typeface="Arial"/>
                <a:sym typeface="Arial"/>
              </a:rPr>
              <a:t>Network Provenance Graph construction</a:t>
            </a:r>
          </a:p>
          <a:p>
            <a:pPr marL="582930" lvl="1" indent="-291465" algn="l">
              <a:lnSpc>
                <a:spcPts val="3240"/>
              </a:lnSpc>
              <a:buFont typeface="Arial"/>
              <a:buChar char="•"/>
            </a:pPr>
            <a:r>
              <a:rPr lang="en-US" sz="2700">
                <a:solidFill>
                  <a:srgbClr val="000000"/>
                </a:solidFill>
                <a:latin typeface="Arial"/>
                <a:ea typeface="Arial"/>
                <a:cs typeface="Arial"/>
                <a:sym typeface="Arial"/>
              </a:rPr>
              <a:t>Graph database development </a:t>
            </a:r>
          </a:p>
          <a:p>
            <a:pPr marL="582930" lvl="1" indent="-291465" algn="l">
              <a:lnSpc>
                <a:spcPts val="3240"/>
              </a:lnSpc>
              <a:buFont typeface="Arial"/>
              <a:buChar char="•"/>
            </a:pPr>
            <a:r>
              <a:rPr lang="en-US" sz="2700">
                <a:solidFill>
                  <a:srgbClr val="000000"/>
                </a:solidFill>
                <a:latin typeface="Arial"/>
                <a:ea typeface="Arial"/>
                <a:cs typeface="Arial"/>
                <a:sym typeface="Arial"/>
              </a:rPr>
              <a:t>Attack path reconstruction</a:t>
            </a:r>
          </a:p>
          <a:p>
            <a:pPr marL="582930" lvl="1" indent="-291465" algn="l">
              <a:lnSpc>
                <a:spcPts val="3240"/>
              </a:lnSpc>
              <a:buFont typeface="Arial"/>
              <a:buChar char="•"/>
            </a:pPr>
            <a:r>
              <a:rPr lang="en-US" sz="2700">
                <a:solidFill>
                  <a:srgbClr val="000000"/>
                </a:solidFill>
                <a:latin typeface="Arial"/>
                <a:ea typeface="Arial"/>
                <a:cs typeface="Arial"/>
                <a:sym typeface="Arial"/>
              </a:rPr>
              <a:t>Lateral movement detection</a:t>
            </a:r>
          </a:p>
          <a:p>
            <a:pPr marL="582930" lvl="1" indent="-291465" algn="l">
              <a:lnSpc>
                <a:spcPts val="3240"/>
              </a:lnSpc>
              <a:buFont typeface="Arial"/>
              <a:buChar char="•"/>
            </a:pPr>
            <a:r>
              <a:rPr lang="en-US" sz="2700">
                <a:solidFill>
                  <a:srgbClr val="000000"/>
                </a:solidFill>
                <a:latin typeface="Arial"/>
                <a:ea typeface="Arial"/>
                <a:cs typeface="Arial"/>
                <a:sym typeface="Arial"/>
              </a:rPr>
              <a:t>Graph visualization</a:t>
            </a:r>
          </a:p>
          <a:p>
            <a:pPr marL="582930" lvl="1" indent="-291465" algn="l">
              <a:lnSpc>
                <a:spcPts val="3240"/>
              </a:lnSpc>
              <a:buFont typeface="Arial"/>
              <a:buChar char="•"/>
            </a:pPr>
            <a:r>
              <a:rPr lang="en-US" sz="2700">
                <a:solidFill>
                  <a:srgbClr val="000000"/>
                </a:solidFill>
                <a:latin typeface="Arial"/>
                <a:ea typeface="Arial"/>
                <a:cs typeface="Arial"/>
                <a:sym typeface="Arial"/>
              </a:rPr>
              <a:t>Graph anomaly detection</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144000"/>
            <a:ext cx="18288000" cy="79058"/>
            <a:chOff x="0" y="0"/>
            <a:chExt cx="24384000" cy="105410"/>
          </a:xfrm>
        </p:grpSpPr>
        <p:sp>
          <p:nvSpPr>
            <p:cNvPr id="3" name="Freeform 3"/>
            <p:cNvSpPr/>
            <p:nvPr/>
          </p:nvSpPr>
          <p:spPr>
            <a:xfrm>
              <a:off x="0" y="0"/>
              <a:ext cx="24384000" cy="105283"/>
            </a:xfrm>
            <a:custGeom>
              <a:avLst/>
              <a:gdLst/>
              <a:ahLst/>
              <a:cxnLst/>
              <a:rect l="l" t="t" r="r" b="b"/>
              <a:pathLst>
                <a:path w="24384000" h="105283">
                  <a:moveTo>
                    <a:pt x="0" y="105283"/>
                  </a:moveTo>
                  <a:lnTo>
                    <a:pt x="24384000" y="105283"/>
                  </a:lnTo>
                  <a:lnTo>
                    <a:pt x="24384000" y="0"/>
                  </a:lnTo>
                  <a:lnTo>
                    <a:pt x="0" y="0"/>
                  </a:lnTo>
                  <a:lnTo>
                    <a:pt x="0" y="105283"/>
                  </a:lnTo>
                  <a:close/>
                </a:path>
              </a:pathLst>
            </a:custGeom>
            <a:solidFill>
              <a:srgbClr val="000000"/>
            </a:solidFill>
          </p:spPr>
        </p:sp>
      </p:grpSp>
      <p:grpSp>
        <p:nvGrpSpPr>
          <p:cNvPr id="4" name="Group 4"/>
          <p:cNvGrpSpPr/>
          <p:nvPr/>
        </p:nvGrpSpPr>
        <p:grpSpPr>
          <a:xfrm>
            <a:off x="0" y="9222953"/>
            <a:ext cx="18288000" cy="1064895"/>
            <a:chOff x="0" y="0"/>
            <a:chExt cx="24384000" cy="1419860"/>
          </a:xfrm>
        </p:grpSpPr>
        <p:sp>
          <p:nvSpPr>
            <p:cNvPr id="5" name="Freeform 5"/>
            <p:cNvSpPr/>
            <p:nvPr/>
          </p:nvSpPr>
          <p:spPr>
            <a:xfrm>
              <a:off x="0" y="0"/>
              <a:ext cx="24384000" cy="1418717"/>
            </a:xfrm>
            <a:custGeom>
              <a:avLst/>
              <a:gdLst/>
              <a:ahLst/>
              <a:cxnLst/>
              <a:rect l="l" t="t" r="r" b="b"/>
              <a:pathLst>
                <a:path w="24384000" h="1418717">
                  <a:moveTo>
                    <a:pt x="0" y="1418717"/>
                  </a:moveTo>
                  <a:lnTo>
                    <a:pt x="0" y="0"/>
                  </a:lnTo>
                  <a:lnTo>
                    <a:pt x="24384000" y="0"/>
                  </a:lnTo>
                  <a:lnTo>
                    <a:pt x="24384000" y="1418717"/>
                  </a:lnTo>
                  <a:lnTo>
                    <a:pt x="0" y="1418717"/>
                  </a:lnTo>
                  <a:close/>
                </a:path>
              </a:pathLst>
            </a:custGeom>
            <a:solidFill>
              <a:srgbClr val="2F5496"/>
            </a:solidFill>
          </p:spPr>
        </p:sp>
      </p:grpSp>
      <p:grpSp>
        <p:nvGrpSpPr>
          <p:cNvPr id="6" name="Group 6"/>
          <p:cNvGrpSpPr/>
          <p:nvPr/>
        </p:nvGrpSpPr>
        <p:grpSpPr>
          <a:xfrm>
            <a:off x="221923" y="9292571"/>
            <a:ext cx="2903220" cy="927097"/>
            <a:chOff x="0" y="0"/>
            <a:chExt cx="3870960" cy="1236129"/>
          </a:xfrm>
        </p:grpSpPr>
        <p:sp>
          <p:nvSpPr>
            <p:cNvPr id="7" name="Freeform 7"/>
            <p:cNvSpPr/>
            <p:nvPr/>
          </p:nvSpPr>
          <p:spPr>
            <a:xfrm>
              <a:off x="0" y="0"/>
              <a:ext cx="3870960" cy="1236091"/>
            </a:xfrm>
            <a:custGeom>
              <a:avLst/>
              <a:gdLst/>
              <a:ahLst/>
              <a:cxnLst/>
              <a:rect l="l" t="t" r="r" b="b"/>
              <a:pathLst>
                <a:path w="3870960" h="1236091">
                  <a:moveTo>
                    <a:pt x="0" y="0"/>
                  </a:moveTo>
                  <a:lnTo>
                    <a:pt x="3870960" y="0"/>
                  </a:lnTo>
                  <a:lnTo>
                    <a:pt x="3870960" y="1236091"/>
                  </a:lnTo>
                  <a:lnTo>
                    <a:pt x="0" y="1236091"/>
                  </a:lnTo>
                  <a:lnTo>
                    <a:pt x="0" y="0"/>
                  </a:lnTo>
                  <a:close/>
                </a:path>
              </a:pathLst>
            </a:custGeom>
            <a:blipFill>
              <a:blip r:embed="rId3"/>
              <a:stretch>
                <a:fillRect b="-346"/>
              </a:stretch>
            </a:blipFill>
          </p:spPr>
        </p:sp>
      </p:grpSp>
      <p:grpSp>
        <p:nvGrpSpPr>
          <p:cNvPr id="8" name="Group 8"/>
          <p:cNvGrpSpPr/>
          <p:nvPr/>
        </p:nvGrpSpPr>
        <p:grpSpPr>
          <a:xfrm>
            <a:off x="3044857" y="9409805"/>
            <a:ext cx="1970589" cy="797128"/>
            <a:chOff x="0" y="0"/>
            <a:chExt cx="2627452" cy="1062838"/>
          </a:xfrm>
        </p:grpSpPr>
        <p:sp>
          <p:nvSpPr>
            <p:cNvPr id="9" name="Freeform 9"/>
            <p:cNvSpPr/>
            <p:nvPr/>
          </p:nvSpPr>
          <p:spPr>
            <a:xfrm>
              <a:off x="0" y="0"/>
              <a:ext cx="2627503" cy="1062863"/>
            </a:xfrm>
            <a:custGeom>
              <a:avLst/>
              <a:gdLst/>
              <a:ahLst/>
              <a:cxnLst/>
              <a:rect l="l" t="t" r="r" b="b"/>
              <a:pathLst>
                <a:path w="2627503" h="1062863">
                  <a:moveTo>
                    <a:pt x="0" y="0"/>
                  </a:moveTo>
                  <a:lnTo>
                    <a:pt x="2627503" y="0"/>
                  </a:lnTo>
                  <a:lnTo>
                    <a:pt x="2627503" y="1062863"/>
                  </a:lnTo>
                  <a:lnTo>
                    <a:pt x="0" y="1062863"/>
                  </a:lnTo>
                  <a:lnTo>
                    <a:pt x="0" y="0"/>
                  </a:lnTo>
                  <a:close/>
                </a:path>
              </a:pathLst>
            </a:custGeom>
            <a:blipFill>
              <a:blip r:embed="rId4"/>
              <a:stretch>
                <a:fillRect r="1" b="-365"/>
              </a:stretch>
            </a:blipFill>
          </p:spPr>
        </p:sp>
      </p:grpSp>
      <p:sp>
        <p:nvSpPr>
          <p:cNvPr id="10" name="TextBox 10"/>
          <p:cNvSpPr txBox="1"/>
          <p:nvPr/>
        </p:nvSpPr>
        <p:spPr>
          <a:xfrm>
            <a:off x="13167360" y="9547860"/>
            <a:ext cx="4206240" cy="428625"/>
          </a:xfrm>
          <a:prstGeom prst="rect">
            <a:avLst/>
          </a:prstGeom>
        </p:spPr>
        <p:txBody>
          <a:bodyPr lIns="0" tIns="0" rIns="0" bIns="0" rtlCol="0" anchor="t">
            <a:spAutoFit/>
          </a:bodyPr>
          <a:lstStyle/>
          <a:p>
            <a:pPr algn="r">
              <a:lnSpc>
                <a:spcPts val="3240"/>
              </a:lnSpc>
            </a:pPr>
            <a:r>
              <a:rPr lang="en-US" sz="2700">
                <a:solidFill>
                  <a:srgbClr val="888888"/>
                </a:solidFill>
                <a:latin typeface="Arial"/>
                <a:ea typeface="Arial"/>
                <a:cs typeface="Arial"/>
                <a:sym typeface="Arial"/>
              </a:rPr>
              <a:t>6</a:t>
            </a:r>
          </a:p>
        </p:txBody>
      </p:sp>
      <p:sp>
        <p:nvSpPr>
          <p:cNvPr id="11" name="TextBox 11"/>
          <p:cNvSpPr txBox="1"/>
          <p:nvPr/>
        </p:nvSpPr>
        <p:spPr>
          <a:xfrm>
            <a:off x="1673533" y="2357391"/>
            <a:ext cx="6655810" cy="4524375"/>
          </a:xfrm>
          <a:prstGeom prst="rect">
            <a:avLst/>
          </a:prstGeom>
        </p:spPr>
        <p:txBody>
          <a:bodyPr lIns="0" tIns="0" rIns="0" bIns="0" rtlCol="0" anchor="t">
            <a:spAutoFit/>
          </a:bodyPr>
          <a:lstStyle/>
          <a:p>
            <a:pPr algn="ctr">
              <a:lnSpc>
                <a:spcPts val="3240"/>
              </a:lnSpc>
              <a:spcBef>
                <a:spcPct val="0"/>
              </a:spcBef>
            </a:pPr>
            <a:r>
              <a:rPr lang="en-US" sz="2700" b="1">
                <a:solidFill>
                  <a:srgbClr val="000000"/>
                </a:solidFill>
                <a:latin typeface="Arial Bold"/>
                <a:ea typeface="Arial Bold"/>
                <a:cs typeface="Arial Bold"/>
                <a:sym typeface="Arial Bold"/>
              </a:rPr>
              <a:t>Akshara</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algn="ctr">
              <a:lnSpc>
                <a:spcPts val="3240"/>
              </a:lnSpc>
              <a:spcBef>
                <a:spcPct val="0"/>
              </a:spcBef>
            </a:pPr>
            <a:r>
              <a:rPr lang="en-US" sz="2700" b="1">
                <a:solidFill>
                  <a:srgbClr val="000000"/>
                </a:solidFill>
                <a:latin typeface="Arial Bold"/>
                <a:ea typeface="Arial Bold"/>
                <a:cs typeface="Arial Bold"/>
                <a:sym typeface="Arial Bold"/>
              </a:rPr>
              <a:t>Behavioral Analytics &amp; UEBA Lead</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marL="582930" lvl="1" indent="-291465" algn="l">
              <a:lnSpc>
                <a:spcPts val="3240"/>
              </a:lnSpc>
              <a:buFont typeface="Arial"/>
              <a:buChar char="•"/>
            </a:pPr>
            <a:r>
              <a:rPr lang="en-US" sz="2700">
                <a:solidFill>
                  <a:srgbClr val="000000"/>
                </a:solidFill>
                <a:latin typeface="Arial"/>
                <a:ea typeface="Arial"/>
                <a:cs typeface="Arial"/>
                <a:sym typeface="Arial"/>
              </a:rPr>
              <a:t>Context-aware UEBA framework</a:t>
            </a:r>
          </a:p>
          <a:p>
            <a:pPr marL="582930" lvl="1" indent="-291465" algn="l">
              <a:lnSpc>
                <a:spcPts val="3240"/>
              </a:lnSpc>
              <a:buFont typeface="Arial"/>
              <a:buChar char="•"/>
            </a:pPr>
            <a:r>
              <a:rPr lang="en-US" sz="2700">
                <a:solidFill>
                  <a:srgbClr val="000000"/>
                </a:solidFill>
                <a:latin typeface="Arial"/>
                <a:ea typeface="Arial"/>
                <a:cs typeface="Arial"/>
                <a:sym typeface="Arial"/>
              </a:rPr>
              <a:t>Behavioral feature engineering</a:t>
            </a:r>
          </a:p>
          <a:p>
            <a:pPr marL="582930" lvl="1" indent="-291465" algn="l">
              <a:lnSpc>
                <a:spcPts val="3240"/>
              </a:lnSpc>
              <a:buFont typeface="Arial"/>
              <a:buChar char="•"/>
            </a:pPr>
            <a:r>
              <a:rPr lang="en-US" sz="2700">
                <a:solidFill>
                  <a:srgbClr val="000000"/>
                </a:solidFill>
                <a:latin typeface="Arial"/>
                <a:ea typeface="Arial"/>
                <a:cs typeface="Arial"/>
                <a:sym typeface="Arial"/>
              </a:rPr>
              <a:t>Device baseline modeling</a:t>
            </a:r>
          </a:p>
          <a:p>
            <a:pPr marL="582930" lvl="1" indent="-291465" algn="l">
              <a:lnSpc>
                <a:spcPts val="3240"/>
              </a:lnSpc>
              <a:buFont typeface="Arial"/>
              <a:buChar char="•"/>
            </a:pPr>
            <a:r>
              <a:rPr lang="en-US" sz="2700">
                <a:solidFill>
                  <a:srgbClr val="000000"/>
                </a:solidFill>
                <a:latin typeface="Arial"/>
                <a:ea typeface="Arial"/>
                <a:cs typeface="Arial"/>
                <a:sym typeface="Arial"/>
              </a:rPr>
              <a:t>User/entity profiling</a:t>
            </a:r>
          </a:p>
          <a:p>
            <a:pPr marL="582930" lvl="1" indent="-291465" algn="l">
              <a:lnSpc>
                <a:spcPts val="3240"/>
              </a:lnSpc>
              <a:buFont typeface="Arial"/>
              <a:buChar char="•"/>
            </a:pPr>
            <a:r>
              <a:rPr lang="en-US" sz="2700">
                <a:solidFill>
                  <a:srgbClr val="000000"/>
                </a:solidFill>
                <a:latin typeface="Arial"/>
                <a:ea typeface="Arial"/>
                <a:cs typeface="Arial"/>
                <a:sym typeface="Arial"/>
              </a:rPr>
              <a:t>Behavioral drift detection</a:t>
            </a:r>
          </a:p>
          <a:p>
            <a:pPr marL="582930" lvl="1" indent="-291465" algn="l">
              <a:lnSpc>
                <a:spcPts val="3240"/>
              </a:lnSpc>
              <a:buFont typeface="Arial"/>
              <a:buChar char="•"/>
            </a:pPr>
            <a:r>
              <a:rPr lang="en-US" sz="2700">
                <a:solidFill>
                  <a:srgbClr val="000000"/>
                </a:solidFill>
                <a:latin typeface="Arial"/>
                <a:ea typeface="Arial"/>
                <a:cs typeface="Arial"/>
                <a:sym typeface="Arial"/>
              </a:rPr>
              <a:t>Risk scoring engine</a:t>
            </a:r>
          </a:p>
          <a:p>
            <a:pPr marL="582930" lvl="1" indent="-291465" algn="l">
              <a:lnSpc>
                <a:spcPts val="3240"/>
              </a:lnSpc>
              <a:buFont typeface="Arial"/>
              <a:buChar char="•"/>
            </a:pPr>
            <a:r>
              <a:rPr lang="en-US" sz="2700">
                <a:solidFill>
                  <a:srgbClr val="000000"/>
                </a:solidFill>
                <a:latin typeface="Arial"/>
                <a:ea typeface="Arial"/>
                <a:cs typeface="Arial"/>
                <a:sym typeface="Arial"/>
              </a:rPr>
              <a:t>False positive reduction</a:t>
            </a:r>
          </a:p>
        </p:txBody>
      </p:sp>
      <p:sp>
        <p:nvSpPr>
          <p:cNvPr id="12" name="TextBox 12"/>
          <p:cNvSpPr txBox="1"/>
          <p:nvPr/>
        </p:nvSpPr>
        <p:spPr>
          <a:xfrm>
            <a:off x="10025289" y="2152604"/>
            <a:ext cx="7581671" cy="4933950"/>
          </a:xfrm>
          <a:prstGeom prst="rect">
            <a:avLst/>
          </a:prstGeom>
        </p:spPr>
        <p:txBody>
          <a:bodyPr lIns="0" tIns="0" rIns="0" bIns="0" rtlCol="0" anchor="t">
            <a:spAutoFit/>
          </a:bodyPr>
          <a:lstStyle/>
          <a:p>
            <a:pPr algn="ctr">
              <a:lnSpc>
                <a:spcPts val="3240"/>
              </a:lnSpc>
              <a:spcBef>
                <a:spcPct val="0"/>
              </a:spcBef>
            </a:pPr>
            <a:r>
              <a:rPr lang="en-US" sz="2700" b="1">
                <a:solidFill>
                  <a:srgbClr val="000000"/>
                </a:solidFill>
                <a:latin typeface="Arial Bold"/>
                <a:ea typeface="Arial Bold"/>
                <a:cs typeface="Arial Bold"/>
                <a:sym typeface="Arial Bold"/>
              </a:rPr>
              <a:t>Charan</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algn="ctr">
              <a:lnSpc>
                <a:spcPts val="3240"/>
              </a:lnSpc>
              <a:spcBef>
                <a:spcPct val="0"/>
              </a:spcBef>
            </a:pPr>
            <a:r>
              <a:rPr lang="en-US" sz="2700" b="1">
                <a:solidFill>
                  <a:srgbClr val="000000"/>
                </a:solidFill>
                <a:latin typeface="Arial Bold"/>
                <a:ea typeface="Arial Bold"/>
                <a:cs typeface="Arial Bold"/>
                <a:sym typeface="Arial Bold"/>
              </a:rPr>
              <a:t>Multi-Agent AI &amp; Autonomous Response Lead</a:t>
            </a:r>
          </a:p>
          <a:p>
            <a:pPr algn="ctr">
              <a:lnSpc>
                <a:spcPts val="3240"/>
              </a:lnSpc>
              <a:spcBef>
                <a:spcPct val="0"/>
              </a:spcBef>
            </a:pPr>
            <a:endParaRPr lang="en-US" sz="2700" b="1">
              <a:solidFill>
                <a:srgbClr val="000000"/>
              </a:solidFill>
              <a:latin typeface="Arial Bold"/>
              <a:ea typeface="Arial Bold"/>
              <a:cs typeface="Arial Bold"/>
              <a:sym typeface="Arial Bold"/>
            </a:endParaRPr>
          </a:p>
          <a:p>
            <a:pPr marL="582930" lvl="1" indent="-291465" algn="l">
              <a:lnSpc>
                <a:spcPts val="3240"/>
              </a:lnSpc>
              <a:buFont typeface="Arial"/>
              <a:buChar char="•"/>
            </a:pPr>
            <a:r>
              <a:rPr lang="en-US" sz="2700">
                <a:solidFill>
                  <a:srgbClr val="000000"/>
                </a:solidFill>
                <a:latin typeface="Arial"/>
                <a:ea typeface="Arial"/>
                <a:cs typeface="Arial"/>
                <a:sym typeface="Arial"/>
              </a:rPr>
              <a:t>Multi-Agent AI architecture</a:t>
            </a:r>
          </a:p>
          <a:p>
            <a:pPr marL="582930" lvl="1" indent="-291465" algn="l">
              <a:lnSpc>
                <a:spcPts val="3240"/>
              </a:lnSpc>
              <a:buFont typeface="Arial"/>
              <a:buChar char="•"/>
            </a:pPr>
            <a:r>
              <a:rPr lang="en-US" sz="2700">
                <a:solidFill>
                  <a:srgbClr val="000000"/>
                </a:solidFill>
                <a:latin typeface="Arial"/>
                <a:ea typeface="Arial"/>
                <a:cs typeface="Arial"/>
                <a:sym typeface="Arial"/>
              </a:rPr>
              <a:t>CrewAI agent orchestration</a:t>
            </a:r>
          </a:p>
          <a:p>
            <a:pPr marL="582930" lvl="1" indent="-291465" algn="l">
              <a:lnSpc>
                <a:spcPts val="3240"/>
              </a:lnSpc>
              <a:buFont typeface="Arial"/>
              <a:buChar char="•"/>
            </a:pPr>
            <a:r>
              <a:rPr lang="en-US" sz="2700">
                <a:solidFill>
                  <a:srgbClr val="000000"/>
                </a:solidFill>
                <a:latin typeface="Arial"/>
                <a:ea typeface="Arial"/>
                <a:cs typeface="Arial"/>
                <a:sym typeface="Arial"/>
              </a:rPr>
              <a:t>LLM integration (Llama 3/Ollama)</a:t>
            </a:r>
          </a:p>
          <a:p>
            <a:pPr marL="582930" lvl="1" indent="-291465" algn="l">
              <a:lnSpc>
                <a:spcPts val="3240"/>
              </a:lnSpc>
              <a:buFont typeface="Arial"/>
              <a:buChar char="•"/>
            </a:pPr>
            <a:r>
              <a:rPr lang="en-US" sz="2700">
                <a:solidFill>
                  <a:srgbClr val="000000"/>
                </a:solidFill>
                <a:latin typeface="Arial"/>
                <a:ea typeface="Arial"/>
                <a:cs typeface="Arial"/>
                <a:sym typeface="Arial"/>
              </a:rPr>
              <a:t>Alert correlation engine</a:t>
            </a:r>
          </a:p>
          <a:p>
            <a:pPr marL="582930" lvl="1" indent="-291465" algn="l">
              <a:lnSpc>
                <a:spcPts val="3240"/>
              </a:lnSpc>
              <a:buFont typeface="Arial"/>
              <a:buChar char="•"/>
            </a:pPr>
            <a:r>
              <a:rPr lang="en-US" sz="2700">
                <a:solidFill>
                  <a:srgbClr val="000000"/>
                </a:solidFill>
                <a:latin typeface="Arial"/>
                <a:ea typeface="Arial"/>
                <a:cs typeface="Arial"/>
                <a:sym typeface="Arial"/>
              </a:rPr>
              <a:t>Threat narrative generation</a:t>
            </a:r>
          </a:p>
          <a:p>
            <a:pPr marL="582930" lvl="1" indent="-291465" algn="l">
              <a:lnSpc>
                <a:spcPts val="3240"/>
              </a:lnSpc>
              <a:buFont typeface="Arial"/>
              <a:buChar char="•"/>
            </a:pPr>
            <a:r>
              <a:rPr lang="en-US" sz="2700">
                <a:solidFill>
                  <a:srgbClr val="000000"/>
                </a:solidFill>
                <a:latin typeface="Arial"/>
                <a:ea typeface="Arial"/>
                <a:cs typeface="Arial"/>
                <a:sym typeface="Arial"/>
              </a:rPr>
              <a:t>Autonomous response planning</a:t>
            </a:r>
          </a:p>
          <a:p>
            <a:pPr marL="582930" lvl="1" indent="-291465" algn="l">
              <a:lnSpc>
                <a:spcPts val="3240"/>
              </a:lnSpc>
              <a:buFont typeface="Arial"/>
              <a:buChar char="•"/>
            </a:pPr>
            <a:r>
              <a:rPr lang="en-US" sz="2700">
                <a:solidFill>
                  <a:srgbClr val="000000"/>
                </a:solidFill>
                <a:latin typeface="Arial"/>
                <a:ea typeface="Arial"/>
                <a:cs typeface="Arial"/>
                <a:sym typeface="Arial"/>
              </a:rPr>
              <a:t>Explainable AI reasoning</a:t>
            </a:r>
          </a:p>
          <a:p>
            <a:pPr marL="582930" lvl="1" indent="-291465" algn="l">
              <a:lnSpc>
                <a:spcPts val="3240"/>
              </a:lnSpc>
              <a:spcBef>
                <a:spcPct val="0"/>
              </a:spcBef>
              <a:buFont typeface="Arial"/>
              <a:buChar char="•"/>
            </a:pPr>
            <a:r>
              <a:rPr lang="en-US" sz="2700">
                <a:solidFill>
                  <a:srgbClr val="000000"/>
                </a:solidFill>
                <a:latin typeface="Arial"/>
                <a:ea typeface="Arial"/>
                <a:cs typeface="Arial"/>
                <a:sym typeface="Arial"/>
              </a:rPr>
              <a:t>Security dashboard integration</a:t>
            </a:r>
          </a:p>
        </p:txBody>
      </p:sp>
      <p:sp>
        <p:nvSpPr>
          <p:cNvPr id="13" name="TextBox 13"/>
          <p:cNvSpPr txBox="1"/>
          <p:nvPr/>
        </p:nvSpPr>
        <p:spPr>
          <a:xfrm>
            <a:off x="4492584" y="261235"/>
            <a:ext cx="9702288" cy="1590675"/>
          </a:xfrm>
          <a:prstGeom prst="rect">
            <a:avLst/>
          </a:prstGeom>
        </p:spPr>
        <p:txBody>
          <a:bodyPr lIns="0" tIns="0" rIns="0" bIns="0" rtlCol="0" anchor="t">
            <a:spAutoFit/>
          </a:bodyPr>
          <a:lstStyle/>
          <a:p>
            <a:pPr algn="ctr">
              <a:lnSpc>
                <a:spcPts val="4199"/>
              </a:lnSpc>
            </a:pPr>
            <a:endParaRPr/>
          </a:p>
          <a:p>
            <a:pPr algn="ctr">
              <a:lnSpc>
                <a:spcPts val="4199"/>
              </a:lnSpc>
            </a:pPr>
            <a:r>
              <a:rPr lang="en-US" sz="3499" b="1">
                <a:solidFill>
                  <a:srgbClr val="000000"/>
                </a:solidFill>
                <a:latin typeface="Arial Bold"/>
                <a:ea typeface="Arial Bold"/>
                <a:cs typeface="Arial Bold"/>
                <a:sym typeface="Arial Bold"/>
              </a:rPr>
              <a:t>Work Distribution &amp; Responsibilities</a:t>
            </a:r>
          </a:p>
          <a:p>
            <a:pPr algn="ctr">
              <a:lnSpc>
                <a:spcPts val="4199"/>
              </a:lnSpc>
              <a:spcBef>
                <a:spcPct val="0"/>
              </a:spcBef>
            </a:pPr>
            <a:endParaRPr lang="en-US" sz="3499"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13716000"/>
                  </a:moveTo>
                  <a:lnTo>
                    <a:pt x="0" y="13716000"/>
                  </a:lnTo>
                  <a:lnTo>
                    <a:pt x="0" y="0"/>
                  </a:lnTo>
                  <a:lnTo>
                    <a:pt x="24384000" y="0"/>
                  </a:lnTo>
                  <a:lnTo>
                    <a:pt x="24384000" y="13716000"/>
                  </a:lnTo>
                  <a:close/>
                </a:path>
              </a:pathLst>
            </a:custGeom>
            <a:solidFill>
              <a:srgbClr val="2F5496"/>
            </a:solidFill>
          </p:spPr>
        </p:sp>
      </p:grpSp>
      <p:sp>
        <p:nvSpPr>
          <p:cNvPr id="4" name="TextBox 4"/>
          <p:cNvSpPr txBox="1"/>
          <p:nvPr/>
        </p:nvSpPr>
        <p:spPr>
          <a:xfrm>
            <a:off x="4640277" y="3089866"/>
            <a:ext cx="9778770" cy="2474707"/>
          </a:xfrm>
          <a:prstGeom prst="rect">
            <a:avLst/>
          </a:prstGeom>
        </p:spPr>
        <p:txBody>
          <a:bodyPr lIns="0" tIns="0" rIns="0" bIns="0" rtlCol="0" anchor="t">
            <a:spAutoFit/>
          </a:bodyPr>
          <a:lstStyle/>
          <a:p>
            <a:pPr algn="ctr">
              <a:lnSpc>
                <a:spcPts val="20742"/>
              </a:lnSpc>
            </a:pPr>
            <a:r>
              <a:rPr lang="en-US" sz="11523" b="1">
                <a:solidFill>
                  <a:srgbClr val="FFFFFF"/>
                </a:solidFill>
                <a:latin typeface="Times New Roman Bold"/>
                <a:ea typeface="Times New Roman Bold"/>
                <a:cs typeface="Times New Roman Bold"/>
                <a:sym typeface="Times New Roman Bold"/>
              </a:rPr>
              <a:t>THANK YOU</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508</Words>
  <Application>Microsoft Office PowerPoint</Application>
  <PresentationFormat>Custom</PresentationFormat>
  <Paragraphs>102</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Bold</vt:lpstr>
      <vt:lpstr>Times New Roman</vt:lpstr>
      <vt:lpstr>Times New Roman Bold</vt:lpstr>
      <vt:lpstr>Garamond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Copy of Ajay_ztna1.pptx</dc:title>
  <dc:creator>sri charan</dc:creator>
  <cp:lastModifiedBy>NAGANDLA SRI CHARAN-[AM.SC.U4CYS23029]</cp:lastModifiedBy>
  <cp:revision>2</cp:revision>
  <dcterms:created xsi:type="dcterms:W3CDTF">2006-08-16T00:00:00Z</dcterms:created>
  <dcterms:modified xsi:type="dcterms:W3CDTF">2026-07-03T05:43:03Z</dcterms:modified>
  <dc:identifier>DAHNUabn_xQ</dc:identifier>
</cp:coreProperties>
</file>