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Times New Roman" charset="1" panose="02020603050405020304"/>
      <p:regular r:id="rId30"/>
    </p:embeddedFont>
    <p:embeddedFont>
      <p:font typeface="Calibri (MS)" charset="1" panose="020F0502020204030204"/>
      <p:regular r:id="rId31"/>
    </p:embeddedFont>
    <p:embeddedFont>
      <p:font typeface="Calibri (MS) Bold" charset="1" panose="020F0702030404030204"/>
      <p:regular r:id="rId32"/>
    </p:embeddedFont>
    <p:embeddedFont>
      <p:font typeface="TT Rounds Condensed" charset="1" panose="02000506030000020003"/>
      <p:regular r:id="rId33"/>
    </p:embeddedFont>
    <p:embeddedFont>
      <p:font typeface="Times New Roman Bold" charset="1" panose="02020803070505020304"/>
      <p:regular r:id="rId34"/>
    </p:embeddedFont>
    <p:embeddedFont>
      <p:font typeface="Canva Sans Bold" charset="1" panose="020B0803030501040103"/>
      <p:regular r:id="rId35"/>
    </p:embeddedFont>
    <p:embeddedFont>
      <p:font typeface="Arimo" charset="1" panose="020B0604020202020204"/>
      <p:regular r:id="rId36"/>
    </p:embeddedFont>
    <p:embeddedFont>
      <p:font typeface="Arimo Bold" charset="1" panose="020B07040202020202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" y="-14288"/>
            <a:ext cx="18345150" cy="10315575"/>
            <a:chOff x="0" y="0"/>
            <a:chExt cx="24460200" cy="13754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60200" cy="13754100"/>
            </a:xfrm>
            <a:custGeom>
              <a:avLst/>
              <a:gdLst/>
              <a:ahLst/>
              <a:cxnLst/>
              <a:rect r="r" b="b" t="t" l="l"/>
              <a:pathLst>
                <a:path h="13754100" w="24460200">
                  <a:moveTo>
                    <a:pt x="0" y="0"/>
                  </a:moveTo>
                  <a:lnTo>
                    <a:pt x="24460200" y="0"/>
                  </a:lnTo>
                  <a:lnTo>
                    <a:pt x="24460200" y="13754100"/>
                  </a:lnTo>
                  <a:lnTo>
                    <a:pt x="0" y="1375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36795" y="4511040"/>
            <a:ext cx="12017693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CORTEX:A Context &amp; Graph-Aware Multi-Agent Framework for Explainable Industrial IoT Threat Intelligence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4750" y="7169338"/>
            <a:ext cx="7853455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Lokpradeep B - AM.SC.U4CYS23018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Uday  Ganesh B - AM.SC.U4CYS23019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 charan N - AM.SC.U4CYS23029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Akshara Kruti P -  AM.SC.U4CYS23035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67058" y="8526651"/>
            <a:ext cx="8878252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Name: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Kurunandan Jain, 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324243" y="1503045"/>
            <a:ext cx="5506403" cy="684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 Overview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Introduction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 Motivation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 Problem Statement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5. Literature Review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6. Gap Analysis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7.Threat model</a:t>
            </a:r>
          </a:p>
          <a:p>
            <a:pPr algn="l">
              <a:lnSpc>
                <a:spcPts val="6719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257300" y="216694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CONTENTS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574327" y="9442132"/>
            <a:ext cx="1364932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99320" y="1503045"/>
            <a:ext cx="6736080" cy="684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Methodology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9. Proposed Architecture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10. Novelty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11. Road Map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12.Progress so Far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13.Contributions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14. Conclusion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15. References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749647"/>
            <a:ext cx="16802100" cy="707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Contextual Intelligence Engine</a:t>
            </a:r>
          </a:p>
          <a:p>
            <a:pPr algn="l">
              <a:lnSpc>
                <a:spcPts val="3456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Transforms multi-source telemetry into Dynamic Context Profiles using context extraction, operational modeling, contextual consistency reasoning, and confidence estimation.</a:t>
            </a:r>
          </a:p>
          <a:p>
            <a:pPr algn="l">
              <a:lnSpc>
                <a:spcPts val="3456"/>
              </a:lnSpc>
            </a:pPr>
          </a:p>
          <a:p>
            <a:pPr algn="l">
              <a:lnSpc>
                <a:spcPts val="3456"/>
              </a:lnSpc>
            </a:pPr>
            <a:r>
              <a:rPr lang="en-US" sz="3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Adaptive Graph Intelligence Engine</a:t>
            </a:r>
          </a:p>
          <a:p>
            <a:pPr algn="l">
              <a:lnSpc>
                <a:spcPts val="3456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Builds temporal and provenance knowledge graphs for attack reconstruction and attack path prioritization.</a:t>
            </a:r>
          </a:p>
          <a:p>
            <a:pPr algn="l">
              <a:lnSpc>
                <a:spcPts val="3456"/>
              </a:lnSpc>
            </a:pPr>
          </a:p>
          <a:p>
            <a:pPr algn="l">
              <a:lnSpc>
                <a:spcPts val="3456"/>
              </a:lnSpc>
            </a:pPr>
            <a:r>
              <a:rPr lang="en-US" sz="3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 &amp; Graph-Aware Multi-Agent Intelligence</a:t>
            </a:r>
          </a:p>
          <a:p>
            <a:pPr algn="l">
              <a:lnSpc>
                <a:spcPts val="3456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Uses CrewAI agents to fuse contextual and graph intelligence, perform explainable threat reasoning, and coordinate autonomous investigations.</a:t>
            </a:r>
          </a:p>
          <a:p>
            <a:pPr algn="l">
              <a:lnSpc>
                <a:spcPts val="3456"/>
              </a:lnSpc>
            </a:pPr>
          </a:p>
          <a:p>
            <a:pPr algn="l">
              <a:lnSpc>
                <a:spcPts val="3456"/>
              </a:lnSpc>
            </a:pPr>
            <a:r>
              <a:rPr lang="en-US" sz="3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Unified Threat Intelligence Dashboard</a:t>
            </a:r>
          </a:p>
          <a:p>
            <a:pPr algn="l">
              <a:lnSpc>
                <a:spcPts val="3456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Visualizes threat intelligence, confidence, attack timelines, attack graphs, root cause analysis, recommendations, and analyst reports.</a:t>
            </a:r>
          </a:p>
          <a:p>
            <a:pPr algn="l">
              <a:lnSpc>
                <a:spcPts val="3456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165860" y="20383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OVERVIEW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574327" y="9442132"/>
            <a:ext cx="1364932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83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92079" y="1203198"/>
            <a:ext cx="15638621" cy="7690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087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Mission-Critical Industrial IoT: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Manufacturing, energy, water treatment, and critical infrastructure increasingly rely on interconnected Industrial IoT systems.</a:t>
            </a:r>
          </a:p>
          <a:p>
            <a:pPr algn="l" marL="690879" indent="-345439" lvl="1">
              <a:lnSpc>
                <a:spcPts val="5087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Evolving Cyber Threats: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Ransomware, insider threats, and multi-stage attacks explo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co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mplex Industrial IoT environments.</a:t>
            </a:r>
          </a:p>
          <a:p>
            <a:pPr algn="l" marL="690879" indent="-345439" lvl="1">
              <a:lnSpc>
                <a:spcPts val="5087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Challenges in Current Defenses: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Existing security solutions often analyze events independently, resulting in fragmented attack visibility, inaccurate attack reconstruction, and high false alerts.</a:t>
            </a:r>
          </a:p>
          <a:p>
            <a:pPr algn="l" marL="690879" indent="-345439" lvl="1">
              <a:lnSpc>
                <a:spcPts val="5087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Need for Intelligent Threat: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Understanding Security analysts require accurate attack reconstruction, reliable threat confidence, and explainable decision support for timely incident response.</a:t>
            </a:r>
          </a:p>
          <a:p>
            <a:pPr algn="l" marL="690879" indent="-345439" lvl="1">
              <a:lnSpc>
                <a:spcPts val="5087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Resea</a:t>
            </a: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rch Focus: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CORTEX proposes a contextual and graph-based framework to enhance Industrial IoT threat analysis using publicly available cybersecurity datasets.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57300" y="90487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INTRODUCTION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04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57300" y="90487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OTIVATION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54633" y="1915763"/>
            <a:ext cx="14578733" cy="550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47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Increasing cyber threats in Industrial IIoT demand int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elligent and adaptive security solutions.</a:t>
            </a:r>
          </a:p>
          <a:p>
            <a:pPr algn="l" marL="690879" indent="-345439" lvl="1">
              <a:lnSpc>
                <a:spcPts val="547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approaches lack context awareness, attack explainability, and holistic threat understanding.</a:t>
            </a:r>
          </a:p>
          <a:p>
            <a:pPr algn="l" marL="690879" indent="-345439" lvl="1">
              <a:lnSpc>
                <a:spcPts val="547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Security analysts require more than isolated alerts—they need actionable cyber intelligence.</a:t>
            </a:r>
          </a:p>
          <a:p>
            <a:pPr algn="l" marL="690879" indent="-345439" lvl="1">
              <a:lnSpc>
                <a:spcPts val="547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evelop CORTEX, a context- and graph-aware framework for explainable Industrial IIoT threat intelligence.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+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3" r="0" b="-32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574327" y="9442132"/>
            <a:ext cx="1364932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6101" y="1863566"/>
            <a:ext cx="15826499" cy="7158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Amb</a:t>
            </a: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iguous Attack Progression: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Multi-stage Industrial IoT attacks propagate across devices and protocols, making the complete attack progression difficult to reconstruct accurately.</a:t>
            </a:r>
          </a:p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Insufficient Operational Context: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Security events often lack sufficient operational and asset context, reducing the reliability of threat interpretation in mission-critical environments.</a:t>
            </a:r>
          </a:p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Uncertain Threat Prioritization: 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Security analysts struggle to distinguish critical attacks from low-impact events due to the absence of reliable confidence estimation during investigation.</a:t>
            </a:r>
          </a:p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Delayed Incident Investigation: 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Inaccurate attack reconstruction and fragmented evidence increase manual investigation time, delaying response in Industrial IoT environments.</a:t>
            </a:r>
          </a:p>
          <a:p>
            <a:pPr algn="l">
              <a:lnSpc>
                <a:spcPts val="5151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257300" y="90487"/>
            <a:ext cx="15773400" cy="1376362"/>
            <a:chOff x="0" y="0"/>
            <a:chExt cx="21031200" cy="18351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S</a:t>
              </a: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TATEMENT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65860" y="3750469"/>
            <a:ext cx="15773400" cy="1376362"/>
            <a:chOff x="0" y="0"/>
            <a:chExt cx="21031200" cy="1835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LITERATURE REVIEW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3" r="0" b="-32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65860" y="165497"/>
            <a:ext cx="15773400" cy="1376362"/>
            <a:chOff x="0" y="0"/>
            <a:chExt cx="21031200" cy="1835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76"/>
                </a:lnSpc>
              </a:pPr>
              <a:r>
                <a:rPr lang="en-US" sz="395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PAPER 1: A Framework for Anomaly Classification in Industrial Internet of Things Systems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07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463272" y="2065583"/>
            <a:ext cx="10824728" cy="6505271"/>
            <a:chOff x="0" y="0"/>
            <a:chExt cx="14432971" cy="86736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32970" cy="8673695"/>
            </a:xfrm>
            <a:custGeom>
              <a:avLst/>
              <a:gdLst/>
              <a:ahLst/>
              <a:cxnLst/>
              <a:rect r="r" b="b" t="t" l="l"/>
              <a:pathLst>
                <a:path h="8673695" w="14432970">
                  <a:moveTo>
                    <a:pt x="0" y="0"/>
                  </a:moveTo>
                  <a:lnTo>
                    <a:pt x="14432970" y="0"/>
                  </a:lnTo>
                  <a:lnTo>
                    <a:pt x="14432970" y="8673695"/>
                  </a:lnTo>
                  <a:lnTo>
                    <a:pt x="0" y="8673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157" t="0" r="-5159" b="18737"/>
              </a:stretch>
            </a:blipFill>
            <a:ln w="57150" cap="sq">
              <a:solidFill>
                <a:srgbClr val="0D0D0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4432971" cy="87403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Context-Aware</a:t>
              </a: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Anomaly Classification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Integrates IIoT telemetry with CPS context to improve anomaly detection and classification.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 Processing Pipeline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Combines contextual features, feature engineering, and anomaly detection for accurate threat analysis.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Improved Threat Detection: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Uses operational context t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 enhance detection of failures, cyber-attacks, and unseen anomalies.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</a:t>
              </a: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elation to Our Work: 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Inspires our Contextual Intelligence Engine, extending context-aware detection with dynamic contextual profiling, confidence estimation, and explainable threat intelligence.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-143541" y="3320891"/>
            <a:ext cx="7754127" cy="345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6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Conference/Journal: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Internet of Things (Elsevier, Q1)</a:t>
            </a:r>
          </a:p>
          <a:p>
            <a:pPr algn="l" marL="647700" indent="-323850" lvl="1">
              <a:lnSpc>
                <a:spcPts val="456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Authors: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Martha Rodríguez, Diana P. Tobón, Danny Múnera</a:t>
            </a:r>
          </a:p>
          <a:p>
            <a:pPr algn="l" marL="647700" indent="-323850" lvl="1">
              <a:lnSpc>
                <a:spcPts val="456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2025</a:t>
            </a:r>
          </a:p>
          <a:p>
            <a:pPr algn="l">
              <a:lnSpc>
                <a:spcPts val="456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525" y="0"/>
            <a:ext cx="18288000" cy="10253662"/>
            <a:chOff x="0" y="0"/>
            <a:chExt cx="24384000" cy="13671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3" r="0" b="-32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0" y="3613584"/>
            <a:ext cx="7586662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Conference/Journal: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International Journal of Information Security (Springer)</a:t>
            </a:r>
          </a:p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Authors: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Rudri Kalaria; A. S. M. Kayes; Wenny Rahayu; Eric Pardede; Ahmad Salehi Shahraki</a:t>
            </a:r>
          </a:p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Year: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2024</a:t>
            </a:r>
          </a:p>
          <a:p>
            <a:pPr algn="l">
              <a:lnSpc>
                <a:spcPts val="42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257300" y="547688"/>
            <a:ext cx="15773400" cy="1376362"/>
            <a:chOff x="0" y="0"/>
            <a:chExt cx="21031200" cy="1835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76"/>
                </a:lnSpc>
              </a:pPr>
              <a:r>
                <a:rPr lang="en-US" sz="395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PAPER 2: Adaptive context-aware access control for IoT environments leveraging fog computing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08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68456" y="2342393"/>
            <a:ext cx="10139102" cy="6281998"/>
            <a:chOff x="0" y="0"/>
            <a:chExt cx="13518803" cy="83759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518803" cy="8375997"/>
            </a:xfrm>
            <a:custGeom>
              <a:avLst/>
              <a:gdLst/>
              <a:ahLst/>
              <a:cxnLst/>
              <a:rect r="r" b="b" t="t" l="l"/>
              <a:pathLst>
                <a:path h="8375997" w="13518803">
                  <a:moveTo>
                    <a:pt x="0" y="0"/>
                  </a:moveTo>
                  <a:lnTo>
                    <a:pt x="13518803" y="0"/>
                  </a:lnTo>
                  <a:lnTo>
                    <a:pt x="13518803" y="8375997"/>
                  </a:lnTo>
                  <a:lnTo>
                    <a:pt x="0" y="83759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520" t="0" r="-12270" b="15848"/>
              </a:stretch>
            </a:blipFill>
            <a:ln w="57150" cap="sq">
              <a:solidFill>
                <a:srgbClr val="0D0D0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3518803" cy="844267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Fog-Based Access Control: 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Proposes FB-ACAAC, a framework that dynamically adjusts IoT access policies based on contextual information.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Low-Latency Decisioning: 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Uses fog nodes alongside cloud to bring policy decisions closer to end nodes, reducing latency.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Context-Aware XACML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Extends XACML into a context-aware scheme, addressing its inability to handle changing environments and behaviors.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Relation to Our Work: 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Applies context-driven adaptation at the access-control layer; our engine applies the same principle upstream, at the consistency-reasoning layer that would feed such access decisions.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3" r="0" b="-32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39235" y="3276600"/>
            <a:ext cx="7371351" cy="357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465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Conference/Journal: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Cybersecurity (Springer Nature)</a:t>
            </a:r>
          </a:p>
          <a:p>
            <a:pPr algn="l" marL="542925" indent="-271462" lvl="1">
              <a:lnSpc>
                <a:spcPts val="465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Authors: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Padmeswari Nandiya, Ahmad Mohsin, Ahmed Ibrahim, Iqbal H. Sarker, Helge Janicke</a:t>
            </a:r>
          </a:p>
          <a:p>
            <a:pPr algn="l" marL="542925" indent="-271462" lvl="1">
              <a:lnSpc>
                <a:spcPts val="465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Year: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2026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0"/>
            <a:ext cx="16305848" cy="1376362"/>
            <a:chOff x="0" y="0"/>
            <a:chExt cx="21741130" cy="1835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4113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741130">
                  <a:moveTo>
                    <a:pt x="0" y="0"/>
                  </a:moveTo>
                  <a:lnTo>
                    <a:pt x="21741130" y="0"/>
                  </a:lnTo>
                  <a:lnTo>
                    <a:pt x="2174113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3265" b="-17330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174113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76"/>
                </a:lnSpc>
              </a:pPr>
              <a:r>
                <a:rPr lang="en-US" sz="395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PAPER 3: BRIDG-ICS: AI-Grounded Knowledge Graphs for Intelligent Threat Analytics in Industry 5.0 CPS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09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395275" y="1316701"/>
            <a:ext cx="10701338" cy="7653598"/>
            <a:chOff x="0" y="0"/>
            <a:chExt cx="14268450" cy="102047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8450" cy="10204797"/>
            </a:xfrm>
            <a:custGeom>
              <a:avLst/>
              <a:gdLst/>
              <a:ahLst/>
              <a:cxnLst/>
              <a:rect r="r" b="b" t="t" l="l"/>
              <a:pathLst>
                <a:path h="10204797" w="14268450">
                  <a:moveTo>
                    <a:pt x="0" y="0"/>
                  </a:moveTo>
                  <a:lnTo>
                    <a:pt x="14268450" y="0"/>
                  </a:lnTo>
                  <a:lnTo>
                    <a:pt x="14268450" y="10204797"/>
                  </a:lnTo>
                  <a:lnTo>
                    <a:pt x="0" y="10204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390" t="0" r="-6371" b="30929"/>
              </a:stretch>
            </a:blipFill>
            <a:ln w="57150" cap="sq">
              <a:solidFill>
                <a:srgbClr val="0D0D0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4268450" cy="1027147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AI-Ground</a:t>
              </a: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 Knowledge Graphs: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Integrates CVE, CWE, CAPEC, and MITRE ATT&amp;CK into a unified Industrial Security Knowledge Graph.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Intelligent Threat Analytics: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Uses SecureBERT, CySecBERT, and graph learning for threat enrichment and multi-stage attack reasoning.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Attack Path Analysis: 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Simulates attack propagation, reconstructs attack paths, and evaluates cyber resilience across IT–OT systems.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Relation to Our Wor</a:t>
              </a: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While BRIDG-ICS provides AI-enriched Knowledge Graphs for Industrial CPS threat reasoning, CORTEX advances this with dynamic behavioral graph intelligence, confidence-aware evidence fusion, adaptive graph evolution, and explainable multi-stage attack reconstruction, enabling real-time, self-adaptive, and more accurate Industrial IIoT threat detection.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3" r="0" b="-32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9993" y="3440906"/>
            <a:ext cx="7179963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Conference/Journal: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IEEE Access</a:t>
            </a:r>
          </a:p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Authors: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Yasser Hmimou, Mohamed Tabaa, Azeddine Khiat, Zineb Hidila</a:t>
            </a:r>
          </a:p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2025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0"/>
            <a:ext cx="15773400" cy="1376362"/>
            <a:chOff x="0" y="0"/>
            <a:chExt cx="21031200" cy="1835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76"/>
                </a:lnSpc>
              </a:pPr>
              <a:r>
                <a:rPr lang="en-US" sz="395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PAPER 4: A Multi-Agent System for Cybersecurity Threat Detection and Correlation Using Large Language Models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10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62635" y="1985832"/>
            <a:ext cx="11533977" cy="6281998"/>
            <a:chOff x="0" y="0"/>
            <a:chExt cx="15378636" cy="83759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378636" cy="8375997"/>
            </a:xfrm>
            <a:custGeom>
              <a:avLst/>
              <a:gdLst/>
              <a:ahLst/>
              <a:cxnLst/>
              <a:rect r="r" b="b" t="t" l="l"/>
              <a:pathLst>
                <a:path h="8375997" w="15378636">
                  <a:moveTo>
                    <a:pt x="0" y="0"/>
                  </a:moveTo>
                  <a:lnTo>
                    <a:pt x="15378636" y="0"/>
                  </a:lnTo>
                  <a:lnTo>
                    <a:pt x="15378636" y="8375997"/>
                  </a:lnTo>
                  <a:lnTo>
                    <a:pt x="0" y="83759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918" t="0" r="1307" b="15848"/>
              </a:stretch>
            </a:blipFill>
            <a:ln w="57150" cap="sq">
              <a:solidFill>
                <a:srgbClr val="0D0D0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5378636" cy="844267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LLM-based Multi-Agent Detection: Uses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specialized AI agents for email, log, and IP threat analysis, enabling intelligent and explainable cybersecurity workflows. 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Cross-Domain Threat Correlation: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Correlates outputs from multiple agents to identify multi-stage, multi-vector cyber attacks with reduced false positives.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Explainabl</a:t>
              </a: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 AI Security: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Integrates RAG, Chain-of-Thought prompting, and contextual recommendations to generate interpretable security decisions for analysts.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Relation to Our Work:  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hances multi-agent LLM reasoning with persistent behavioral context and graph-based threat memory, enabling continuous Industrial IIoT attack investigation beyond isolated agent decisions.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5" y="0"/>
            <a:ext cx="18288000" cy="10253662"/>
            <a:chOff x="0" y="0"/>
            <a:chExt cx="24384000" cy="13671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3" r="0" b="-32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96938" y="3440906"/>
            <a:ext cx="7586662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Conference/Journal: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IEEE International Conference on Intelligence and Security Informatics (ISI)</a:t>
            </a:r>
          </a:p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Authors: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Mohammad M. Islam, Lavanya Elluri, Karuna Pande Joshi</a:t>
            </a:r>
          </a:p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2025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2525" y="0"/>
            <a:ext cx="16002000" cy="1376362"/>
            <a:chOff x="0" y="0"/>
            <a:chExt cx="21336000" cy="1835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1428" b="-17330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13360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76"/>
                </a:lnSpc>
              </a:pPr>
              <a:r>
                <a:rPr lang="en-US" sz="395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PAPER 5:  Integrating Knowledge Graphs with Retrieval-Augmented Generation to Automate IoT Device Security Compliance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083601" y="2002501"/>
            <a:ext cx="10062395" cy="6739198"/>
            <a:chOff x="0" y="0"/>
            <a:chExt cx="13416527" cy="89855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16527" cy="8985597"/>
            </a:xfrm>
            <a:custGeom>
              <a:avLst/>
              <a:gdLst/>
              <a:ahLst/>
              <a:cxnLst/>
              <a:rect r="r" b="b" t="t" l="l"/>
              <a:pathLst>
                <a:path h="8985597" w="13416527">
                  <a:moveTo>
                    <a:pt x="0" y="0"/>
                  </a:moveTo>
                  <a:lnTo>
                    <a:pt x="13416527" y="0"/>
                  </a:lnTo>
                  <a:lnTo>
                    <a:pt x="13416527" y="8985597"/>
                  </a:lnTo>
                  <a:lnTo>
                    <a:pt x="0" y="89855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685" t="0" r="-13125" b="21557"/>
              </a:stretch>
            </a:blipFill>
            <a:ln w="57150" cap="sq">
              <a:solidFill>
                <a:srgbClr val="0D0D0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3416527" cy="905227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Knowledg</a:t>
              </a: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 Graph-driven Compliance: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Represents NISTIR 8259A as a semantic knowledge graph for automated IoT security compliance reasoning. 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</a:t>
              </a: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owledge Graph + RAG: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Integrates Neo4j, Cypher queries, vector retrieval, and LLMs to improve contextual retrieval and compliance validation.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Semantic Security Intelligence: 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Uses structured graph relationships to enhance query precision, contextual understanding, and explainable IoT security decisions.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Relation to Our Work: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While this work automates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IoT security compliance using Knowledge Graphs and RAG, CORTEX focuses on real-time cyber threat analysis, enabling behavioral attack investigation and proactive Industrial IIoT defense.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03178" y="349662"/>
            <a:ext cx="14281644" cy="9521096"/>
          </a:xfrm>
          <a:custGeom>
            <a:avLst/>
            <a:gdLst/>
            <a:ahLst/>
            <a:cxnLst/>
            <a:rect r="r" b="b" t="t" l="l"/>
            <a:pathLst>
              <a:path h="9521096" w="14281644">
                <a:moveTo>
                  <a:pt x="0" y="0"/>
                </a:moveTo>
                <a:lnTo>
                  <a:pt x="14281644" y="0"/>
                </a:lnTo>
                <a:lnTo>
                  <a:pt x="14281644" y="9521095"/>
                </a:lnTo>
                <a:lnTo>
                  <a:pt x="0" y="9521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94368" y="9442132"/>
            <a:ext cx="1364932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6834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887334" y="724538"/>
            <a:ext cx="13007033" cy="8154030"/>
          </a:xfrm>
          <a:custGeom>
            <a:avLst/>
            <a:gdLst/>
            <a:ahLst/>
            <a:cxnLst/>
            <a:rect r="r" b="b" t="t" l="l"/>
            <a:pathLst>
              <a:path h="8154030" w="13007033">
                <a:moveTo>
                  <a:pt x="0" y="0"/>
                </a:moveTo>
                <a:lnTo>
                  <a:pt x="13007034" y="0"/>
                </a:lnTo>
                <a:lnTo>
                  <a:pt x="13007034" y="8154030"/>
                </a:lnTo>
                <a:lnTo>
                  <a:pt x="0" y="81540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894368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3335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457007" y="193893"/>
            <a:ext cx="13117321" cy="8648596"/>
          </a:xfrm>
          <a:custGeom>
            <a:avLst/>
            <a:gdLst/>
            <a:ahLst/>
            <a:cxnLst/>
            <a:rect r="r" b="b" t="t" l="l"/>
            <a:pathLst>
              <a:path h="8648596" w="13117321">
                <a:moveTo>
                  <a:pt x="0" y="0"/>
                </a:moveTo>
                <a:lnTo>
                  <a:pt x="13117320" y="0"/>
                </a:lnTo>
                <a:lnTo>
                  <a:pt x="13117320" y="8648596"/>
                </a:lnTo>
                <a:lnTo>
                  <a:pt x="0" y="8648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14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97952" y="-320069"/>
            <a:ext cx="6892096" cy="1348769"/>
            <a:chOff x="0" y="0"/>
            <a:chExt cx="9377465" cy="1835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7465" cy="1835150"/>
            </a:xfrm>
            <a:custGeom>
              <a:avLst/>
              <a:gdLst/>
              <a:ahLst/>
              <a:cxnLst/>
              <a:rect r="r" b="b" t="t" l="l"/>
              <a:pathLst>
                <a:path h="1835150" w="9377465">
                  <a:moveTo>
                    <a:pt x="0" y="0"/>
                  </a:moveTo>
                  <a:lnTo>
                    <a:pt x="9377465" y="0"/>
                  </a:lnTo>
                  <a:lnTo>
                    <a:pt x="9377465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-124273" b="-17330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9377465" cy="1825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48"/>
                </a:lnSpc>
              </a:pPr>
              <a:r>
                <a:rPr lang="en-US" sz="31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ARCHITECTURE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9953" y="951015"/>
            <a:ext cx="15409307" cy="8484750"/>
          </a:xfrm>
          <a:custGeom>
            <a:avLst/>
            <a:gdLst/>
            <a:ahLst/>
            <a:cxnLst/>
            <a:rect r="r" b="b" t="t" l="l"/>
            <a:pathLst>
              <a:path h="8484750" w="15409307">
                <a:moveTo>
                  <a:pt x="0" y="0"/>
                </a:moveTo>
                <a:lnTo>
                  <a:pt x="15409307" y="0"/>
                </a:lnTo>
                <a:lnTo>
                  <a:pt x="15409307" y="8484750"/>
                </a:lnTo>
                <a:lnTo>
                  <a:pt x="0" y="8484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6669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16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-123825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020"/>
                </a:lnSpc>
              </a:pPr>
              <a:r>
                <a:rPr lang="en-US" sz="6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OVERALL NOVELTY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92079" y="1090613"/>
            <a:ext cx="14981245" cy="7456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9" indent="-334645" lvl="1">
              <a:lnSpc>
                <a:spcPts val="4928"/>
              </a:lnSpc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Dynamic Context Consistency Reasoning (DCCR)</a:t>
            </a: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– Introduces a novel context reasoning framework that continuously generates Dynamic Context Profiles, models operational states, and evaluates context consistency with confidence-aware contextual intelligence.</a:t>
            </a:r>
          </a:p>
          <a:p>
            <a:pPr algn="l" marL="669289" indent="-334645" lvl="1">
              <a:lnSpc>
                <a:spcPts val="4928"/>
              </a:lnSpc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Adapt</a:t>
            </a:r>
            <a:r>
              <a:rPr lang="en-US" b="true" sz="30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ive Graph-Based Attack Reconstruction </a:t>
            </a: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– Dynamically reconstructs multi-stage attack pa</a:t>
            </a: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ths</a:t>
            </a: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using temporal relationships, provenance graphs, and graph intelligence to reveal attack progression.</a:t>
            </a:r>
          </a:p>
          <a:p>
            <a:pPr algn="l" marL="669289" indent="-334645" lvl="1">
              <a:lnSpc>
                <a:spcPts val="4928"/>
              </a:lnSpc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 &amp; Graph-Aware Multi-Agent Intelligence</a:t>
            </a: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– Employs specialized CrewAI agents to collaboratively fuse contextual and graph intelligence, enabling explainable threat investigation and autonomous cyber decision support.</a:t>
            </a:r>
          </a:p>
          <a:p>
            <a:pPr algn="l" marL="669289" indent="-334645" lvl="1">
              <a:lnSpc>
                <a:spcPts val="4928"/>
              </a:lnSpc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Adaptive Confidence-Driven Threat Assessment</a:t>
            </a: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– Produces trustworthy threat prioritization by confidence-aware fusion of cont</a:t>
            </a: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ext</a:t>
            </a: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ual reasoning and graph intelligence for explainable Industrial IoT cyber threat assessment.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2" r="0" b="-16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894368" y="9825038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17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6669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18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65860" y="340519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020"/>
                </a:lnSpc>
              </a:pPr>
              <a:r>
                <a:rPr lang="en-US" sz="6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Progress So Far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78055" y="2538873"/>
            <a:ext cx="14981245" cy="498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9" indent="-334645" lvl="1">
              <a:lnSpc>
                <a:spcPts val="4928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Studied existing IIoT cybersecurity research . </a:t>
            </a:r>
          </a:p>
          <a:p>
            <a:pPr algn="l" marL="669289" indent="-334645" lvl="1">
              <a:lnSpc>
                <a:spcPts val="4928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Reviewed rec</a:t>
            </a: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ent research papers and analyzed existing approaches.</a:t>
            </a:r>
          </a:p>
          <a:p>
            <a:pPr algn="l" marL="669289" indent="-334645" lvl="1">
              <a:lnSpc>
                <a:spcPts val="4928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Coll</a:t>
            </a: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ec</a:t>
            </a: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ed, cleaned, normalized, and prepared the TON-IoT dataset.</a:t>
            </a:r>
          </a:p>
          <a:p>
            <a:pPr algn="l" marL="669289" indent="-334645" lvl="1">
              <a:lnSpc>
                <a:spcPts val="4928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</a:t>
            </a: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entified, classified organized contextual Engine and Graph Engine  features.</a:t>
            </a:r>
          </a:p>
          <a:p>
            <a:pPr algn="l" marL="669289" indent="-334645" lvl="1">
              <a:lnSpc>
                <a:spcPts val="4928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Designed contextual  reasoning , Graph intelligence</a:t>
            </a: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workflow and generation framework.</a:t>
            </a:r>
          </a:p>
          <a:p>
            <a:pPr algn="l" marL="669289" indent="-334645" lvl="1">
              <a:lnSpc>
                <a:spcPts val="4928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</a:t>
            </a: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signed Temporal graph and Network graph structure.</a:t>
            </a:r>
          </a:p>
          <a:p>
            <a:pPr algn="l" marL="669289" indent="-334645" lvl="1">
              <a:lnSpc>
                <a:spcPts val="4928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</a:t>
            </a: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nalized overall CORTEX framework and module interactions.</a:t>
            </a:r>
          </a:p>
          <a:p>
            <a:pPr algn="l" marL="669289" indent="-334645" lvl="1">
              <a:lnSpc>
                <a:spcPts val="4928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Implementation of core modules in progress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197573" y="1273810"/>
          <a:ext cx="11659332" cy="7706043"/>
        </p:xfrm>
        <a:graphic>
          <a:graphicData uri="http://schemas.openxmlformats.org/drawingml/2006/table">
            <a:tbl>
              <a:tblPr/>
              <a:tblGrid>
                <a:gridCol w="5829666"/>
                <a:gridCol w="5829666"/>
              </a:tblGrid>
              <a:tr h="43758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UDAY</a:t>
                      </a:r>
                      <a:endParaRPr lang="en-US" sz="1100"/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IIoT Dataset Collection &amp; Preprocessing</a:t>
                      </a:r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Contextual IntelligenceEngine  Development</a:t>
                      </a:r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Multi-Agent AI Integration</a:t>
                      </a:r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Dashboard Development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AKSHARA</a:t>
                      </a:r>
                      <a:endParaRPr lang="en-US" sz="1100"/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Contextual IntelligenceEngine Development</a:t>
                      </a:r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 Acquisition &amp; </a:t>
                      </a: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Operational Context Modeling</a:t>
                      </a:r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 Confidence Estimation &amp; Validation</a:t>
                      </a:r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Dynamic Contextual Reasoning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02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5"/>
                        </a:lnSpc>
                        <a:defRPr/>
                      </a:pPr>
                      <a:r>
                        <a:rPr lang="en-US" sz="2203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                        LOKPRADEEP</a:t>
                      </a:r>
                      <a:endParaRPr lang="en-US" sz="1100"/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Adaptive Graph Intelligence Development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Temporal Knowledge Graph &amp; Neo4j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Attack Reconstruction &amp; Graph Analytics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Dashboard Development</a:t>
                      </a:r>
                    </a:p>
                    <a:p>
                      <a:pPr algn="l">
                        <a:lnSpc>
                          <a:spcPts val="26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CHARAN</a:t>
                      </a:r>
                      <a:endParaRPr lang="en-US" sz="1100"/>
                    </a:p>
                    <a:p>
                      <a:pPr algn="l">
                        <a:lnSpc>
                          <a:spcPts val="2799"/>
                        </a:lnSpc>
                      </a:pP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Network Provenance Graph 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Multi-Agent AI Development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CrewAI &amp; Llama 3 (Ollama) Integration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Confidence Fusion &amp; Threat Intelligence</a:t>
                      </a:r>
                    </a:p>
                    <a:p>
                      <a:pPr algn="l">
                        <a:lnSpc>
                          <a:spcPts val="27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3586196" y="1849198"/>
          <a:ext cx="3976263" cy="5371914"/>
        </p:xfrm>
        <a:graphic>
          <a:graphicData uri="http://schemas.openxmlformats.org/drawingml/2006/table">
            <a:tbl>
              <a:tblPr/>
              <a:tblGrid>
                <a:gridCol w="3976263"/>
              </a:tblGrid>
              <a:tr h="53719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65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Common Contributions</a:t>
                      </a:r>
                      <a:endParaRPr lang="en-US" sz="1100"/>
                    </a:p>
                    <a:p>
                      <a:pPr algn="l" marL="431799" indent="-215899" lvl="1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Literature Survey &amp; Methodology</a:t>
                      </a:r>
                    </a:p>
                    <a:p>
                      <a:pPr algn="l" marL="431799" indent="-215899" lvl="1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 Integration &amp; Testing</a:t>
                      </a:r>
                    </a:p>
                    <a:p>
                      <a:pPr algn="l" marL="431799" indent="-215899" lvl="1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Evaluation</a:t>
                      </a:r>
                    </a:p>
                    <a:p>
                      <a:pPr algn="l" marL="431799" indent="-215899" lvl="1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Experimental Analysis</a:t>
                      </a:r>
                    </a:p>
                    <a:p>
                      <a:pPr algn="ctr">
                        <a:lnSpc>
                          <a:spcPts val="3654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00976" y="228600"/>
            <a:ext cx="6790849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b="true" sz="5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Overall Contributions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25665" y="1285875"/>
            <a:ext cx="15968564" cy="7585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704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Established the complete CORTEX architecture integrating Dynamic Context Consistency Reasoning, Adaptive Graph Intelligence, Context &amp; Graph-Aware Multi-Agent Intelligence, and a Unified Threat Intelligence Dashboard. </a:t>
            </a:r>
          </a:p>
          <a:p>
            <a:pPr algn="l" marL="690881" indent="-345440" lvl="1">
              <a:lnSpc>
                <a:spcPts val="4704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Completed the project's research foundation, including literature review, research gap analysis, threat model, methodology, and architecture design aligned with recent Industrial IoT cybersecurity research.</a:t>
            </a:r>
          </a:p>
          <a:p>
            <a:pPr algn="l" marL="690881" indent="-345440" lvl="1">
              <a:lnSpc>
                <a:spcPts val="4704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Finalized the Industrial IoT data engin</a:t>
            </a: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eering workflow, contextual intelligence design, graph intelligence framework, and confidence-driven reasoning strategy for explainable threat investigation.</a:t>
            </a:r>
          </a:p>
          <a:p>
            <a:pPr algn="l" marL="690881" indent="-345440" lvl="1">
              <a:lnSpc>
                <a:spcPts val="4704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</a:t>
            </a: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project is ready to progress into module implementation, integration, experimental evaluation, and validation toward an explainable, confidence-driven Industrial IoT threat intelligence framework.</a:t>
            </a:r>
          </a:p>
          <a:p>
            <a:pPr algn="l">
              <a:lnSpc>
                <a:spcPts val="2764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257300" y="52387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20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24496" y="1233487"/>
            <a:ext cx="17639008" cy="7437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60"/>
              </a:lnSpc>
            </a:pPr>
            <a:r>
              <a:rPr lang="en-US" sz="34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[1] Nandiya, Padmeswari, Mohsin, Ahmad, Ibrahim, Ahmed, Sarker, Iqbal H., &amp; Janicke, Helge. (2026). BRIDG-ICS: AI-Grounded Knowledge Graphs for Intelligent Threat Analytics in Industry 5.0 Cyber-Physical Systems. Cybersecurity (Springer). https://arxiv.org/abs/2512.12112 </a:t>
            </a:r>
          </a:p>
          <a:p>
            <a:pPr algn="just">
              <a:lnSpc>
                <a:spcPts val="4860"/>
              </a:lnSpc>
            </a:pPr>
            <a:r>
              <a:rPr lang="en-US" sz="34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[2] Empl, Philip &amp; Pernul, Günther. (2023). Digital-Twin-Based Security Analytics for the Internet of Things. Information, 14(2), 95. https://doi.org/10.3390/info14020095 </a:t>
            </a:r>
          </a:p>
          <a:p>
            <a:pPr algn="just">
              <a:lnSpc>
                <a:spcPts val="4860"/>
              </a:lnSpc>
            </a:pPr>
            <a:r>
              <a:rPr lang="en-US" sz="34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[3] Shalaby, Ahmed, et al. (2025). Cybersecurity Threat Detection Based on a UEBA Framework Using Deep Autoencoders. arXiv Preprint. https://arxiv.org/abs/2505.11542</a:t>
            </a:r>
          </a:p>
          <a:p>
            <a:pPr algn="just">
              <a:lnSpc>
                <a:spcPts val="4860"/>
              </a:lnSpc>
            </a:pPr>
            <a:r>
              <a:rPr lang="en-US" sz="34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[4] Daniel, G., et al. (2025). Concept Drift Under Harsh Constraints: A Review of Potential Strategies for IoT Systems. IEEE Access. https://ieeexplore.ieee.org/document/11206138 </a:t>
            </a:r>
          </a:p>
          <a:p>
            <a:pPr algn="just">
              <a:lnSpc>
                <a:spcPts val="4860"/>
              </a:lnSpc>
            </a:pPr>
            <a:r>
              <a:rPr lang="en-US" sz="34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[5] PROV-LLM: Advanced Persistent Threat Detection Based on Process Behavior Subgraphs Using Large Language Models. (2025). Proceedings of IEEE TrustCom 2025. https://doi.org/10.1109/Trustcom66490.2025.00113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57300" y="0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21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45109" y="1273302"/>
            <a:ext cx="17132710" cy="7568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72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[6] Baha, Lina, Mammasse, Amine, &amp; Saci, Oualid. (2025). A Hybrid GNN–LLM Framework for Correlating Cybersecurity Incidents. Proceedings of the 2025 IEEE International Conference on Theoretical and Applicative Aspects of Computer Science (ICTAACS). https://doi.org/10.1109/ICTAACS69003.2025.11399321</a:t>
            </a:r>
          </a:p>
          <a:p>
            <a:pPr algn="just">
              <a:lnSpc>
                <a:spcPts val="5472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[7] Hmimou, Yasser, Tabaa, Mohamed, Khiat, Azeddine, &amp; Hidila, Zineb. (2025). A Multi-Agent System for Cybersecurity Threat Detection and Correlation Using Large Language Models. IEEE Access, 13. https://doi.org/10.1109/ACCESS.2025.3602681</a:t>
            </a:r>
          </a:p>
          <a:p>
            <a:pPr algn="just">
              <a:lnSpc>
                <a:spcPts val="5472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[8] Islam, Mohammad M., Elluri, Lavanya, &amp; Joshi, Karuna Pande. (2025). Integrating Knowledge Graphs with Retrieval-Augmented Generation to Automate IoT Device Security Compliance. Proceedings of the 2025 IEEE International Conference on IntelligenceandSecurityInformatics(ISI). https://doi.org/10.1109/ISI65680.2025.11201135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57300" y="68390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1031200" cy="179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22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10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343013" y="2535860"/>
            <a:ext cx="4979963" cy="4114800"/>
          </a:xfrm>
          <a:custGeom>
            <a:avLst/>
            <a:gdLst/>
            <a:ahLst/>
            <a:cxnLst/>
            <a:rect r="r" b="b" t="t" l="l"/>
            <a:pathLst>
              <a:path h="4114800" w="4979963">
                <a:moveTo>
                  <a:pt x="0" y="0"/>
                </a:moveTo>
                <a:lnTo>
                  <a:pt x="4979963" y="0"/>
                </a:lnTo>
                <a:lnTo>
                  <a:pt x="49799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DAHRBF57vac</dc:identifier>
  <dcterms:modified xsi:type="dcterms:W3CDTF">2011-08-01T06:04:30Z</dcterms:modified>
  <cp:revision>1</cp:revision>
  <dc:title>Overview_Till_Now</dc:title>
</cp:coreProperties>
</file>