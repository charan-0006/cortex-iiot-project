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imes New Roman" charset="1" panose="02020603050405020304"/>
      <p:regular r:id="rId29"/>
    </p:embeddedFon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  <p:embeddedFont>
      <p:font typeface="TT Rounds Condensed" charset="1" panose="02000506030000020003"/>
      <p:regular r:id="rId32"/>
    </p:embeddedFont>
    <p:embeddedFont>
      <p:font typeface="Times New Roman Bold" charset="1" panose="020208030705050203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-14288"/>
            <a:ext cx="18345150" cy="10315575"/>
            <a:chOff x="0" y="0"/>
            <a:chExt cx="24460200" cy="13754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54100"/>
            </a:xfrm>
            <a:custGeom>
              <a:avLst/>
              <a:gdLst/>
              <a:ahLst/>
              <a:cxnLst/>
              <a:rect r="r" b="b" t="t" l="l"/>
              <a:pathLst>
                <a:path h="137541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54100"/>
                  </a:lnTo>
                  <a:lnTo>
                    <a:pt x="0" y="137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6795" y="4511040"/>
            <a:ext cx="120176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CORTEX:A Context &amp; Graph-Aware Multi-Agent Framework for Explainable Industrial IoT Threat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4750" y="7169338"/>
            <a:ext cx="78534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Lokpradeep B - AM.SC.U4CYS23018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Uday  Ganesh B - AM.SC.U4CYS23019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charan N - AM.SC.U4CYS23029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Kruti P -  AM.SC.U4CYS23035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7058" y="8526651"/>
            <a:ext cx="887825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Kurunandan Jain,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24243" y="1503045"/>
            <a:ext cx="5506403" cy="684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Overview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Introduction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Motivation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Problem Statement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Literature Review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6. Gap Analysis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7.Threat model</a:t>
            </a:r>
          </a:p>
          <a:p>
            <a:pPr algn="l">
              <a:lnSpc>
                <a:spcPts val="671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216694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9320" y="1503045"/>
            <a:ext cx="6736080" cy="514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Methodology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9. Proposed Architecture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10. Novelty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11. Road Map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12. Conclusion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13. 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444496"/>
            <a:ext cx="16802100" cy="488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456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Contextual Intelligence Engine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Performs semantic analysis, adaptive UEBA, behavioral drift detection, and contextual risk as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sessment.</a:t>
            </a:r>
          </a:p>
          <a:p>
            <a:pPr algn="l">
              <a:lnSpc>
                <a:spcPts val="3456"/>
              </a:lnSpc>
            </a:pPr>
          </a:p>
          <a:p>
            <a:pPr algn="l" marL="579120" indent="-289560" lvl="1">
              <a:lnSpc>
                <a:spcPts val="3456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Adaptive Graph Intelligence Engine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Constructs temporal and provenance graphs for attack reconstruction and attack path prioritization.</a:t>
            </a:r>
          </a:p>
          <a:p>
            <a:pPr algn="l">
              <a:lnSpc>
                <a:spcPts val="3456"/>
              </a:lnSpc>
            </a:pPr>
          </a:p>
          <a:p>
            <a:pPr algn="l" marL="579120" indent="-289560" lvl="1">
              <a:lnSpc>
                <a:spcPts val="3456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 &amp; Graph-Aware Multi-Agent Intelligence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Uses CrewAI agents to correlate contextual and graph intelligence, perform confidence fusion, and generate explainable threat decisions.</a:t>
            </a:r>
          </a:p>
          <a:p>
            <a:pPr algn="l">
              <a:lnSpc>
                <a:spcPts val="3456"/>
              </a:lnSpc>
            </a:pPr>
          </a:p>
          <a:p>
            <a:pPr algn="l" marL="579120" indent="-289560" lvl="1">
              <a:lnSpc>
                <a:spcPts val="3456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Threat Intelligence Dashboard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Visualizes threat scores, attack timelines, attack graphs, root cause analysis, recommendations, and analyst reports.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20383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OVERVIEW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3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92079" y="1203198"/>
            <a:ext cx="15638621" cy="769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Mission-Critical Industrial IoT: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Manufacturing, energy, water treatment, and critical infrastructure increasingly rely on interconnected Industrial IoT systems.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Evolving Cyber Threats: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Advanced Persistent Threats (APTs), ransomware, insider threats, and multi-stage attacks explo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co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mplex Industrial IoT environments.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in Current Defenses: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Existing security solutions often analyze events independently, resulting in fragmented attack visibility, inaccurate attack reconstruction, and high false alerts.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 for Intelligent Threat: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Understanding Security analysts require accurate attack reconstruction, reliable threat confidence, and explainable decision support for timely incident response.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rch Focus: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CORTEX proposes a behavioral and graph-based framework to enhance Industrial IoT threat analysis using publicly available cybersecurity datasets.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OTIVATION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4633" y="1915763"/>
            <a:ext cx="14578733" cy="619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Complex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cyberattacks in Industrial IoT environments ar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difficult to detect, correlate, and reconstruct accurately.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Fragmented Security Analytics: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Existing behavioral, graph-based, and intrusion detection solutions provide isolated insights rather than unified threat understanding.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Unreliable Security Decisions: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false alerts and incomplete attack visibility increase investigation time and reduce analyst confidence.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Need for 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Threat Intelligence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Mission-critical Industrial IoT environments require explainable, confidence-driven threat analysis and decision support.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101" y="1863566"/>
            <a:ext cx="15826499" cy="715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iguous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Industrial IoT attacks propagate across devices and protocols, making the complete attack progression difficult to reconstruct accurately.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Insufficient Operational Context: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Security events often lack sufficient operational and asset context, reducing the reliability of threat interpretation in mission-critical environments.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Threat Prioritization: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struggle to distinguish critical attacks from low-impact events due to the absence of reliable confidence estimation during investigation.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Delayed Incident Investigation: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attack reconstruction and fragmented evidence increase manual investigation time, delaying response in Industrial IoT environments.</a:t>
            </a:r>
          </a:p>
          <a:p>
            <a:pPr algn="l">
              <a:lnSpc>
                <a:spcPts val="515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</a:t>
              </a: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TATEMENT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3750469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REVIEW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165497"/>
            <a:ext cx="15773400" cy="1376362"/>
            <a:chOff x="0" y="0"/>
            <a:chExt cx="21031200" cy="1835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1: Digital-Twin-Based Security Analytics for the Internet of Things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97668" y="1874196"/>
            <a:ext cx="9891712" cy="6505271"/>
            <a:chOff x="0" y="0"/>
            <a:chExt cx="13188950" cy="8673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88950" cy="8673695"/>
            </a:xfrm>
            <a:custGeom>
              <a:avLst/>
              <a:gdLst/>
              <a:ahLst/>
              <a:cxnLst/>
              <a:rect r="r" b="b" t="t" l="l"/>
              <a:pathLst>
                <a:path h="8673695" w="13188950">
                  <a:moveTo>
                    <a:pt x="0" y="0"/>
                  </a:moveTo>
                  <a:lnTo>
                    <a:pt x="13188950" y="0"/>
                  </a:lnTo>
                  <a:lnTo>
                    <a:pt x="13188950" y="8673695"/>
                  </a:lnTo>
                  <a:lnTo>
                    <a:pt x="0" y="8673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059" t="0" r="-15077" b="18737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188950" cy="8740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Twin Secu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rity Analytics: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digital twins with security analytics to generate cybersecurity knowledge from heterogeneous IoT data. 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 Context Modeling: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Enriches raw telemetry with asset semantics, lifecycle information, historical behavior, and operational context for better threat understanding.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Cybersecurity Knowledge Sharing: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Uses digital twins as a knowledge hub to securely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share threat intelligence among Industrial IoT lifecycle participants.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elation to Our Work: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Extends Digital Twin–based security analytics by incorporating behavior-driven threat investigation, enabling richer attack context and proactive analysis of Industrial IIoT security events.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3541" y="3323555"/>
            <a:ext cx="7754127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Information (MDPI, Q2)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Philip Empl; Günther Pernul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2023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Factor: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3.1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H5 Index: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72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99077" y="3633141"/>
            <a:ext cx="7586662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Access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Ask Espensønn Øren; Nina Kuna Peuker; Akira-Miranda Adeyomi Adeniran-Lowe; Sarah Ruepp; Martin Nordal Petersen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Factor: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3.9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H5 Index: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118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7300" y="547688"/>
            <a:ext cx="15773400" cy="1376362"/>
            <a:chOff x="0" y="0"/>
            <a:chExt cx="210312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2: Concept Drift Under Harsh Constraints: A Review of Potential Strategies for IoT Systems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85740" y="3130567"/>
            <a:ext cx="10139102" cy="4910398"/>
            <a:chOff x="0" y="0"/>
            <a:chExt cx="13518803" cy="6547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18803" cy="6547197"/>
            </a:xfrm>
            <a:custGeom>
              <a:avLst/>
              <a:gdLst/>
              <a:ahLst/>
              <a:cxnLst/>
              <a:rect r="r" b="b" t="t" l="l"/>
              <a:pathLst>
                <a:path h="6547197" w="13518803">
                  <a:moveTo>
                    <a:pt x="0" y="0"/>
                  </a:moveTo>
                  <a:lnTo>
                    <a:pt x="13518803" y="0"/>
                  </a:lnTo>
                  <a:lnTo>
                    <a:pt x="13518803" y="6547197"/>
                  </a:lnTo>
                  <a:lnTo>
                    <a:pt x="0" y="65471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520" t="0" r="-12270" b="-7656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518803" cy="66138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 Drift Detection: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etects changes in IoT data patterns caused by evolving system behavior.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Adaptation: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Enables automatic model updates without continuous human intervention.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urce-Efficient Learning: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Supports lightweight drift handling for resource-constrained IoT devices.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 to Our Work: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Applies autonomous drift adaptation concepts to Industrial IIoT threat monitoring, enabling security models to continuously adapt to evolving attack behaviors rather than only changing data distributions.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9235" y="3276600"/>
            <a:ext cx="7371351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Cybersecurity (Springer Nature)</a:t>
            </a:r>
          </a:p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Padmeswari Nandiya, Ahmad Mohsin, Ahmed Ibrahim, Iqbal H. Sarker, Helge Janicke</a:t>
            </a:r>
          </a:p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0"/>
            <a:ext cx="16305848" cy="1376362"/>
            <a:chOff x="0" y="0"/>
            <a:chExt cx="2174113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4113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741130">
                  <a:moveTo>
                    <a:pt x="0" y="0"/>
                  </a:moveTo>
                  <a:lnTo>
                    <a:pt x="21741130" y="0"/>
                  </a:lnTo>
                  <a:lnTo>
                    <a:pt x="2174113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3265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74113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3: BRIDG-ICS: AI-Grounded Knowledge Graphs for Intelligent Threat Analytics in Industry 5.0 CPS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95275" y="1316701"/>
            <a:ext cx="10701338" cy="7653598"/>
            <a:chOff x="0" y="0"/>
            <a:chExt cx="14268450" cy="10204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8450" cy="10204797"/>
            </a:xfrm>
            <a:custGeom>
              <a:avLst/>
              <a:gdLst/>
              <a:ahLst/>
              <a:cxnLst/>
              <a:rect r="r" b="b" t="t" l="l"/>
              <a:pathLst>
                <a:path h="10204797" w="14268450">
                  <a:moveTo>
                    <a:pt x="0" y="0"/>
                  </a:moveTo>
                  <a:lnTo>
                    <a:pt x="14268450" y="0"/>
                  </a:lnTo>
                  <a:lnTo>
                    <a:pt x="14268450" y="10204797"/>
                  </a:lnTo>
                  <a:lnTo>
                    <a:pt x="0" y="10204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90" t="0" r="-6371" b="30929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4268450" cy="102714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AI-Ground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 Knowledge Graphs: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CVE, CWE, CAPEC, and MITRE ATT&amp;CK into a unified Industrial Security Knowledge Graph.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Intelligent Threat Analytics: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Uses SecureBERT, CySecBERT, and graph learning for threat enrichment and multi-stage attack reasoning.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Path Analysis: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Simulates attack propagation, reconstructs attack paths, and evaluates cyber resilience across IT–OT systems.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While BRIDG-ICS provides AI-enriched Knowledge Graphs for Industrial CPS threat reasoning, CORTEX advances this with dynamic behavioral graph intelligence, confidence-aware evidence fusion, adaptive graph evolution, and explainable multi-stage attack reconstruction, enabling real-time, self-adaptive, and more accurate Industrial IIoT threat detection.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9993" y="3440906"/>
            <a:ext cx="7179963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IEEE Access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Authors: Yasser Hmimou, Mohamed Tabaa, Azeddine Khiat, Zineb Hidila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Factor: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3.9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H5 Index: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118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0"/>
            <a:ext cx="15773400" cy="1376362"/>
            <a:chOff x="0" y="0"/>
            <a:chExt cx="210312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4: A Multi-Agent System for Cybersecurity Threat Detection and Correlation Using Large Language Models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62635" y="1985832"/>
            <a:ext cx="11533977" cy="6281998"/>
            <a:chOff x="0" y="0"/>
            <a:chExt cx="15378636" cy="8375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78636" cy="8375997"/>
            </a:xfrm>
            <a:custGeom>
              <a:avLst/>
              <a:gdLst/>
              <a:ahLst/>
              <a:cxnLst/>
              <a:rect r="r" b="b" t="t" l="l"/>
              <a:pathLst>
                <a:path h="8375997" w="15378636">
                  <a:moveTo>
                    <a:pt x="0" y="0"/>
                  </a:moveTo>
                  <a:lnTo>
                    <a:pt x="15378636" y="0"/>
                  </a:lnTo>
                  <a:lnTo>
                    <a:pt x="15378636" y="8375997"/>
                  </a:lnTo>
                  <a:lnTo>
                    <a:pt x="0" y="83759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918" t="0" r="1307" b="15848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5378636" cy="84426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LLM-based Multi-Agent Detection: Uses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specialized AI agents for email, log, and IP threat analysis, enabling intelligent and explainable cybersecurity workflows. 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Cross-Domain Threat Correlation: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Correlates outputs from multiple agents to identify multi-stage, multi-vector cyber attacks with reduced false positives.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AI Security: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RAG, Chain-of-Thought prompting, and contextual recommendations to generate interpretable security decisions for analysts.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Work: 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hances multi-agent LLM reasoning with persistent behavioral context and graph-based threat memory, enabling continuous Industrial IIoT attack investigation beyond isolated agent decisions.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6938" y="3440906"/>
            <a:ext cx="7586662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International Conference on Intelligence and Security Informatics (ISI)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Mohammad M. Islam, Lavanya Elluri, Karuna Pande Joshi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2525" y="0"/>
            <a:ext cx="16002000" cy="1376362"/>
            <a:chOff x="0" y="0"/>
            <a:chExt cx="213360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1428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3360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5:  Integrating Knowledge Graphs with Retrieval-Augmented Generation to Automate IoT Device Security Compliance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83601" y="2002501"/>
            <a:ext cx="10062395" cy="6739198"/>
            <a:chOff x="0" y="0"/>
            <a:chExt cx="13416527" cy="89855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6527" cy="8985597"/>
            </a:xfrm>
            <a:custGeom>
              <a:avLst/>
              <a:gdLst/>
              <a:ahLst/>
              <a:cxnLst/>
              <a:rect r="r" b="b" t="t" l="l"/>
              <a:pathLst>
                <a:path h="8985597" w="13416527">
                  <a:moveTo>
                    <a:pt x="0" y="0"/>
                  </a:moveTo>
                  <a:lnTo>
                    <a:pt x="13416527" y="0"/>
                  </a:lnTo>
                  <a:lnTo>
                    <a:pt x="13416527" y="8985597"/>
                  </a:lnTo>
                  <a:lnTo>
                    <a:pt x="0" y="89855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685" t="0" r="-13125" b="21557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416527" cy="90522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Graph-driven Compliance: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Represents NISTIR 8259A as a semantic knowledge graph for automated IoT security compliance reasoning. 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owledge Graph + RAG: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Neo4j, Cypher queries, vector retrieval, and LLMs to improve contextual retrieval and compliance validation.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 Security Intelligence: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structured graph relationships to enhance query precision, contextual understanding, and explainable IoT security decisions.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While this work automates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IoT security compliance using Knowledge Graphs and RAG, CORTEX focuses on real-time cyber threat analysis, enabling behavioral attack investigation and proactive Industrial IIoT defense.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4368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6834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9531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894368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-17145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THREAT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7300" y="952500"/>
            <a:ext cx="6635187" cy="4180272"/>
            <a:chOff x="0" y="0"/>
            <a:chExt cx="8846916" cy="557369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48770" cy="5195947"/>
              <a:chOff x="0" y="0"/>
              <a:chExt cx="8090598" cy="49174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090648" cy="4917495"/>
              </a:xfrm>
              <a:custGeom>
                <a:avLst/>
                <a:gdLst/>
                <a:ahLst/>
                <a:cxnLst/>
                <a:rect r="r" b="b" t="t" l="l"/>
                <a:pathLst>
                  <a:path h="4917495" w="8090648">
                    <a:moveTo>
                      <a:pt x="0" y="344266"/>
                    </a:moveTo>
                    <a:cubicBezTo>
                      <a:pt x="0" y="154107"/>
                      <a:pt x="62488" y="0"/>
                      <a:pt x="139594" y="0"/>
                    </a:cubicBezTo>
                    <a:lnTo>
                      <a:pt x="7951042" y="0"/>
                    </a:lnTo>
                    <a:cubicBezTo>
                      <a:pt x="8028149" y="0"/>
                      <a:pt x="8090648" y="154107"/>
                      <a:pt x="8090648" y="344266"/>
                    </a:cubicBezTo>
                    <a:lnTo>
                      <a:pt x="8090648" y="4573251"/>
                    </a:lnTo>
                    <a:cubicBezTo>
                      <a:pt x="8090648" y="4763410"/>
                      <a:pt x="8028149" y="4917495"/>
                      <a:pt x="7951042" y="4917495"/>
                    </a:cubicBezTo>
                    <a:lnTo>
                      <a:pt x="139594" y="4917495"/>
                    </a:lnTo>
                    <a:cubicBezTo>
                      <a:pt x="62488" y="4917495"/>
                      <a:pt x="0" y="4763410"/>
                      <a:pt x="0" y="4573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C0C1D7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678667" y="144445"/>
              <a:ext cx="8168249" cy="542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4"/>
                </a:lnSpc>
              </a:pPr>
              <a:r>
                <a:rPr lang="en-US" sz="294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Protected Environment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anufacturing Plants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Factories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</a:t>
              </a: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 &amp; Energy Systems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Treatment Plants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Oil &amp; Gas Facilities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Control Systems (ICS)</a:t>
              </a:r>
            </a:p>
            <a:p>
              <a:pPr algn="l" marL="635896" indent="-317948" lvl="1">
                <a:lnSpc>
                  <a:spcPts val="3534"/>
                </a:lnSpc>
                <a:buFont typeface="Arial"/>
                <a:buChar char="•"/>
              </a:pPr>
              <a:r>
                <a:rPr lang="en-US" sz="294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IoT Networks</a:t>
              </a:r>
            </a:p>
            <a:p>
              <a:pPr algn="l">
                <a:lnSpc>
                  <a:spcPts val="353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4925" y="5067300"/>
            <a:ext cx="6410732" cy="3896447"/>
            <a:chOff x="0" y="0"/>
            <a:chExt cx="8090598" cy="4917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90648" cy="4917495"/>
            </a:xfrm>
            <a:custGeom>
              <a:avLst/>
              <a:gdLst/>
              <a:ahLst/>
              <a:cxnLst/>
              <a:rect r="r" b="b" t="t" l="l"/>
              <a:pathLst>
                <a:path h="4917495" w="8090648">
                  <a:moveTo>
                    <a:pt x="0" y="344266"/>
                  </a:moveTo>
                  <a:cubicBezTo>
                    <a:pt x="0" y="154107"/>
                    <a:pt x="62488" y="0"/>
                    <a:pt x="139594" y="0"/>
                  </a:cubicBezTo>
                  <a:lnTo>
                    <a:pt x="7951042" y="0"/>
                  </a:lnTo>
                  <a:cubicBezTo>
                    <a:pt x="8028149" y="0"/>
                    <a:pt x="8090648" y="154107"/>
                    <a:pt x="8090648" y="344266"/>
                  </a:cubicBezTo>
                  <a:lnTo>
                    <a:pt x="8090648" y="4573251"/>
                  </a:lnTo>
                  <a:cubicBezTo>
                    <a:pt x="8090648" y="4763410"/>
                    <a:pt x="8028149" y="4917495"/>
                    <a:pt x="7951042" y="4917495"/>
                  </a:cubicBezTo>
                  <a:lnTo>
                    <a:pt x="139594" y="4917495"/>
                  </a:lnTo>
                  <a:cubicBezTo>
                    <a:pt x="62488" y="4917495"/>
                    <a:pt x="0" y="4763410"/>
                    <a:pt x="0" y="4573251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24233" y="5239758"/>
            <a:ext cx="6125379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944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Attack Objectives</a:t>
            </a:r>
          </a:p>
          <a:p>
            <a:pPr algn="l" marL="635811" indent="-317906" lvl="1">
              <a:lnSpc>
                <a:spcPts val="3533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</a:t>
            </a: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mpromise Industrial IoT Devices</a:t>
            </a:r>
          </a:p>
          <a:p>
            <a:pPr algn="l" marL="635811" indent="-317906" lvl="1">
              <a:lnSpc>
                <a:spcPts val="3533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Disrupt Industrial Operations</a:t>
            </a:r>
          </a:p>
          <a:p>
            <a:pPr algn="l" marL="635811" indent="-317906" lvl="1">
              <a:lnSpc>
                <a:spcPts val="3533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Steal Operational &amp; Production Data</a:t>
            </a:r>
          </a:p>
          <a:p>
            <a:pPr algn="l" marL="635811" indent="-317906" lvl="1">
              <a:lnSpc>
                <a:spcPts val="3533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 Lateral Movement</a:t>
            </a:r>
          </a:p>
          <a:p>
            <a:pPr algn="l" marL="635811" indent="-317906" lvl="1">
              <a:lnSpc>
                <a:spcPts val="3533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Cause Safety &amp; Production Downtime</a:t>
            </a:r>
          </a:p>
          <a:p>
            <a:pPr algn="l">
              <a:lnSpc>
                <a:spcPts val="3533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434259" y="952500"/>
            <a:ext cx="6530604" cy="4666936"/>
            <a:chOff x="0" y="0"/>
            <a:chExt cx="8707472" cy="62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620567" cy="5239585"/>
              <a:chOff x="0" y="0"/>
              <a:chExt cx="8090598" cy="49174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090648" cy="4917495"/>
              </a:xfrm>
              <a:custGeom>
                <a:avLst/>
                <a:gdLst/>
                <a:ahLst/>
                <a:cxnLst/>
                <a:rect r="r" b="b" t="t" l="l"/>
                <a:pathLst>
                  <a:path h="4917495" w="8090648">
                    <a:moveTo>
                      <a:pt x="0" y="344266"/>
                    </a:moveTo>
                    <a:cubicBezTo>
                      <a:pt x="0" y="154107"/>
                      <a:pt x="62488" y="0"/>
                      <a:pt x="139594" y="0"/>
                    </a:cubicBezTo>
                    <a:lnTo>
                      <a:pt x="7951042" y="0"/>
                    </a:lnTo>
                    <a:cubicBezTo>
                      <a:pt x="8028149" y="0"/>
                      <a:pt x="8090648" y="154107"/>
                      <a:pt x="8090648" y="344266"/>
                    </a:cubicBezTo>
                    <a:lnTo>
                      <a:pt x="8090648" y="4573251"/>
                    </a:lnTo>
                    <a:cubicBezTo>
                      <a:pt x="8090648" y="4763410"/>
                      <a:pt x="8028149" y="4917495"/>
                      <a:pt x="7951042" y="4917495"/>
                    </a:cubicBezTo>
                    <a:lnTo>
                      <a:pt x="139594" y="4917495"/>
                    </a:lnTo>
                    <a:cubicBezTo>
                      <a:pt x="62488" y="4917495"/>
                      <a:pt x="0" y="4763410"/>
                      <a:pt x="0" y="4573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C0C1D7"/>
                </a:solidFill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70622" y="196432"/>
              <a:ext cx="8236850" cy="6026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4"/>
                </a:lnSpc>
              </a:pPr>
              <a:r>
                <a:rPr lang="en-US" sz="297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Actors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 Persistent Thre</a:t>
              </a: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(APT) Groups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ation-State Adversaries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Insid</a:t>
              </a: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 Threats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</a:t>
              </a: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nsomware Operators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Supply Chain Attackers</a:t>
              </a:r>
            </a:p>
            <a:p>
              <a:pPr algn="l" marL="641236" indent="-320618" lvl="1">
                <a:lnSpc>
                  <a:spcPts val="3564"/>
                </a:lnSpc>
                <a:buFont typeface="Arial"/>
                <a:buChar char="•"/>
              </a:pPr>
              <a:r>
                <a:rPr lang="en-US" sz="2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Cybercriminal Organizations</a:t>
              </a:r>
            </a:p>
            <a:p>
              <a:pPr algn="l">
                <a:lnSpc>
                  <a:spcPts val="3564"/>
                </a:lnSpc>
              </a:pPr>
            </a:p>
            <a:p>
              <a:pPr algn="l">
                <a:lnSpc>
                  <a:spcPts val="356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34259" y="5057092"/>
            <a:ext cx="6427194" cy="4180640"/>
            <a:chOff x="0" y="0"/>
            <a:chExt cx="8569592" cy="557418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569592" cy="5208603"/>
              <a:chOff x="0" y="0"/>
              <a:chExt cx="8090598" cy="491747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090648" cy="4917495"/>
              </a:xfrm>
              <a:custGeom>
                <a:avLst/>
                <a:gdLst/>
                <a:ahLst/>
                <a:cxnLst/>
                <a:rect r="r" b="b" t="t" l="l"/>
                <a:pathLst>
                  <a:path h="4917495" w="8090648">
                    <a:moveTo>
                      <a:pt x="0" y="344266"/>
                    </a:moveTo>
                    <a:cubicBezTo>
                      <a:pt x="0" y="154107"/>
                      <a:pt x="62488" y="0"/>
                      <a:pt x="139594" y="0"/>
                    </a:cubicBezTo>
                    <a:lnTo>
                      <a:pt x="7951042" y="0"/>
                    </a:lnTo>
                    <a:cubicBezTo>
                      <a:pt x="8028149" y="0"/>
                      <a:pt x="8090648" y="154107"/>
                      <a:pt x="8090648" y="344266"/>
                    </a:cubicBezTo>
                    <a:lnTo>
                      <a:pt x="8090648" y="4573251"/>
                    </a:lnTo>
                    <a:cubicBezTo>
                      <a:pt x="8090648" y="4763410"/>
                      <a:pt x="8028149" y="4917495"/>
                      <a:pt x="7951042" y="4917495"/>
                    </a:cubicBezTo>
                    <a:lnTo>
                      <a:pt x="139594" y="4917495"/>
                    </a:lnTo>
                    <a:cubicBezTo>
                      <a:pt x="62488" y="4917495"/>
                      <a:pt x="0" y="4763410"/>
                      <a:pt x="0" y="4573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C0C1D7"/>
                </a:solidFill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448" y="144937"/>
              <a:ext cx="8188144" cy="542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952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Assumptions</a:t>
              </a:r>
            </a:p>
            <a:p>
              <a:pPr algn="l" marL="637444" indent="-318722" lvl="1">
                <a:lnSpc>
                  <a:spcPts val="3542"/>
                </a:lnSpc>
                <a:buFont typeface="Arial"/>
                <a:buChar char="•"/>
              </a:pP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IoT Environment</a:t>
              </a:r>
            </a:p>
            <a:p>
              <a:pPr algn="l" marL="637444" indent="-318722" lvl="1">
                <a:lnSpc>
                  <a:spcPts val="3542"/>
                </a:lnSpc>
                <a:buFont typeface="Arial"/>
                <a:buChar char="•"/>
              </a:pP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</a:t>
              </a: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tinuous Telemetry Generation</a:t>
              </a:r>
            </a:p>
            <a:p>
              <a:pPr algn="l" marL="637444" indent="-318722" lvl="1">
                <a:lnSpc>
                  <a:spcPts val="3542"/>
                </a:lnSpc>
                <a:buFont typeface="Arial"/>
                <a:buChar char="•"/>
              </a:pP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ultiple Industrial Communication Protocols</a:t>
              </a:r>
            </a:p>
            <a:p>
              <a:pPr algn="l" marL="637444" indent="-318722" lvl="1">
                <a:lnSpc>
                  <a:spcPts val="3542"/>
                </a:lnSpc>
                <a:buFont typeface="Arial"/>
                <a:buChar char="•"/>
              </a:pP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Sophisticated Multi-Stage Cyberattacks</a:t>
              </a:r>
            </a:p>
            <a:p>
              <a:pPr algn="l" marL="637444" indent="-318722" lvl="1">
                <a:lnSpc>
                  <a:spcPts val="3542"/>
                </a:lnSpc>
                <a:buFont typeface="Arial"/>
                <a:buChar char="•"/>
              </a:pPr>
              <a:r>
                <a:rPr lang="en-US" sz="29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Mission-Critical Infrastructure</a:t>
              </a:r>
            </a:p>
            <a:p>
              <a:pPr algn="l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39578" y="0"/>
            <a:ext cx="13608845" cy="9072563"/>
          </a:xfrm>
          <a:custGeom>
            <a:avLst/>
            <a:gdLst/>
            <a:ahLst/>
            <a:cxnLst/>
            <a:rect r="r" b="b" t="t" l="l"/>
            <a:pathLst>
              <a:path h="9072563" w="13608845">
                <a:moveTo>
                  <a:pt x="0" y="0"/>
                </a:moveTo>
                <a:lnTo>
                  <a:pt x="13608844" y="0"/>
                </a:lnTo>
                <a:lnTo>
                  <a:pt x="13608844" y="9072563"/>
                </a:lnTo>
                <a:lnTo>
                  <a:pt x="0" y="9072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4368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33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49307" y="287013"/>
            <a:ext cx="13144071" cy="8762714"/>
          </a:xfrm>
          <a:custGeom>
            <a:avLst/>
            <a:gdLst/>
            <a:ahLst/>
            <a:cxnLst/>
            <a:rect r="r" b="b" t="t" l="l"/>
            <a:pathLst>
              <a:path h="8762714" w="13144071">
                <a:moveTo>
                  <a:pt x="0" y="0"/>
                </a:moveTo>
                <a:lnTo>
                  <a:pt x="13144070" y="0"/>
                </a:lnTo>
                <a:lnTo>
                  <a:pt x="13144070" y="8762714"/>
                </a:lnTo>
                <a:lnTo>
                  <a:pt x="0" y="8762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669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97952" y="-320069"/>
            <a:ext cx="6892096" cy="1348769"/>
            <a:chOff x="0" y="0"/>
            <a:chExt cx="9377465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77465" cy="1835150"/>
            </a:xfrm>
            <a:custGeom>
              <a:avLst/>
              <a:gdLst/>
              <a:ahLst/>
              <a:cxnLst/>
              <a:rect r="r" b="b" t="t" l="l"/>
              <a:pathLst>
                <a:path h="1835150" w="9377465">
                  <a:moveTo>
                    <a:pt x="0" y="0"/>
                  </a:moveTo>
                  <a:lnTo>
                    <a:pt x="9377465" y="0"/>
                  </a:lnTo>
                  <a:lnTo>
                    <a:pt x="9377465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-124273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9377465" cy="182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48"/>
                </a:lnSpc>
              </a:pPr>
              <a:r>
                <a:rPr lang="en-US" sz="3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49331" y="601471"/>
            <a:ext cx="5672409" cy="8508614"/>
          </a:xfrm>
          <a:custGeom>
            <a:avLst/>
            <a:gdLst/>
            <a:ahLst/>
            <a:cxnLst/>
            <a:rect r="r" b="b" t="t" l="l"/>
            <a:pathLst>
              <a:path h="8508614" w="5672409">
                <a:moveTo>
                  <a:pt x="0" y="0"/>
                </a:moveTo>
                <a:lnTo>
                  <a:pt x="5672409" y="0"/>
                </a:lnTo>
                <a:lnTo>
                  <a:pt x="5672409" y="8508614"/>
                </a:lnTo>
                <a:lnTo>
                  <a:pt x="0" y="8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669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119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0"/>
                </a:lnSpc>
              </a:pPr>
              <a:r>
                <a:rPr lang="en-US" sz="6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OVERALL NOVELTY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2079" y="1493710"/>
            <a:ext cx="14981245" cy="705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Context-Aware Threat Understanding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Enhances Industrial IoT threat interpretation by incorporating semantic context, behavioral analytics, and operational asset awareness.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ive Graph-Based Attack Reconstruction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Dynamically reconstructs multi-stage attack pa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ths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using temporal and provenance graph intelligence.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 &amp; Graph-Aware Multi-Agent Intelligence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Employs specialized CrewAI agents to collaboratively investigate threats and generate explainable cyber intelligence.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Adaptive Confidence-Driven Threat Assessment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Produces reliable threat prioritization through confidence-aware fusion of cont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ual and graph-based investigation evidence.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894368" y="9825038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00236" y="2225308"/>
            <a:ext cx="15968564" cy="522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Industrial IoT Focus: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Addresses the challenge of investigating complex multi-stage cyberattacks in mission-critical Industrial IoT environm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ents.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</a:t>
            </a: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 Framework: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Combines contextual intelligence, adaptive graph intelligence, and context-aware multi-agent reasoning for comprehensive threat investigation.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Expected Outcomes: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Delivers explainable attack reconstruction, confidence-driven threat assessment, and actionable security recommendations through a unified dashboard.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Scope: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Provides a foundation for scalable, AI-driven Industrial IoT security analytics and future autonomous cyber defense systems.</a:t>
            </a:r>
          </a:p>
          <a:p>
            <a:pPr algn="l">
              <a:lnSpc>
                <a:spcPts val="2764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347662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6478" y="1148048"/>
            <a:ext cx="17495044" cy="781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[1] Nandiya, Padmeswari, Mohsin, Ahmad, Ibrahim, Ahmed, Sarker, Iqbal H., &amp; Janicke, Helge. (2026). BRIDG-ICS: AI-Grounded Knowledge Graphs for Intelligent Threat Analytics in Industry 5.0 Cyber-Physical Systems. Cybersecurity (Springer). https://arxiv.org/abs/2512.12112 </a:t>
            </a:r>
          </a:p>
          <a:p>
            <a:pPr algn="just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[2] Empl, Philip &amp; Pernul, Günther. (2023). Digital-Twin-Based Security Analytics for the Internet of Things. Information, 14(2), 95. https://doi.org/10.3390/info14020095 </a:t>
            </a:r>
          </a:p>
          <a:p>
            <a:pPr algn="just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[3] Shalaby, Ahmed, et al. (2025). Cybersecurity Threat Detection Based on a UEBA Framework Using Deep Autoencoders. arXiv Preprint. https://arxiv.org/abs/2505.11542</a:t>
            </a:r>
          </a:p>
          <a:p>
            <a:pPr algn="just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[4] Daniel, G., et al. (2025). Concept Drift Under Harsh Constraints: A Review of Potential Strategies for IoT Systems. IEEE Access. https://ieeexplore.ieee.org/document/11206138 </a:t>
            </a:r>
          </a:p>
          <a:p>
            <a:pPr algn="just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[5] PROV-LLM: Advanced Persistent Threat Detection Based on Process Behavior Subgraphs Using Large Language Models. (2025). Proceedings of IEEE TrustCom 2025. https://doi.org/10.1109/Trustcom66490.2025.00113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92956" y="1273302"/>
            <a:ext cx="16702088" cy="756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[6] Baha, Lina, Mammasse, Amine, &amp; Saci, Oualid. (2025). A Hybrid GNN–LLM Framework for Correlating Cybersecurity Incidents. Proceedings of the 2025 IEEE International Conference on Theoretical and Applicative Aspects of Computer Science (ICTAACS). https://doi.org/10.1109/ICTAACS69003.2025.11399321</a:t>
            </a:r>
          </a:p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[7] Hmimou, Yasser, Tabaa, Mohamed, Khiat, Azeddine, &amp; Hidila, Zineb. (2025). A Multi-Agent System for Cybersecurity Threat Detection and Correlation Using Large Language Models. IEEE Access, 13. https://doi.org/10.1109/ACCESS.2025.3602681</a:t>
            </a:r>
          </a:p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[8] Islam, Mohammad M., Elluri, Lavanya, &amp; Joshi, Karuna Pande. (2025). Integrating Knowledge Graphs with Retrieval-Augmented Generation to Automate IoT Device Security Compliance. Proceedings of the 2025 IEEE International Conference on IntelligenceandSecurityInformatics(ISI). https://doi.org/10.1109/ISI65680.2025.11201135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6839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43013" y="253586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DAHO0L-IUMQ</dc:identifier>
  <dcterms:modified xsi:type="dcterms:W3CDTF">2011-08-01T06:04:30Z</dcterms:modified>
  <cp:revision>1</cp:revision>
  <dc:title>Guide Name: Dr. Kurunandan Jain, Assistant Professor</dc:title>
</cp:coreProperties>
</file>