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imes New Roman" charset="1" panose="02020603050405020304"/>
      <p:regular r:id="rId22"/>
    </p:embeddedFont>
    <p:embeddedFont>
      <p:font typeface="Times New Roman Bold" charset="1" panose="02020803070505020304"/>
      <p:regular r:id="rId23"/>
    </p:embeddedFont>
    <p:embeddedFont>
      <p:font typeface="Calibri (MS)" charset="1" panose="020F0502020204030204"/>
      <p:regular r:id="rId24"/>
    </p:embeddedFont>
    <p:embeddedFont>
      <p:font typeface="TT Rounds Condensed" charset="1" panose="02000506030000020003"/>
      <p:regular r:id="rId25"/>
    </p:embeddedFont>
    <p:embeddedFont>
      <p:font typeface="Calibri (MS) Bold" charset="1" panose="020F0702030404030204"/>
      <p:regular r:id="rId26"/>
    </p:embeddedFont>
    <p:embeddedFont>
      <p:font typeface="Canva Sans Bold" charset="1" panose="020B0803030501040103"/>
      <p:regular r:id="rId27"/>
    </p:embeddedFont>
    <p:embeddedFont>
      <p:font typeface="Arimo" charset="1" panose="020B0604020202020204"/>
      <p:regular r:id="rId28"/>
    </p:embeddedFont>
    <p:embeddedFont>
      <p:font typeface="Arimo Bold" charset="1" panose="020B07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-14288"/>
            <a:ext cx="18345150" cy="10315575"/>
            <a:chOff x="0" y="0"/>
            <a:chExt cx="24460200" cy="13754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60200" cy="13754100"/>
            </a:xfrm>
            <a:custGeom>
              <a:avLst/>
              <a:gdLst/>
              <a:ahLst/>
              <a:cxnLst/>
              <a:rect r="r" b="b" t="t" l="l"/>
              <a:pathLst>
                <a:path h="13754100" w="24460200">
                  <a:moveTo>
                    <a:pt x="0" y="0"/>
                  </a:moveTo>
                  <a:lnTo>
                    <a:pt x="24460200" y="0"/>
                  </a:lnTo>
                  <a:lnTo>
                    <a:pt x="24460200" y="13754100"/>
                  </a:lnTo>
                  <a:lnTo>
                    <a:pt x="0" y="1375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36795" y="4511040"/>
            <a:ext cx="1201769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CORTEX:A Context &amp; Graph-Aware Multi-Agent Framework for Explainable Industrial IoT Threat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4750" y="7169338"/>
            <a:ext cx="7853455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Lokpradeep B - AM.SC.U4CYS23018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Uday  Ganesh B - AM.SC.U4CYS23019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charan N - AM.SC.U4CYS23029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Akshara Kruti P -  AM.SC.U4CYS23035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67058" y="8526651"/>
            <a:ext cx="887825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Kurunandan Jain,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9525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40519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CONTENTS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242472" y="1271988"/>
            <a:ext cx="8329372" cy="709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0"/>
              </a:lnSpc>
            </a:pP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</a:t>
            </a: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Statement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Proposed Architecture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Overall Novelty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Expected Contributions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Week's Progress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Individual Week’s Contribution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+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6101" y="1863566"/>
            <a:ext cx="15826499" cy="651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iguous Attack Progression: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Multi-stage Industrial IoT attacks propagate across devices and protocols, making the complete attack progression difficult to reconstruct accurately.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Insufficient Operational Context: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Security events often lack sufficient operational and asset context, reducing the reliability of threat interpretation in mission-critical environments.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Uncertain Threat Prioritization: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analysts struggle to distinguish critical attacks from low-impact events due to the absence of reliable confidence estimation during investigation.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Delayed Incident Investigation: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Inaccurate attack reconstruction and fragmented evidence increase manual investigation time, delaying response in Industrial IoT environments.</a:t>
            </a:r>
          </a:p>
          <a:p>
            <a:pPr algn="l">
              <a:lnSpc>
                <a:spcPts val="515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257300" y="90487"/>
            <a:ext cx="15773400" cy="1376362"/>
            <a:chOff x="0" y="0"/>
            <a:chExt cx="21031200" cy="1835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</a:t>
              </a: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TATEMENT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96546" y="-320069"/>
            <a:ext cx="10894907" cy="1348769"/>
            <a:chOff x="0" y="0"/>
            <a:chExt cx="14823734" cy="1835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3734" cy="1835150"/>
            </a:xfrm>
            <a:custGeom>
              <a:avLst/>
              <a:gdLst/>
              <a:ahLst/>
              <a:cxnLst/>
              <a:rect r="r" b="b" t="t" l="l"/>
              <a:pathLst>
                <a:path h="1835150" w="14823734">
                  <a:moveTo>
                    <a:pt x="0" y="0"/>
                  </a:moveTo>
                  <a:lnTo>
                    <a:pt x="14823734" y="0"/>
                  </a:lnTo>
                  <a:lnTo>
                    <a:pt x="14823734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-41875" b="-1733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4823734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</a:t>
              </a: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ARCHITECTURE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01885" y="1541248"/>
            <a:ext cx="13084230" cy="7204504"/>
          </a:xfrm>
          <a:custGeom>
            <a:avLst/>
            <a:gdLst/>
            <a:ahLst/>
            <a:cxnLst/>
            <a:rect r="r" b="b" t="t" l="l"/>
            <a:pathLst>
              <a:path h="7204504" w="13084230">
                <a:moveTo>
                  <a:pt x="0" y="0"/>
                </a:moveTo>
                <a:lnTo>
                  <a:pt x="13084230" y="0"/>
                </a:lnTo>
                <a:lnTo>
                  <a:pt x="13084230" y="7204504"/>
                </a:lnTo>
                <a:lnTo>
                  <a:pt x="0" y="7204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76834" y="9616499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03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85377" y="872658"/>
            <a:ext cx="14734885" cy="9172466"/>
          </a:xfrm>
          <a:custGeom>
            <a:avLst/>
            <a:gdLst/>
            <a:ahLst/>
            <a:cxnLst/>
            <a:rect r="r" b="b" t="t" l="l"/>
            <a:pathLst>
              <a:path h="9172466" w="14734885">
                <a:moveTo>
                  <a:pt x="0" y="0"/>
                </a:moveTo>
                <a:lnTo>
                  <a:pt x="14734884" y="0"/>
                </a:lnTo>
                <a:lnTo>
                  <a:pt x="14734884" y="9172466"/>
                </a:lnTo>
                <a:lnTo>
                  <a:pt x="0" y="9172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45395" y="9459899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38610" y="424432"/>
            <a:ext cx="698015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NOVELTY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31595"/>
            <a:ext cx="16295868" cy="792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</a:t>
            </a: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 Consistency Reasoning (DCCR)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Introduces a novel context reasoning framework that continuously generates Dynamic Context Profiles, models operational states, and evaluates context consistency with confidence-aware contextual intelligence.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Graph-Based Attack Reconstruction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Dynamically reconstructs multi-stage attack paths using temporal relationships, provenance graphs, and graph intelligence to reveal attack progression.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 &amp; Graph-Aware Multi-Agent Intelligence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Employs specialized CrewAI agents to collaboratively fuse contextual and graph intelligence, enabling explainable threat investigation and autonomous cyber decision support.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Confidence-Driven Threat Assessment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Produces trustworthy threat prioritization by confidence-aware fusion of contextual reasoning and graph intelligence for explainable Industrial IoT cyber threat assessment.</a:t>
            </a:r>
          </a:p>
          <a:p>
            <a:pPr algn="l">
              <a:lnSpc>
                <a:spcPts val="48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97573" y="1273810"/>
          <a:ext cx="11659332" cy="7706043"/>
        </p:xfrm>
        <a:graphic>
          <a:graphicData uri="http://schemas.openxmlformats.org/drawingml/2006/table">
            <a:tbl>
              <a:tblPr/>
              <a:tblGrid>
                <a:gridCol w="5829666"/>
                <a:gridCol w="5829666"/>
              </a:tblGrid>
              <a:tr h="43758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UDAY</a:t>
                      </a:r>
                      <a:endParaRPr lang="en-US" sz="1100"/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IIoT Dataset Collection &amp; Preprocessing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Contextual IntelligenceEngine  Development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Multi-Agent AI Integration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Dashboard Development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AKSHARA</a:t>
                      </a:r>
                      <a:endParaRPr lang="en-US" sz="1100"/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Contextual IntelligenceEngine Development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Acquisition &amp; 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Operational Context Modeling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Confidence Estimation &amp; Validation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Dynamic Contextual Reasoning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02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5"/>
                        </a:lnSpc>
                        <a:defRPr/>
                      </a:pPr>
                      <a:r>
                        <a:rPr lang="en-US" sz="2203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                        LOKPRADEEP</a:t>
                      </a:r>
                      <a:endParaRPr lang="en-US" sz="1100"/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Adaptive Graph Intelligence Development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Temporal Knowledge Graph &amp; Neo4j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Attack Reconstruction &amp; Graph Analytics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Dashboard Development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CHARAN</a:t>
                      </a:r>
                      <a:endParaRPr lang="en-US" sz="1100"/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Network Provenance Graph 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Multi-Agent AI Development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CrewAI &amp; Llama 3 (Ollama) Integration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Confidence Fusion &amp; Threat Intelligence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3586196" y="1849198"/>
          <a:ext cx="3976263" cy="5371914"/>
        </p:xfrm>
        <a:graphic>
          <a:graphicData uri="http://schemas.openxmlformats.org/drawingml/2006/table">
            <a:tbl>
              <a:tblPr/>
              <a:tblGrid>
                <a:gridCol w="3976263"/>
              </a:tblGrid>
              <a:tr h="53719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65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Common Contributions</a:t>
                      </a:r>
                      <a:endParaRPr lang="en-US" sz="1100"/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Survey &amp; Methodology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Integration &amp; Testing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Evaluation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Experimental Analysis</a:t>
                      </a:r>
                    </a:p>
                    <a:p>
                      <a:pPr algn="ctr">
                        <a:lnSpc>
                          <a:spcPts val="3654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00976" y="228600"/>
            <a:ext cx="679084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Overall Contributions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119634" y="953050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-347662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1031200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40"/>
                </a:lnSpc>
              </a:pPr>
              <a:r>
                <a:rPr lang="en-US" sz="55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This Week's Progress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0809" y="1145280"/>
            <a:ext cx="17546382" cy="715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Advanced the implem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entation of the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textual Intelligence Engine (Layer 3A) by refining contextual reasoning, operational profiling, and adaptive context representation.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Exte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nded the Adaptive Graph Intelligence Engine (Layer 3B) through the implementation of Temporal Knowledge Graph (TKG) construction, Network Provenance Graph (NPG) modeling, and graph structure refinement.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Standardized contextual, temporal, and provenance representations across heterogeneous Industrial IoT telemetry to establish a unified cyber intelligence framework.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Refined graph traversal, provenance correlation, and temporal event modeling to stre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then explainable threat investigation and graph intelligence.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Established the implementation foundation for graph analytics, adaptive attack reconstruction, confidence-driven threat assessment, and subsequent multi-agent intelligence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08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3750469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Individual Week’s Contribution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79809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09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5860" y="855728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Uday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36337" y="2654694"/>
            <a:ext cx="17546382" cy="262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 Dynamic Context Profile Gene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ration for Industrial IIoT entities.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ntegrated Welford’s algorithm for online statistical baseline generation.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Integrated multi-source telemetry into entity-specific dynamic profiles.</a:t>
            </a:r>
          </a:p>
          <a:p>
            <a:pPr algn="just">
              <a:lnSpc>
                <a:spcPts val="515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3338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13176" y="358272"/>
            <a:ext cx="13021287" cy="7812772"/>
          </a:xfrm>
          <a:custGeom>
            <a:avLst/>
            <a:gdLst/>
            <a:ahLst/>
            <a:cxnLst/>
            <a:rect r="r" b="b" t="t" l="l"/>
            <a:pathLst>
              <a:path h="7812772" w="13021287">
                <a:moveTo>
                  <a:pt x="0" y="0"/>
                </a:moveTo>
                <a:lnTo>
                  <a:pt x="13021287" y="0"/>
                </a:lnTo>
                <a:lnTo>
                  <a:pt x="13021287" y="7812773"/>
                </a:lnTo>
                <a:lnTo>
                  <a:pt x="0" y="7812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79809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85900" y="340519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Charan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09136" y="1664099"/>
            <a:ext cx="17083614" cy="499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2319" indent="-376159" lvl="1">
              <a:lnSpc>
                <a:spcPts val="6585"/>
              </a:lnSpc>
              <a:buFont typeface="Arial"/>
              <a:buChar char="•"/>
            </a:pPr>
            <a:r>
              <a:rPr lang="en-US" sz="3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Refined the Network Provenance Graph by improving provenance relationship modeling and graph connectivity.</a:t>
            </a:r>
          </a:p>
          <a:p>
            <a:pPr algn="just" marL="752319" indent="-376159" lvl="1">
              <a:lnSpc>
                <a:spcPts val="6585"/>
              </a:lnSpc>
              <a:buFont typeface="Arial"/>
              <a:buChar char="•"/>
            </a:pPr>
            <a:r>
              <a:rPr lang="en-US" sz="3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Enhanc</a:t>
            </a:r>
            <a:r>
              <a:rPr lang="en-US" sz="3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 provenance graph generation through structural optimization and node–edge consistency validation.</a:t>
            </a:r>
          </a:p>
          <a:p>
            <a:pPr algn="just" marL="752319" indent="-376159" lvl="1">
              <a:lnSpc>
                <a:spcPts val="6585"/>
              </a:lnSpc>
              <a:buFont typeface="Arial"/>
              <a:buChar char="•"/>
            </a:pPr>
            <a:r>
              <a:rPr lang="en-US" sz="3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</a:t>
            </a:r>
            <a:r>
              <a:rPr lang="en-US" sz="3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andardized provenance representations for reliable graph traversal and future attack path analysis.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5900" y="340519"/>
            <a:ext cx="15773400" cy="1376362"/>
            <a:chOff x="0" y="0"/>
            <a:chExt cx="21031200" cy="183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Charan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601885" y="2929372"/>
            <a:ext cx="13084230" cy="5121280"/>
          </a:xfrm>
          <a:custGeom>
            <a:avLst/>
            <a:gdLst/>
            <a:ahLst/>
            <a:cxnLst/>
            <a:rect r="r" b="b" t="t" l="l"/>
            <a:pathLst>
              <a:path h="5121280" w="13084230">
                <a:moveTo>
                  <a:pt x="0" y="0"/>
                </a:moveTo>
                <a:lnTo>
                  <a:pt x="13084230" y="0"/>
                </a:lnTo>
                <a:lnTo>
                  <a:pt x="13084230" y="5121280"/>
                </a:lnTo>
                <a:lnTo>
                  <a:pt x="0" y="5121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532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Akshara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0809" y="2478026"/>
            <a:ext cx="17546382" cy="391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Enhanced contextual confidence estimation by refining contextual scoring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and feature importance evaluation.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Improved adaptive contextual parameter modeling using operational and behavioral intelligence.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Standardized contextual confidence metrics to support consistent confidence-aware reasoning.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Established the implementation foundation for confidence fusion and explainable contextual intelligence.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16669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400116" y="717976"/>
            <a:ext cx="9954213" cy="8454860"/>
          </a:xfrm>
          <a:custGeom>
            <a:avLst/>
            <a:gdLst/>
            <a:ahLst/>
            <a:cxnLst/>
            <a:rect r="r" b="b" t="t" l="l"/>
            <a:pathLst>
              <a:path h="8454860" w="9954213">
                <a:moveTo>
                  <a:pt x="0" y="0"/>
                </a:moveTo>
                <a:lnTo>
                  <a:pt x="9954213" y="0"/>
                </a:lnTo>
                <a:lnTo>
                  <a:pt x="9954213" y="8454861"/>
                </a:lnTo>
                <a:lnTo>
                  <a:pt x="0" y="8454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31910"/>
            <a:ext cx="6254504" cy="58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sz="34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</a:t>
            </a:r>
            <a:r>
              <a:rPr lang="en-US" b="true" sz="3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erational Context Objects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18214" y="228600"/>
            <a:ext cx="305157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3"/>
              </a:lnSpc>
              <a:spcBef>
                <a:spcPct val="0"/>
              </a:spcBef>
            </a:pPr>
            <a:r>
              <a:rPr lang="en-US" b="true" sz="50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424085"/>
            <a:ext cx="16295868" cy="670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essfully advanced the implementation of the Contextual Intelligence Engine (Layer 3A) through contextual reasoning refinement, operational profiling, and adaptive context representation.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the Adaptive Graph Intelligence Engine (Layer 3B) by implementing the foundations of the Temporal Knowledge Graph (TKG) and Network Provenance Graph (NPG) for graph-based cyber intelligence.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Refined graph-oriented data modeling by enhancing temporal relationships, provenance representation, and graph schema to support explainable threat analysis.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Established  implementation foundation for subsequent graph analytics, attack reconstruction, confidence-aware reasoning, and multi-agent intelligence integration in the next development phase.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343013" y="2535860"/>
            <a:ext cx="4979963" cy="4114800"/>
          </a:xfrm>
          <a:custGeom>
            <a:avLst/>
            <a:gdLst/>
            <a:ahLst/>
            <a:cxnLst/>
            <a:rect r="r" b="b" t="t" l="l"/>
            <a:pathLst>
              <a:path h="4114800" w="4979963">
                <a:moveTo>
                  <a:pt x="0" y="0"/>
                </a:moveTo>
                <a:lnTo>
                  <a:pt x="4979963" y="0"/>
                </a:lnTo>
                <a:lnTo>
                  <a:pt x="49799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DAHRWA3QlMI</dc:identifier>
  <dcterms:modified xsi:type="dcterms:W3CDTF">2011-08-01T06:04:30Z</dcterms:modified>
  <cp:revision>1</cp:revision>
  <dc:title>Week-4</dc:title>
</cp:coreProperties>
</file>