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Times New Roman" charset="1" panose="02020603050405020304"/>
      <p:regular r:id="rId27"/>
    </p:embeddedFont>
    <p:embeddedFont>
      <p:font typeface="Times New Roman Bold" charset="1" panose="02020803070505020304"/>
      <p:regular r:id="rId28"/>
    </p:embeddedFont>
    <p:embeddedFont>
      <p:font typeface="Calibri (MS)" charset="1" panose="020F0502020204030204"/>
      <p:regular r:id="rId29"/>
    </p:embeddedFont>
    <p:embeddedFont>
      <p:font typeface="TT Rounds Condensed" charset="1" panose="02000506030000020003"/>
      <p:regular r:id="rId30"/>
    </p:embeddedFont>
    <p:embeddedFont>
      <p:font typeface="Calibri (MS) Bold" charset="1" panose="020F0702030404030204"/>
      <p:regular r:id="rId31"/>
    </p:embeddedFont>
    <p:embeddedFont>
      <p:font typeface="Canva Sans Bold" charset="1" panose="020B0803030501040103"/>
      <p:regular r:id="rId32"/>
    </p:embeddedFont>
    <p:embeddedFont>
      <p:font typeface="Arimo" charset="1" panose="020B0604020202020204"/>
      <p:regular r:id="rId33"/>
    </p:embeddedFont>
    <p:embeddedFont>
      <p:font typeface="Arimo Bold" charset="1" panose="020B0704020202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5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" y="-14288"/>
            <a:ext cx="18345150" cy="10315575"/>
            <a:chOff x="0" y="0"/>
            <a:chExt cx="24460200" cy="13754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60200" cy="13754100"/>
            </a:xfrm>
            <a:custGeom>
              <a:avLst/>
              <a:gdLst/>
              <a:ahLst/>
              <a:cxnLst/>
              <a:rect r="r" b="b" t="t" l="l"/>
              <a:pathLst>
                <a:path h="13754100" w="24460200">
                  <a:moveTo>
                    <a:pt x="0" y="0"/>
                  </a:moveTo>
                  <a:lnTo>
                    <a:pt x="24460200" y="0"/>
                  </a:lnTo>
                  <a:lnTo>
                    <a:pt x="24460200" y="13754100"/>
                  </a:lnTo>
                  <a:lnTo>
                    <a:pt x="0" y="1375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36795" y="4511040"/>
            <a:ext cx="1201769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CORTEX:A Context &amp; Graph-Aware Multi-Agent Framework for Explainable Industrial IoT Threat Intelligence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4750" y="7169338"/>
            <a:ext cx="7853455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Lokpradeep B - AM.SC.U4CYS23018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Uday  Ganesh B - AM.SC.U4CYS23019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charan N - AM.SC.U4CYS23029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Akshara Kruti P -  AM.SC.U4CYS23035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67058" y="8526651"/>
            <a:ext cx="8878252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Kurunandan Jain, 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9525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40519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CONTENTS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242472" y="1870075"/>
            <a:ext cx="8329372" cy="568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</a:t>
            </a: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Statement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Weeks Progress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Upcoming Weeks Targets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Proposed System Architecture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Overall Novelty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Expected Contributions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+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6101" y="1863566"/>
            <a:ext cx="15826499" cy="7158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Amb</a:t>
            </a: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iguous Attack Progression: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Multi-stage Industrial IoT attacks propagate across devices and protocols, making the complete attack progression difficult to reconstruct accurately.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Insufficient Operational Context: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Security events often lack sufficient operational and asset context, reducing the reliability of threat interpretation in mission-critical environments.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Uncertain Threat Prioritization: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Security analysts struggle to distinguish critical attacks from low-impact events due to the absence of reliable confidence estimation during investigation.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Delayed Incident Investigation: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Inaccurate attack reconstruction and fragmented evidence increase manual investigation time, delaying response in Industrial IoT environments.</a:t>
            </a:r>
          </a:p>
          <a:p>
            <a:pPr algn="l">
              <a:lnSpc>
                <a:spcPts val="5151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257300" y="90487"/>
            <a:ext cx="15773400" cy="1376362"/>
            <a:chOff x="0" y="0"/>
            <a:chExt cx="21031200" cy="1835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</a:t>
              </a: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TATEMENT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66436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51538" y="-66436"/>
            <a:ext cx="10894907" cy="1348769"/>
            <a:chOff x="0" y="0"/>
            <a:chExt cx="14823734" cy="1835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23734" cy="1835150"/>
            </a:xfrm>
            <a:custGeom>
              <a:avLst/>
              <a:gdLst/>
              <a:ahLst/>
              <a:cxnLst/>
              <a:rect r="r" b="b" t="t" l="l"/>
              <a:pathLst>
                <a:path h="1835150" w="14823734">
                  <a:moveTo>
                    <a:pt x="0" y="0"/>
                  </a:moveTo>
                  <a:lnTo>
                    <a:pt x="14823734" y="0"/>
                  </a:lnTo>
                  <a:lnTo>
                    <a:pt x="14823734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-41875" b="-17330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4823734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ARCHITECTURE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95141" y="1028700"/>
            <a:ext cx="14561653" cy="7881495"/>
          </a:xfrm>
          <a:custGeom>
            <a:avLst/>
            <a:gdLst/>
            <a:ahLst/>
            <a:cxnLst/>
            <a:rect r="r" b="b" t="t" l="l"/>
            <a:pathLst>
              <a:path h="7881495" w="14561653">
                <a:moveTo>
                  <a:pt x="0" y="0"/>
                </a:moveTo>
                <a:lnTo>
                  <a:pt x="14561653" y="0"/>
                </a:lnTo>
                <a:lnTo>
                  <a:pt x="14561653" y="7881495"/>
                </a:lnTo>
                <a:lnTo>
                  <a:pt x="0" y="7881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66436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96546" y="0"/>
            <a:ext cx="10894907" cy="1348769"/>
            <a:chOff x="0" y="0"/>
            <a:chExt cx="14823734" cy="1835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23734" cy="1835150"/>
            </a:xfrm>
            <a:custGeom>
              <a:avLst/>
              <a:gdLst/>
              <a:ahLst/>
              <a:cxnLst/>
              <a:rect r="r" b="b" t="t" l="l"/>
              <a:pathLst>
                <a:path h="1835150" w="14823734">
                  <a:moveTo>
                    <a:pt x="0" y="0"/>
                  </a:moveTo>
                  <a:lnTo>
                    <a:pt x="14823734" y="0"/>
                  </a:lnTo>
                  <a:lnTo>
                    <a:pt x="14823734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-41875" b="-17330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4823734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Revised </a:t>
              </a: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Architecture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601885" y="1541248"/>
            <a:ext cx="13084230" cy="7204504"/>
          </a:xfrm>
          <a:custGeom>
            <a:avLst/>
            <a:gdLst/>
            <a:ahLst/>
            <a:cxnLst/>
            <a:rect r="r" b="b" t="t" l="l"/>
            <a:pathLst>
              <a:path h="7204504" w="13084230">
                <a:moveTo>
                  <a:pt x="0" y="0"/>
                </a:moveTo>
                <a:lnTo>
                  <a:pt x="13084230" y="0"/>
                </a:lnTo>
                <a:lnTo>
                  <a:pt x="13084230" y="7204504"/>
                </a:lnTo>
                <a:lnTo>
                  <a:pt x="0" y="7204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38610" y="424432"/>
            <a:ext cx="698015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OVERALL NOVELTY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31595"/>
            <a:ext cx="16295868" cy="792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</a:t>
            </a: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Context Consistency Reasoning (DCCR)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Introduces a novel context reasoning framework that continuously generates Dynamic Context Profiles, models operational states, and evaluates context consistency with confidence-aware contextual intelligence.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Adaptive Graph-Based Attack Reconstruction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Dynamically reconstructs multi-stage attack paths using temporal relationships, provenance graphs, and graph intelligence to reveal attack progression.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Context &amp; Graph-Aware Multi-Agent Intelligence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Employs specialized CrewAI agents to collaboratively fuse contextual and graph intelligence, enabling explainable threat investigation and autonomous cyber decision support.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Adaptive Confidence-Driven Threat Assessment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Produces trustworthy threat prioritization by confidence-aware fusion of contextual reasoning and graph intelligence for explainable Industrial IoT cyber threat assessment.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197573" y="1273810"/>
          <a:ext cx="11659332" cy="7714307"/>
        </p:xfrm>
        <a:graphic>
          <a:graphicData uri="http://schemas.openxmlformats.org/drawingml/2006/table">
            <a:tbl>
              <a:tblPr/>
              <a:tblGrid>
                <a:gridCol w="5829666"/>
                <a:gridCol w="5829666"/>
              </a:tblGrid>
              <a:tr h="43841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UDAY</a:t>
                      </a:r>
                      <a:endParaRPr lang="en-US" sz="1100"/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IIoT Dataset Collection &amp; Preprocessing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 Engineering &amp; Data Validation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Contextual Intelligence Development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Network Provenance Graph Development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Multi-Agent AI Integration</a:t>
                      </a:r>
                    </a:p>
                    <a:p>
                      <a:pPr algn="l">
                        <a:lnSpc>
                          <a:spcPts val="3219"/>
                        </a:lnSpc>
                      </a:pPr>
                    </a:p>
                    <a:p>
                      <a:pPr algn="l">
                        <a:lnSpc>
                          <a:spcPts val="2799"/>
                        </a:lnSpc>
                      </a:pP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AKSHARA</a:t>
                      </a:r>
                      <a:endParaRPr lang="en-US" sz="1100"/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IIoT Dataset Collection &amp; Preprocessing</a:t>
                      </a: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Contextual Intelligence &amp; UEBA Development</a:t>
                      </a: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Semantic Context Extraction</a:t>
                      </a: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Behavioral Analytics &amp; Risk Scoring</a:t>
                      </a: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Adaptive Graph Intelligence Integration</a:t>
                      </a:r>
                    </a:p>
                    <a:p>
                      <a:pPr algn="l">
                        <a:lnSpc>
                          <a:spcPts val="29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02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5"/>
                        </a:lnSpc>
                        <a:defRPr/>
                      </a:pPr>
                      <a:r>
                        <a:rPr lang="en-US" sz="2203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                        LOKPRADEEP</a:t>
                      </a:r>
                      <a:endParaRPr lang="en-US" sz="1100"/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Adaptive Graph Intelligence Development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Temporal Knowledge Graph &amp; Neo4j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Attack Reconstruction &amp; Graph Analytics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Multi-Agent AI Integration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Dashboard Development</a:t>
                      </a:r>
                    </a:p>
                    <a:p>
                      <a:pPr algn="l">
                        <a:lnSpc>
                          <a:spcPts val="26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CHARAN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Multi-Agent AI Development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CrewAI &amp; Llama 3 (Ollama) Integration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Confidence Fusion &amp; Threat Intelligence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Dashboard Development</a:t>
                      </a:r>
                    </a:p>
                    <a:p>
                      <a:pPr algn="l">
                        <a:lnSpc>
                          <a:spcPts val="27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3586196" y="1849198"/>
          <a:ext cx="3976263" cy="5371914"/>
        </p:xfrm>
        <a:graphic>
          <a:graphicData uri="http://schemas.openxmlformats.org/drawingml/2006/table">
            <a:tbl>
              <a:tblPr/>
              <a:tblGrid>
                <a:gridCol w="3976263"/>
              </a:tblGrid>
              <a:tr h="53719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65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Common Contributions</a:t>
                      </a:r>
                      <a:endParaRPr lang="en-US" sz="1100"/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Literature Survey &amp; Methodology</a:t>
                      </a:r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Integration &amp; Testing</a:t>
                      </a:r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Evaluation</a:t>
                      </a:r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Experimental Analysis</a:t>
                      </a:r>
                    </a:p>
                    <a:p>
                      <a:pPr algn="ctr">
                        <a:lnSpc>
                          <a:spcPts val="3654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35896" y="228600"/>
            <a:ext cx="7121009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Contributions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46098" y="9672638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-347662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1031200" cy="180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40"/>
                </a:lnSpc>
              </a:pPr>
              <a:r>
                <a:rPr lang="en-US" sz="55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This Week's Progress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14350" y="590486"/>
            <a:ext cx="17259300" cy="910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Established the development environment and conf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igured the core technology stack  for the CORTEX framework.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Curated and organized the selected Industrial IoT datasets for experimentation.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Performed initial dataset exploration to analyze data structure,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 distribution, and preprocessing requirements.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Initiated the implementation of the data ingestion and preprocessing pipeline, including parsing and  feature extraction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Comme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nced the implementation of the Contextual Intelligence Engine (Layer 3A) by adapting suitable approaches from the selected literature to the chosen datasets.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Initiated the Adaptive Graph Intelligence Engine (Layer 3B) by exploring graph construction and temporal event correlation techniques.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Current Status: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Project setup, dataset preparation, preprocessing initialization, and foundational development of Layers 3A and 3B are in progress.</a:t>
            </a:r>
          </a:p>
          <a:p>
            <a:pPr algn="just">
              <a:lnSpc>
                <a:spcPts val="515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765557" y="0"/>
            <a:ext cx="5765557" cy="8971302"/>
          </a:xfrm>
          <a:custGeom>
            <a:avLst/>
            <a:gdLst/>
            <a:ahLst/>
            <a:cxnLst/>
            <a:rect r="r" b="b" t="t" l="l"/>
            <a:pathLst>
              <a:path h="8971302" w="5765557">
                <a:moveTo>
                  <a:pt x="0" y="0"/>
                </a:moveTo>
                <a:lnTo>
                  <a:pt x="5765557" y="0"/>
                </a:lnTo>
                <a:lnTo>
                  <a:pt x="5765557" y="8971302"/>
                </a:lnTo>
                <a:lnTo>
                  <a:pt x="0" y="8971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59" t="-533" r="-4464" b="-360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08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03072" y="294080"/>
            <a:ext cx="3709655" cy="1376362"/>
            <a:chOff x="0" y="0"/>
            <a:chExt cx="4946207" cy="1835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46207" cy="1835150"/>
            </a:xfrm>
            <a:custGeom>
              <a:avLst/>
              <a:gdLst/>
              <a:ahLst/>
              <a:cxnLst/>
              <a:rect r="r" b="b" t="t" l="l"/>
              <a:pathLst>
                <a:path h="1835150" w="4946207">
                  <a:moveTo>
                    <a:pt x="0" y="0"/>
                  </a:moveTo>
                  <a:lnTo>
                    <a:pt x="4946207" y="0"/>
                  </a:lnTo>
                  <a:lnTo>
                    <a:pt x="4946207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302" r="-325198" b="-1733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4946207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9025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230991" y="5567118"/>
            <a:ext cx="11587608" cy="3616768"/>
          </a:xfrm>
          <a:custGeom>
            <a:avLst/>
            <a:gdLst/>
            <a:ahLst/>
            <a:cxnLst/>
            <a:rect r="r" b="b" t="t" l="l"/>
            <a:pathLst>
              <a:path h="3616768" w="11587608">
                <a:moveTo>
                  <a:pt x="0" y="0"/>
                </a:moveTo>
                <a:lnTo>
                  <a:pt x="11587608" y="0"/>
                </a:lnTo>
                <a:lnTo>
                  <a:pt x="11587608" y="3616769"/>
                </a:lnTo>
                <a:lnTo>
                  <a:pt x="0" y="3616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31703" y="0"/>
            <a:ext cx="8224594" cy="5300500"/>
          </a:xfrm>
          <a:custGeom>
            <a:avLst/>
            <a:gdLst/>
            <a:ahLst/>
            <a:cxnLst/>
            <a:rect r="r" b="b" t="t" l="l"/>
            <a:pathLst>
              <a:path h="5300500" w="8224594">
                <a:moveTo>
                  <a:pt x="0" y="0"/>
                </a:moveTo>
                <a:lnTo>
                  <a:pt x="8224594" y="0"/>
                </a:lnTo>
                <a:lnTo>
                  <a:pt x="8224594" y="5300500"/>
                </a:lnTo>
                <a:lnTo>
                  <a:pt x="0" y="530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09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6345124" y="-79025"/>
            <a:ext cx="15773400" cy="1376362"/>
            <a:chOff x="0" y="0"/>
            <a:chExt cx="21031200" cy="1835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282213" y="-116692"/>
            <a:ext cx="15773400" cy="1376362"/>
            <a:chOff x="0" y="0"/>
            <a:chExt cx="21031200" cy="1835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488909" y="142617"/>
            <a:ext cx="9499647" cy="8614993"/>
          </a:xfrm>
          <a:custGeom>
            <a:avLst/>
            <a:gdLst/>
            <a:ahLst/>
            <a:cxnLst/>
            <a:rect r="r" b="b" t="t" l="l"/>
            <a:pathLst>
              <a:path h="8614993" w="9499647">
                <a:moveTo>
                  <a:pt x="0" y="0"/>
                </a:moveTo>
                <a:lnTo>
                  <a:pt x="9499647" y="0"/>
                </a:lnTo>
                <a:lnTo>
                  <a:pt x="9499647" y="8614992"/>
                </a:lnTo>
                <a:lnTo>
                  <a:pt x="0" y="8614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3338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083966" y="0"/>
            <a:ext cx="15773400" cy="1376362"/>
            <a:chOff x="0" y="0"/>
            <a:chExt cx="21031200" cy="1835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746297" y="1246941"/>
            <a:ext cx="12316937" cy="2870473"/>
          </a:xfrm>
          <a:custGeom>
            <a:avLst/>
            <a:gdLst/>
            <a:ahLst/>
            <a:cxnLst/>
            <a:rect r="r" b="b" t="t" l="l"/>
            <a:pathLst>
              <a:path h="2870473" w="12316937">
                <a:moveTo>
                  <a:pt x="0" y="0"/>
                </a:moveTo>
                <a:lnTo>
                  <a:pt x="12316937" y="0"/>
                </a:lnTo>
                <a:lnTo>
                  <a:pt x="12316937" y="2870473"/>
                </a:lnTo>
                <a:lnTo>
                  <a:pt x="0" y="2870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12350" y="4418541"/>
            <a:ext cx="5580970" cy="4283186"/>
          </a:xfrm>
          <a:custGeom>
            <a:avLst/>
            <a:gdLst/>
            <a:ahLst/>
            <a:cxnLst/>
            <a:rect r="r" b="b" t="t" l="l"/>
            <a:pathLst>
              <a:path h="4283186" w="5580970">
                <a:moveTo>
                  <a:pt x="0" y="0"/>
                </a:moveTo>
                <a:lnTo>
                  <a:pt x="5580970" y="0"/>
                </a:lnTo>
                <a:lnTo>
                  <a:pt x="5580970" y="4283187"/>
                </a:lnTo>
                <a:lnTo>
                  <a:pt x="0" y="4283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04164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06136" y="0"/>
            <a:ext cx="15773400" cy="1376362"/>
            <a:chOff x="0" y="0"/>
            <a:chExt cx="21031200" cy="1835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391768" y="1246941"/>
            <a:ext cx="9889243" cy="7571452"/>
          </a:xfrm>
          <a:custGeom>
            <a:avLst/>
            <a:gdLst/>
            <a:ahLst/>
            <a:cxnLst/>
            <a:rect r="r" b="b" t="t" l="l"/>
            <a:pathLst>
              <a:path h="7571452" w="9889243">
                <a:moveTo>
                  <a:pt x="0" y="0"/>
                </a:moveTo>
                <a:lnTo>
                  <a:pt x="9889243" y="0"/>
                </a:lnTo>
                <a:lnTo>
                  <a:pt x="9889243" y="7571452"/>
                </a:lnTo>
                <a:lnTo>
                  <a:pt x="0" y="7571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889368" y="390671"/>
            <a:ext cx="14351709" cy="8611026"/>
          </a:xfrm>
          <a:custGeom>
            <a:avLst/>
            <a:gdLst/>
            <a:ahLst/>
            <a:cxnLst/>
            <a:rect r="r" b="b" t="t" l="l"/>
            <a:pathLst>
              <a:path h="8611026" w="14351709">
                <a:moveTo>
                  <a:pt x="0" y="0"/>
                </a:moveTo>
                <a:lnTo>
                  <a:pt x="14351709" y="0"/>
                </a:lnTo>
                <a:lnTo>
                  <a:pt x="14351709" y="8611025"/>
                </a:lnTo>
                <a:lnTo>
                  <a:pt x="0" y="8611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03072" y="294080"/>
            <a:ext cx="3709655" cy="1376362"/>
            <a:chOff x="0" y="0"/>
            <a:chExt cx="4946207" cy="1835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46207" cy="1835150"/>
            </a:xfrm>
            <a:custGeom>
              <a:avLst/>
              <a:gdLst/>
              <a:ahLst/>
              <a:cxnLst/>
              <a:rect r="r" b="b" t="t" l="l"/>
              <a:pathLst>
                <a:path h="1835150" w="4946207">
                  <a:moveTo>
                    <a:pt x="0" y="0"/>
                  </a:moveTo>
                  <a:lnTo>
                    <a:pt x="4946207" y="0"/>
                  </a:lnTo>
                  <a:lnTo>
                    <a:pt x="4946207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302" r="-325198" b="-1733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4946207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76730" y="392601"/>
            <a:ext cx="15180114" cy="8349063"/>
          </a:xfrm>
          <a:custGeom>
            <a:avLst/>
            <a:gdLst/>
            <a:ahLst/>
            <a:cxnLst/>
            <a:rect r="r" b="b" t="t" l="l"/>
            <a:pathLst>
              <a:path h="8349063" w="15180114">
                <a:moveTo>
                  <a:pt x="0" y="0"/>
                </a:moveTo>
                <a:lnTo>
                  <a:pt x="15180114" y="0"/>
                </a:lnTo>
                <a:lnTo>
                  <a:pt x="15180114" y="8349062"/>
                </a:lnTo>
                <a:lnTo>
                  <a:pt x="0" y="8349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03072" y="0"/>
            <a:ext cx="3709655" cy="1376362"/>
            <a:chOff x="0" y="0"/>
            <a:chExt cx="4946207" cy="1835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46207" cy="1835150"/>
            </a:xfrm>
            <a:custGeom>
              <a:avLst/>
              <a:gdLst/>
              <a:ahLst/>
              <a:cxnLst/>
              <a:rect r="r" b="b" t="t" l="l"/>
              <a:pathLst>
                <a:path h="1835150" w="4946207">
                  <a:moveTo>
                    <a:pt x="0" y="0"/>
                  </a:moveTo>
                  <a:lnTo>
                    <a:pt x="4946207" y="0"/>
                  </a:lnTo>
                  <a:lnTo>
                    <a:pt x="4946207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302" r="-325198" b="-1733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4946207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470408" y="281832"/>
            <a:ext cx="10329732" cy="8605958"/>
          </a:xfrm>
          <a:custGeom>
            <a:avLst/>
            <a:gdLst/>
            <a:ahLst/>
            <a:cxnLst/>
            <a:rect r="r" b="b" t="t" l="l"/>
            <a:pathLst>
              <a:path h="8605958" w="10329732">
                <a:moveTo>
                  <a:pt x="0" y="0"/>
                </a:moveTo>
                <a:lnTo>
                  <a:pt x="10329731" y="0"/>
                </a:lnTo>
                <a:lnTo>
                  <a:pt x="10329731" y="8605958"/>
                </a:lnTo>
                <a:lnTo>
                  <a:pt x="0" y="8605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03072" y="294080"/>
            <a:ext cx="3709655" cy="1376362"/>
            <a:chOff x="0" y="0"/>
            <a:chExt cx="4946207" cy="1835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46207" cy="1835150"/>
            </a:xfrm>
            <a:custGeom>
              <a:avLst/>
              <a:gdLst/>
              <a:ahLst/>
              <a:cxnLst/>
              <a:rect r="r" b="b" t="t" l="l"/>
              <a:pathLst>
                <a:path h="1835150" w="4946207">
                  <a:moveTo>
                    <a:pt x="0" y="0"/>
                  </a:moveTo>
                  <a:lnTo>
                    <a:pt x="4946207" y="0"/>
                  </a:lnTo>
                  <a:lnTo>
                    <a:pt x="4946207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302" r="-325198" b="-1733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4946207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3876" y="1263034"/>
            <a:ext cx="15680249" cy="7760931"/>
          </a:xfrm>
          <a:custGeom>
            <a:avLst/>
            <a:gdLst/>
            <a:ahLst/>
            <a:cxnLst/>
            <a:rect r="r" b="b" t="t" l="l"/>
            <a:pathLst>
              <a:path h="7760931" w="15680249">
                <a:moveTo>
                  <a:pt x="0" y="0"/>
                </a:moveTo>
                <a:lnTo>
                  <a:pt x="15680248" y="0"/>
                </a:lnTo>
                <a:lnTo>
                  <a:pt x="15680248" y="7760932"/>
                </a:lnTo>
                <a:lnTo>
                  <a:pt x="0" y="7760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2174" y="141605"/>
            <a:ext cx="236612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26727" y="95945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65860" y="340519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Upcoming Week Targets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65860" y="1846468"/>
            <a:ext cx="16346627" cy="6190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4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tend the data ingestion and preprocessing pipeline with feature extraction, normalization, and timestamp synchronization.</a:t>
            </a:r>
          </a:p>
          <a:p>
            <a:pPr algn="just" marL="690881" indent="-345440" lvl="1">
              <a:lnSpc>
                <a:spcPts val="444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the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the Contextual Intelligence Engine (Layer 3A)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clud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 contextual a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lys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behavioral profiling, and risk assessment.</a:t>
            </a:r>
          </a:p>
          <a:p>
            <a:pPr algn="just" marL="690881" indent="-345440" lvl="1">
              <a:lnSpc>
                <a:spcPts val="444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dv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Adaptive Graph Intelligence Engine (Layer 3B) t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ugh Temporal Knowledge Graph and Network Provenance Graph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nst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on.</a:t>
            </a:r>
          </a:p>
          <a:p>
            <a:pPr algn="just" marL="690881" indent="-345440" lvl="1">
              <a:lnSpc>
                <a:spcPts val="444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graph-based attack reconstruction and temporal event correlation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i-s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reat anal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</a:t>
            </a:r>
          </a:p>
          <a:p>
            <a:pPr algn="just" marL="690881" indent="-345440" lvl="1">
              <a:lnSpc>
                <a:spcPts val="444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and refin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the outputs of Layers 3A and 3B using the selected Industrial IoT datasets.</a:t>
            </a:r>
          </a:p>
          <a:p>
            <a:pPr algn="just" marL="690881" indent="-345440" lvl="1">
              <a:lnSpc>
                <a:spcPts val="444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Initiate the integration of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3A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3B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blis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t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for the Graph-Aware Multi-Agent Intelligence framework.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0614" y="576832"/>
            <a:ext cx="305157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3"/>
              </a:lnSpc>
              <a:spcBef>
                <a:spcPct val="0"/>
              </a:spcBef>
            </a:pPr>
            <a:r>
              <a:rPr lang="en-US" b="true" sz="50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8466" y="2226444"/>
            <a:ext cx="16295868" cy="365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essfully established the implementation foundation for the proposed CORTEX framework.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Initiated the initial setup, dataset preparation, and preprocessing workflow.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Initiated the development of the Contextual Intelligence (Layer 3A) and Adaptive Graph Intelligence (Layer 3B) modules.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is well-positioned to advance toward core module implementation and integration in the upcoming development phase.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60958" y="385444"/>
            <a:ext cx="296608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3"/>
              </a:lnSpc>
              <a:spcBef>
                <a:spcPct val="0"/>
              </a:spcBef>
            </a:pPr>
            <a:r>
              <a:rPr lang="en-US" b="true" sz="50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5034" y="1226188"/>
            <a:ext cx="14770579" cy="772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A. Alsaedi, N. Moustafa, Z. Tari, A. Mahmood, and A. Anwar, "TON_IoT Telemetry Dataset: A New Generation Dataset of IoT and IIoT for Data-Driven Intrusion Detection Systems," IEEE Access, vol. 8, pp. 165130–165150, 2020.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M. A. Ferrag, O. Friha, D. Hamouda, L. Maglaras, and H. Janicke, "Edge-IIoTset: A New Comprehensive Realistic Cyber Security Dataset of IoT and IIoT Applications for Centralized and Federated Learning," IEEE Access, vol. 10, pp. 40281–40306, 2022.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P. Empl and G. Pernul, "Digital-Twin-Based Security Analytics for the Internet of Things," Information, vol. 14, no. 2, Art. no. 95, 2023.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G. Daniel et al., "Concept Drift Under Harsh Constraints: A Review of Potential Strategies for IoT Systems," IEEE Access, 2025.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Canadian Institute for Cybersecurity (CIC), University of New Brunswick, "CICAPT-IIoT: A Provenance-Based APT Attack Dataset for IIoT Environment," 2024.</a:t>
            </a:r>
          </a:p>
          <a:p>
            <a:pPr algn="l">
              <a:lnSpc>
                <a:spcPts val="435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Canadian Institute for Cybersecurity (CIC), University of New Brunswick, "CICIoT2023 Dataset," 2023.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10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343013" y="2535860"/>
            <a:ext cx="4979963" cy="4114800"/>
          </a:xfrm>
          <a:custGeom>
            <a:avLst/>
            <a:gdLst/>
            <a:ahLst/>
            <a:cxnLst/>
            <a:rect r="r" b="b" t="t" l="l"/>
            <a:pathLst>
              <a:path h="4114800" w="4979963">
                <a:moveTo>
                  <a:pt x="0" y="0"/>
                </a:moveTo>
                <a:lnTo>
                  <a:pt x="4979963" y="0"/>
                </a:lnTo>
                <a:lnTo>
                  <a:pt x="49799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DAHQG7hNMxk</dc:identifier>
  <dcterms:modified xsi:type="dcterms:W3CDTF">2011-08-01T06:04:30Z</dcterms:modified>
  <cp:revision>1</cp:revision>
  <dc:title>Week-2</dc:title>
</cp:coreProperties>
</file>