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536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311543" y="1923640"/>
            <a:ext cx="5462270" cy="680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786620" y="2162810"/>
            <a:ext cx="6514465" cy="5959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536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536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9378" y="-176422"/>
            <a:ext cx="12857480" cy="2080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04964" y="2628958"/>
            <a:ext cx="9011919" cy="5969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5561626" y="9457244"/>
            <a:ext cx="1574164" cy="405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8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rxiv.org/abs/2512.12112" TargetMode="External"/><Relationship Id="rId3" Type="http://schemas.openxmlformats.org/officeDocument/2006/relationships/hyperlink" Target="https://doi.org/10.3390/info14020095" TargetMode="External"/><Relationship Id="rId4" Type="http://schemas.openxmlformats.org/officeDocument/2006/relationships/hyperlink" Target="https://arxiv.org/abs/2505.11542" TargetMode="External"/><Relationship Id="rId5" Type="http://schemas.openxmlformats.org/officeDocument/2006/relationships/hyperlink" Target="https://ieeexplore.ieee.org/document/11206138" TargetMode="External"/><Relationship Id="rId6" Type="http://schemas.openxmlformats.org/officeDocument/2006/relationships/hyperlink" Target="https://doi.org/10.1109/Trustcom66490.2025.00113" TargetMode="Externa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i.org/10.1109/ICTAACS69003.2025.11399321" TargetMode="External"/><Relationship Id="rId3" Type="http://schemas.openxmlformats.org/officeDocument/2006/relationships/hyperlink" Target="https://doi.org/10.1109/ACCESS.2025.3602681" TargetMode="External"/><Relationship Id="rId4" Type="http://schemas.openxmlformats.org/officeDocument/2006/relationships/hyperlink" Target="https://doi.org/10.1109/ISI65680.2025.11201135" TargetMode="Externa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24094" y="4479289"/>
            <a:ext cx="12043410" cy="220472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algn="just" marL="12700" marR="5080">
              <a:lnSpc>
                <a:spcPts val="5700"/>
              </a:lnSpc>
              <a:spcBef>
                <a:spcPts val="259"/>
              </a:spcBef>
            </a:pPr>
            <a:r>
              <a:rPr dirty="0" sz="4800">
                <a:solidFill>
                  <a:srgbClr val="FFFFFF"/>
                </a:solidFill>
                <a:latin typeface="Times New Roman"/>
                <a:cs typeface="Times New Roman"/>
              </a:rPr>
              <a:t>CORTEX:</a:t>
            </a:r>
            <a:r>
              <a:rPr dirty="0" sz="4800" spc="91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48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4800" spc="91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4800">
                <a:solidFill>
                  <a:srgbClr val="FFFFFF"/>
                </a:solidFill>
                <a:latin typeface="Times New Roman"/>
                <a:cs typeface="Times New Roman"/>
              </a:rPr>
              <a:t>Cognitive</a:t>
            </a:r>
            <a:r>
              <a:rPr dirty="0" sz="4800" spc="91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4800">
                <a:solidFill>
                  <a:srgbClr val="FFFFFF"/>
                </a:solidFill>
                <a:latin typeface="Times New Roman"/>
                <a:cs typeface="Times New Roman"/>
              </a:rPr>
              <a:t>Cyber</a:t>
            </a:r>
            <a:r>
              <a:rPr dirty="0" sz="4800" spc="91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4800" spc="-10">
                <a:solidFill>
                  <a:srgbClr val="FFFFFF"/>
                </a:solidFill>
                <a:latin typeface="Times New Roman"/>
                <a:cs typeface="Times New Roman"/>
              </a:rPr>
              <a:t>Intelligence </a:t>
            </a:r>
            <a:r>
              <a:rPr dirty="0" sz="4800">
                <a:solidFill>
                  <a:srgbClr val="FFFFFF"/>
                </a:solidFill>
                <a:latin typeface="Times New Roman"/>
                <a:cs typeface="Times New Roman"/>
              </a:rPr>
              <a:t>Architecture</a:t>
            </a:r>
            <a:r>
              <a:rPr dirty="0" sz="4800" spc="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8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4800" spc="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800">
                <a:solidFill>
                  <a:srgbClr val="FFFFFF"/>
                </a:solidFill>
                <a:latin typeface="Times New Roman"/>
                <a:cs typeface="Times New Roman"/>
              </a:rPr>
              <a:t>Mission-Critical</a:t>
            </a:r>
            <a:r>
              <a:rPr dirty="0" sz="4800" spc="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800" spc="-30">
                <a:solidFill>
                  <a:srgbClr val="FFFFFF"/>
                </a:solidFill>
                <a:latin typeface="Times New Roman"/>
                <a:cs typeface="Times New Roman"/>
              </a:rPr>
              <a:t>Smart-</a:t>
            </a:r>
            <a:r>
              <a:rPr dirty="0" sz="4800">
                <a:solidFill>
                  <a:srgbClr val="FFFFFF"/>
                </a:solidFill>
                <a:latin typeface="Times New Roman"/>
                <a:cs typeface="Times New Roman"/>
              </a:rPr>
              <a:t>City</a:t>
            </a:r>
            <a:r>
              <a:rPr dirty="0" sz="4800" spc="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800" spc="-25">
                <a:solidFill>
                  <a:srgbClr val="FFFFFF"/>
                </a:solidFill>
                <a:latin typeface="Times New Roman"/>
                <a:cs typeface="Times New Roman"/>
              </a:rPr>
              <a:t>IoT </a:t>
            </a:r>
            <a:r>
              <a:rPr dirty="0" sz="4800" spc="-10">
                <a:solidFill>
                  <a:srgbClr val="FFFFFF"/>
                </a:solidFill>
                <a:latin typeface="Times New Roman"/>
                <a:cs typeface="Times New Roman"/>
              </a:rPr>
              <a:t>Defense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2050" y="7147112"/>
            <a:ext cx="7607934" cy="2745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295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Team</a:t>
            </a:r>
            <a:r>
              <a:rPr dirty="0" sz="360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Times New Roman"/>
                <a:cs typeface="Times New Roman"/>
              </a:rPr>
              <a:t>members:</a:t>
            </a:r>
            <a:endParaRPr sz="3600">
              <a:latin typeface="Times New Roman"/>
              <a:cs typeface="Times New Roman"/>
            </a:endParaRPr>
          </a:p>
          <a:p>
            <a:pPr marL="12700" marR="81280">
              <a:lnSpc>
                <a:spcPts val="4280"/>
              </a:lnSpc>
              <a:spcBef>
                <a:spcPts val="150"/>
              </a:spcBef>
              <a:tabLst>
                <a:tab pos="1231265" algn="l"/>
              </a:tabLst>
            </a:pP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Lokpradeep</a:t>
            </a:r>
            <a:r>
              <a:rPr dirty="0" sz="3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 sz="3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Times New Roman"/>
                <a:cs typeface="Times New Roman"/>
              </a:rPr>
              <a:t>AM.SC.U4CYS23018 </a:t>
            </a:r>
            <a:r>
              <a:rPr dirty="0" sz="3600" spc="-20">
                <a:solidFill>
                  <a:srgbClr val="FFFFFF"/>
                </a:solidFill>
                <a:latin typeface="Times New Roman"/>
                <a:cs typeface="Times New Roman"/>
              </a:rPr>
              <a:t>Uday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	Ganesh</a:t>
            </a:r>
            <a:r>
              <a:rPr dirty="0" sz="3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 sz="3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Times New Roman"/>
                <a:cs typeface="Times New Roman"/>
              </a:rPr>
              <a:t>AM.SC.U4CYS23019 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Sri</a:t>
            </a:r>
            <a:r>
              <a:rPr dirty="0" sz="3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charan</a:t>
            </a:r>
            <a:r>
              <a:rPr dirty="0" sz="3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 sz="3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Times New Roman"/>
                <a:cs typeface="Times New Roman"/>
              </a:rPr>
              <a:t>AM.SC.U4CYS23029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ts val="4130"/>
              </a:lnSpc>
              <a:tabLst>
                <a:tab pos="3478529" algn="l"/>
              </a:tabLst>
            </a:pP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Akshara</a:t>
            </a:r>
            <a:r>
              <a:rPr dirty="0" sz="3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Kruti</a:t>
            </a:r>
            <a:r>
              <a:rPr dirty="0" sz="3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5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3600" spc="-10">
                <a:solidFill>
                  <a:srgbClr val="FFFFFF"/>
                </a:solidFill>
                <a:latin typeface="Times New Roman"/>
                <a:cs typeface="Times New Roman"/>
              </a:rPr>
              <a:t>AM.SC.U4CYS23035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54357" y="8504425"/>
            <a:ext cx="7593965" cy="1116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295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Guide</a:t>
            </a:r>
            <a:r>
              <a:rPr dirty="0" sz="3600" spc="-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Times New Roman"/>
                <a:cs typeface="Times New Roman"/>
              </a:rPr>
              <a:t>Name: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ts val="4300"/>
              </a:lnSpc>
            </a:pP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Dr.</a:t>
            </a:r>
            <a:r>
              <a:rPr dirty="0" sz="3600" spc="-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Kurunandan</a:t>
            </a:r>
            <a:r>
              <a:rPr dirty="0" sz="3600" spc="-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Jain,</a:t>
            </a:r>
            <a:r>
              <a:rPr dirty="0" sz="3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FFFFFF"/>
                </a:solidFill>
                <a:latin typeface="Times New Roman"/>
                <a:cs typeface="Times New Roman"/>
              </a:rPr>
              <a:t>Assistant</a:t>
            </a:r>
            <a:r>
              <a:rPr dirty="0" sz="3600" spc="-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Times New Roman"/>
                <a:cs typeface="Times New Roman"/>
              </a:rPr>
              <a:t>Professor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5366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8905" rIns="0" bIns="0" rtlCol="0" vert="horz">
            <a:spAutoFit/>
          </a:bodyPr>
          <a:lstStyle/>
          <a:p>
            <a:pPr marL="613410" indent="-600710">
              <a:lnSpc>
                <a:spcPct val="100000"/>
              </a:lnSpc>
              <a:spcBef>
                <a:spcPts val="1015"/>
              </a:spcBef>
              <a:buSzPct val="98958"/>
              <a:buFont typeface="Calibri"/>
              <a:buAutoNum type="arabicPeriod"/>
              <a:tabLst>
                <a:tab pos="613410" algn="l"/>
              </a:tabLst>
            </a:pPr>
            <a:r>
              <a:rPr dirty="0" spc="-10"/>
              <a:t>Overview</a:t>
            </a:r>
          </a:p>
          <a:p>
            <a:pPr marL="613410" indent="-600710">
              <a:lnSpc>
                <a:spcPct val="100000"/>
              </a:lnSpc>
              <a:spcBef>
                <a:spcPts val="915"/>
              </a:spcBef>
              <a:buSzPct val="98958"/>
              <a:buAutoNum type="arabicPeriod"/>
              <a:tabLst>
                <a:tab pos="613410" algn="l"/>
              </a:tabLst>
            </a:pPr>
            <a:r>
              <a:rPr dirty="0" spc="-10"/>
              <a:t>Introduction</a:t>
            </a:r>
          </a:p>
          <a:p>
            <a:pPr marL="613410" indent="-600710">
              <a:lnSpc>
                <a:spcPct val="100000"/>
              </a:lnSpc>
              <a:spcBef>
                <a:spcPts val="915"/>
              </a:spcBef>
              <a:buSzPct val="98958"/>
              <a:buAutoNum type="arabicPeriod"/>
              <a:tabLst>
                <a:tab pos="613410" algn="l"/>
              </a:tabLst>
            </a:pPr>
            <a:r>
              <a:rPr dirty="0" spc="-10"/>
              <a:t>Motivation</a:t>
            </a:r>
          </a:p>
          <a:p>
            <a:pPr marL="613410" indent="-600710">
              <a:lnSpc>
                <a:spcPct val="100000"/>
              </a:lnSpc>
              <a:spcBef>
                <a:spcPts val="915"/>
              </a:spcBef>
              <a:buSzPct val="98958"/>
              <a:buAutoNum type="arabicPeriod"/>
              <a:tabLst>
                <a:tab pos="613410" algn="l"/>
              </a:tabLst>
            </a:pPr>
            <a:r>
              <a:rPr dirty="0"/>
              <a:t>Problem</a:t>
            </a:r>
            <a:r>
              <a:rPr dirty="0" spc="-170"/>
              <a:t> </a:t>
            </a:r>
            <a:r>
              <a:rPr dirty="0" spc="-10"/>
              <a:t>Statement</a:t>
            </a:r>
          </a:p>
          <a:p>
            <a:pPr marL="613410" indent="-600710">
              <a:lnSpc>
                <a:spcPct val="100000"/>
              </a:lnSpc>
              <a:spcBef>
                <a:spcPts val="915"/>
              </a:spcBef>
              <a:buSzPct val="98958"/>
              <a:buAutoNum type="arabicPeriod"/>
              <a:tabLst>
                <a:tab pos="613410" algn="l"/>
              </a:tabLst>
            </a:pPr>
            <a:r>
              <a:rPr dirty="0"/>
              <a:t>Project</a:t>
            </a:r>
            <a:r>
              <a:rPr dirty="0" spc="-140"/>
              <a:t> </a:t>
            </a:r>
            <a:r>
              <a:rPr dirty="0" spc="-10"/>
              <a:t>Vision</a:t>
            </a:r>
          </a:p>
          <a:p>
            <a:pPr marL="613410" indent="-600710">
              <a:lnSpc>
                <a:spcPct val="100000"/>
              </a:lnSpc>
              <a:spcBef>
                <a:spcPts val="915"/>
              </a:spcBef>
              <a:buSzPct val="98958"/>
              <a:buAutoNum type="arabicPeriod"/>
              <a:tabLst>
                <a:tab pos="613410" algn="l"/>
              </a:tabLst>
            </a:pPr>
            <a:r>
              <a:rPr dirty="0"/>
              <a:t>Literature</a:t>
            </a:r>
            <a:r>
              <a:rPr dirty="0" spc="-195"/>
              <a:t> </a:t>
            </a:r>
            <a:r>
              <a:rPr dirty="0" spc="-10"/>
              <a:t>Review</a:t>
            </a:r>
          </a:p>
          <a:p>
            <a:pPr marL="613410" indent="-600710">
              <a:lnSpc>
                <a:spcPct val="100000"/>
              </a:lnSpc>
              <a:spcBef>
                <a:spcPts val="915"/>
              </a:spcBef>
              <a:buSzPct val="98958"/>
              <a:buAutoNum type="arabicPeriod"/>
              <a:tabLst>
                <a:tab pos="613410" algn="l"/>
              </a:tabLst>
            </a:pPr>
            <a:r>
              <a:rPr dirty="0"/>
              <a:t>Gap </a:t>
            </a:r>
            <a:r>
              <a:rPr dirty="0" spc="-10"/>
              <a:t>Analysis</a:t>
            </a:r>
          </a:p>
          <a:p>
            <a:pPr marL="474980" indent="-471170">
              <a:lnSpc>
                <a:spcPct val="100000"/>
              </a:lnSpc>
              <a:spcBef>
                <a:spcPts val="915"/>
              </a:spcBef>
              <a:buSzPct val="98958"/>
              <a:buAutoNum type="arabicPeriod"/>
              <a:tabLst>
                <a:tab pos="474980" algn="l"/>
              </a:tabLst>
            </a:pPr>
            <a:r>
              <a:rPr dirty="0"/>
              <a:t>Threat</a:t>
            </a:r>
            <a:r>
              <a:rPr dirty="0" spc="-130"/>
              <a:t> </a:t>
            </a:r>
            <a:r>
              <a:rPr dirty="0" spc="-10"/>
              <a:t>model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561626" y="9457244"/>
            <a:ext cx="1216025" cy="405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 sz="2700">
                <a:solidFill>
                  <a:srgbClr val="FFFFFF"/>
                </a:solidFill>
                <a:latin typeface="Times New Roman"/>
                <a:cs typeface="Times New Roman"/>
              </a:rPr>
              <a:t>Page:</a:t>
            </a:r>
            <a:r>
              <a:rPr dirty="0" sz="27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700" spc="-25">
                <a:solidFill>
                  <a:srgbClr val="FFFFFF"/>
                </a:solidFill>
                <a:latin typeface="Times New Roman"/>
                <a:cs typeface="Times New Roman"/>
              </a:rPr>
              <a:t>01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7934" rIns="0" bIns="0" rtlCol="0" vert="horz">
            <a:spAutoFit/>
          </a:bodyPr>
          <a:lstStyle/>
          <a:p>
            <a:pPr marL="557593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CONTENTS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8905" rIns="0" bIns="0" rtlCol="0" vert="horz">
            <a:spAutoFit/>
          </a:bodyPr>
          <a:lstStyle/>
          <a:p>
            <a:pPr marL="613410" indent="-600710">
              <a:lnSpc>
                <a:spcPct val="100000"/>
              </a:lnSpc>
              <a:spcBef>
                <a:spcPts val="1015"/>
              </a:spcBef>
              <a:buAutoNum type="arabicPeriod" startAt="9"/>
              <a:tabLst>
                <a:tab pos="613410" algn="l"/>
              </a:tabLst>
            </a:pPr>
            <a:r>
              <a:rPr dirty="0" spc="-10"/>
              <a:t>Methodology</a:t>
            </a:r>
          </a:p>
          <a:p>
            <a:pPr marL="922019" indent="-909319">
              <a:lnSpc>
                <a:spcPct val="100000"/>
              </a:lnSpc>
              <a:spcBef>
                <a:spcPts val="915"/>
              </a:spcBef>
              <a:buAutoNum type="arabicPeriod" startAt="9"/>
              <a:tabLst>
                <a:tab pos="922019" algn="l"/>
              </a:tabLst>
            </a:pPr>
            <a:r>
              <a:rPr dirty="0" spc="-10"/>
              <a:t>Challenges</a:t>
            </a:r>
          </a:p>
          <a:p>
            <a:pPr marL="922019" indent="-909319">
              <a:lnSpc>
                <a:spcPct val="100000"/>
              </a:lnSpc>
              <a:spcBef>
                <a:spcPts val="915"/>
              </a:spcBef>
              <a:buAutoNum type="arabicPeriod" startAt="9"/>
              <a:tabLst>
                <a:tab pos="922019" algn="l"/>
              </a:tabLst>
            </a:pPr>
            <a:r>
              <a:rPr dirty="0"/>
              <a:t>Proposed</a:t>
            </a:r>
            <a:r>
              <a:rPr dirty="0" spc="-190"/>
              <a:t> </a:t>
            </a:r>
            <a:r>
              <a:rPr dirty="0" spc="-10"/>
              <a:t>Architecture</a:t>
            </a:r>
          </a:p>
          <a:p>
            <a:pPr marL="922019" indent="-909319">
              <a:lnSpc>
                <a:spcPct val="100000"/>
              </a:lnSpc>
              <a:spcBef>
                <a:spcPts val="915"/>
              </a:spcBef>
              <a:buAutoNum type="arabicPeriod" startAt="9"/>
              <a:tabLst>
                <a:tab pos="922019" algn="l"/>
              </a:tabLst>
            </a:pPr>
            <a:r>
              <a:rPr dirty="0" spc="-10"/>
              <a:t>Novelty</a:t>
            </a:r>
          </a:p>
          <a:p>
            <a:pPr marL="922019" indent="-909319">
              <a:lnSpc>
                <a:spcPct val="100000"/>
              </a:lnSpc>
              <a:spcBef>
                <a:spcPts val="915"/>
              </a:spcBef>
              <a:buAutoNum type="arabicPeriod" startAt="9"/>
              <a:tabLst>
                <a:tab pos="922019" algn="l"/>
              </a:tabLst>
            </a:pPr>
            <a:r>
              <a:rPr dirty="0"/>
              <a:t>Road</a:t>
            </a:r>
            <a:r>
              <a:rPr dirty="0" spc="-100"/>
              <a:t> </a:t>
            </a:r>
            <a:r>
              <a:rPr dirty="0" spc="-25"/>
              <a:t>Map</a:t>
            </a:r>
          </a:p>
          <a:p>
            <a:pPr marL="922019" indent="-909319">
              <a:lnSpc>
                <a:spcPct val="100000"/>
              </a:lnSpc>
              <a:spcBef>
                <a:spcPts val="915"/>
              </a:spcBef>
              <a:buAutoNum type="arabicPeriod" startAt="9"/>
              <a:tabLst>
                <a:tab pos="922019" algn="l"/>
              </a:tabLst>
            </a:pPr>
            <a:r>
              <a:rPr dirty="0" spc="-10"/>
              <a:t>Conclusion</a:t>
            </a:r>
          </a:p>
          <a:p>
            <a:pPr marL="922019" indent="-909319">
              <a:lnSpc>
                <a:spcPct val="100000"/>
              </a:lnSpc>
              <a:spcBef>
                <a:spcPts val="915"/>
              </a:spcBef>
              <a:buAutoNum type="arabicPeriod" startAt="9"/>
              <a:tabLst>
                <a:tab pos="922019" algn="l"/>
              </a:tabLst>
            </a:pPr>
            <a:r>
              <a:rPr dirty="0" spc="-1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53980"/>
            <a:chOff x="0" y="0"/>
            <a:chExt cx="18288000" cy="1025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7928" y="2651774"/>
              <a:ext cx="133349" cy="1333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7928" y="3794774"/>
              <a:ext cx="133349" cy="1333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7928" y="4937774"/>
              <a:ext cx="133349" cy="1333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77928" y="5509274"/>
              <a:ext cx="133349" cy="1333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77928" y="6652273"/>
              <a:ext cx="133349" cy="1333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296668" y="2305699"/>
            <a:ext cx="15076805" cy="523748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 marR="605155">
              <a:lnSpc>
                <a:spcPts val="4500"/>
              </a:lnSpc>
              <a:spcBef>
                <a:spcPts val="700"/>
              </a:spcBef>
            </a:pPr>
            <a:r>
              <a:rPr dirty="0" sz="4200">
                <a:latin typeface="Calibri"/>
                <a:cs typeface="Calibri"/>
              </a:rPr>
              <a:t>Develop</a:t>
            </a:r>
            <a:r>
              <a:rPr dirty="0" sz="4200" spc="-10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a</a:t>
            </a:r>
            <a:r>
              <a:rPr dirty="0" sz="4200" spc="-10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cognitive</a:t>
            </a:r>
            <a:r>
              <a:rPr dirty="0" sz="4200" spc="-10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cyber</a:t>
            </a:r>
            <a:r>
              <a:rPr dirty="0" sz="4200" spc="-10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defense</a:t>
            </a:r>
            <a:r>
              <a:rPr dirty="0" sz="4200" spc="-10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Architecture</a:t>
            </a:r>
            <a:r>
              <a:rPr dirty="0" sz="4200" spc="-10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for</a:t>
            </a:r>
            <a:r>
              <a:rPr dirty="0" sz="4200" spc="-10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Mission-</a:t>
            </a:r>
            <a:r>
              <a:rPr dirty="0" sz="4200" spc="-10">
                <a:latin typeface="Calibri"/>
                <a:cs typeface="Calibri"/>
              </a:rPr>
              <a:t>Critical </a:t>
            </a:r>
            <a:r>
              <a:rPr dirty="0" sz="4200">
                <a:latin typeface="Calibri"/>
                <a:cs typeface="Calibri"/>
              </a:rPr>
              <a:t>Smart-City </a:t>
            </a:r>
            <a:r>
              <a:rPr dirty="0" sz="4200" spc="-20">
                <a:latin typeface="Calibri"/>
                <a:cs typeface="Calibri"/>
              </a:rPr>
              <a:t>IoT.</a:t>
            </a:r>
            <a:endParaRPr sz="4200">
              <a:latin typeface="Calibri"/>
              <a:cs typeface="Calibri"/>
            </a:endParaRPr>
          </a:p>
          <a:p>
            <a:pPr marL="12700" marR="2097405">
              <a:lnSpc>
                <a:spcPts val="4500"/>
              </a:lnSpc>
            </a:pPr>
            <a:r>
              <a:rPr dirty="0" sz="4200">
                <a:latin typeface="Calibri"/>
                <a:cs typeface="Calibri"/>
              </a:rPr>
              <a:t>Integrate</a:t>
            </a:r>
            <a:r>
              <a:rPr dirty="0" sz="4200" spc="-11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Semantic</a:t>
            </a:r>
            <a:r>
              <a:rPr dirty="0" sz="4200" spc="-11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Intelligence,</a:t>
            </a:r>
            <a:r>
              <a:rPr dirty="0" sz="4200" spc="-11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Behavioral</a:t>
            </a:r>
            <a:r>
              <a:rPr dirty="0" sz="4200" spc="-11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Analytics,</a:t>
            </a:r>
            <a:r>
              <a:rPr dirty="0" sz="4200" spc="-110">
                <a:latin typeface="Calibri"/>
                <a:cs typeface="Calibri"/>
              </a:rPr>
              <a:t> </a:t>
            </a:r>
            <a:r>
              <a:rPr dirty="0" sz="4200" spc="-10">
                <a:latin typeface="Calibri"/>
                <a:cs typeface="Calibri"/>
              </a:rPr>
              <a:t>Graph </a:t>
            </a:r>
            <a:r>
              <a:rPr dirty="0" sz="4200">
                <a:latin typeface="Calibri"/>
                <a:cs typeface="Calibri"/>
              </a:rPr>
              <a:t>Intelligence,</a:t>
            </a:r>
            <a:r>
              <a:rPr dirty="0" sz="4200" spc="-11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and</a:t>
            </a:r>
            <a:r>
              <a:rPr dirty="0" sz="4200" spc="-110">
                <a:latin typeface="Calibri"/>
                <a:cs typeface="Calibri"/>
              </a:rPr>
              <a:t> </a:t>
            </a:r>
            <a:r>
              <a:rPr dirty="0" sz="4200" spc="-25">
                <a:latin typeface="Calibri"/>
                <a:cs typeface="Calibri"/>
              </a:rPr>
              <a:t>Multi-</a:t>
            </a:r>
            <a:r>
              <a:rPr dirty="0" sz="4200">
                <a:latin typeface="Calibri"/>
                <a:cs typeface="Calibri"/>
              </a:rPr>
              <a:t>Agent</a:t>
            </a:r>
            <a:r>
              <a:rPr dirty="0" sz="4200" spc="-110">
                <a:latin typeface="Calibri"/>
                <a:cs typeface="Calibri"/>
              </a:rPr>
              <a:t> </a:t>
            </a:r>
            <a:r>
              <a:rPr dirty="0" sz="4200" spc="-25">
                <a:latin typeface="Calibri"/>
                <a:cs typeface="Calibri"/>
              </a:rPr>
              <a:t>AI.</a:t>
            </a:r>
            <a:endParaRPr sz="4200">
              <a:latin typeface="Calibri"/>
              <a:cs typeface="Calibri"/>
            </a:endParaRPr>
          </a:p>
          <a:p>
            <a:pPr algn="just" marL="12700" marR="5080">
              <a:lnSpc>
                <a:spcPts val="4500"/>
              </a:lnSpc>
            </a:pPr>
            <a:r>
              <a:rPr dirty="0" sz="4200">
                <a:latin typeface="Calibri"/>
                <a:cs typeface="Calibri"/>
              </a:rPr>
              <a:t>Introduce</a:t>
            </a:r>
            <a:r>
              <a:rPr dirty="0" sz="4200" spc="-8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a</a:t>
            </a:r>
            <a:r>
              <a:rPr dirty="0" sz="4200" spc="-8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Confidence</a:t>
            </a:r>
            <a:r>
              <a:rPr dirty="0" sz="4200" spc="-8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Fusion</a:t>
            </a:r>
            <a:r>
              <a:rPr dirty="0" sz="4200" spc="-8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Engine</a:t>
            </a:r>
            <a:r>
              <a:rPr dirty="0" sz="4200" spc="-8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for</a:t>
            </a:r>
            <a:r>
              <a:rPr dirty="0" sz="4200" spc="-8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reliable</a:t>
            </a:r>
            <a:r>
              <a:rPr dirty="0" sz="4200" spc="-8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threat</a:t>
            </a:r>
            <a:r>
              <a:rPr dirty="0" sz="4200" spc="-85">
                <a:latin typeface="Calibri"/>
                <a:cs typeface="Calibri"/>
              </a:rPr>
              <a:t> </a:t>
            </a:r>
            <a:r>
              <a:rPr dirty="0" sz="4200" spc="-10">
                <a:latin typeface="Calibri"/>
                <a:cs typeface="Calibri"/>
              </a:rPr>
              <a:t>assessment. </a:t>
            </a:r>
            <a:r>
              <a:rPr dirty="0" sz="4200">
                <a:latin typeface="Calibri"/>
                <a:cs typeface="Calibri"/>
              </a:rPr>
              <a:t>Enable</a:t>
            </a:r>
            <a:r>
              <a:rPr dirty="0" sz="4200" spc="-75">
                <a:latin typeface="Calibri"/>
                <a:cs typeface="Calibri"/>
              </a:rPr>
              <a:t> </a:t>
            </a:r>
            <a:r>
              <a:rPr dirty="0" sz="4200" spc="-25">
                <a:latin typeface="Calibri"/>
                <a:cs typeface="Calibri"/>
              </a:rPr>
              <a:t>Context-</a:t>
            </a:r>
            <a:r>
              <a:rPr dirty="0" sz="4200">
                <a:latin typeface="Calibri"/>
                <a:cs typeface="Calibri"/>
              </a:rPr>
              <a:t>Aware</a:t>
            </a:r>
            <a:r>
              <a:rPr dirty="0" sz="4200" spc="-7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Autonomous</a:t>
            </a:r>
            <a:r>
              <a:rPr dirty="0" sz="4200" spc="-7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Response</a:t>
            </a:r>
            <a:r>
              <a:rPr dirty="0" sz="4200" spc="-7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and</a:t>
            </a:r>
            <a:r>
              <a:rPr dirty="0" sz="4200" spc="-7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Explainable</a:t>
            </a:r>
            <a:r>
              <a:rPr dirty="0" sz="4200" spc="-75">
                <a:latin typeface="Calibri"/>
                <a:cs typeface="Calibri"/>
              </a:rPr>
              <a:t> </a:t>
            </a:r>
            <a:r>
              <a:rPr dirty="0" sz="4200" spc="-10">
                <a:latin typeface="Calibri"/>
                <a:cs typeface="Calibri"/>
              </a:rPr>
              <a:t>Threat Intelligence.</a:t>
            </a:r>
            <a:endParaRPr sz="4200">
              <a:latin typeface="Calibri"/>
              <a:cs typeface="Calibri"/>
            </a:endParaRPr>
          </a:p>
          <a:p>
            <a:pPr algn="just" marL="12700" marR="1381125">
              <a:lnSpc>
                <a:spcPts val="4500"/>
              </a:lnSpc>
            </a:pPr>
            <a:r>
              <a:rPr dirty="0" sz="4200">
                <a:latin typeface="Calibri"/>
                <a:cs typeface="Calibri"/>
              </a:rPr>
              <a:t>Improve</a:t>
            </a:r>
            <a:r>
              <a:rPr dirty="0" sz="4200" spc="-12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accuracy,</a:t>
            </a:r>
            <a:r>
              <a:rPr dirty="0" sz="4200" spc="-12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context</a:t>
            </a:r>
            <a:r>
              <a:rPr dirty="0" sz="4200" spc="-12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awareness,</a:t>
            </a:r>
            <a:r>
              <a:rPr dirty="0" sz="4200" spc="-120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explainability,</a:t>
            </a:r>
            <a:r>
              <a:rPr dirty="0" sz="4200" spc="-125">
                <a:latin typeface="Calibri"/>
                <a:cs typeface="Calibri"/>
              </a:rPr>
              <a:t> </a:t>
            </a:r>
            <a:r>
              <a:rPr dirty="0" sz="4200">
                <a:latin typeface="Calibri"/>
                <a:cs typeface="Calibri"/>
              </a:rPr>
              <a:t>and</a:t>
            </a:r>
            <a:r>
              <a:rPr dirty="0" sz="4200" spc="-120">
                <a:latin typeface="Calibri"/>
                <a:cs typeface="Calibri"/>
              </a:rPr>
              <a:t> </a:t>
            </a:r>
            <a:r>
              <a:rPr dirty="0" sz="4200" spc="-10">
                <a:latin typeface="Calibri"/>
                <a:cs typeface="Calibri"/>
              </a:rPr>
              <a:t>cyber resilience.</a:t>
            </a:r>
            <a:endParaRPr sz="4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61626" y="9457244"/>
            <a:ext cx="1216025" cy="405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 sz="2700">
                <a:solidFill>
                  <a:srgbClr val="FFFFFF"/>
                </a:solidFill>
                <a:latin typeface="Times New Roman"/>
                <a:cs typeface="Times New Roman"/>
              </a:rPr>
              <a:t>Page:</a:t>
            </a:r>
            <a:r>
              <a:rPr dirty="0" sz="27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700" spc="-25">
                <a:solidFill>
                  <a:srgbClr val="FFFFFF"/>
                </a:solidFill>
                <a:latin typeface="Times New Roman"/>
                <a:cs typeface="Times New Roman"/>
              </a:rPr>
              <a:t>02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4011" rIns="0" bIns="0" rtlCol="0" vert="horz">
            <a:spAutoFit/>
          </a:bodyPr>
          <a:lstStyle/>
          <a:p>
            <a:pPr marL="575818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883" y="0"/>
            <a:ext cx="18279110" cy="10253980"/>
            <a:chOff x="8883" y="0"/>
            <a:chExt cx="18279110" cy="1025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83" y="0"/>
              <a:ext cx="18279115" cy="102536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6403" y="2628899"/>
              <a:ext cx="104774" cy="1047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6403" y="3114674"/>
              <a:ext cx="104774" cy="1047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6403" y="3600449"/>
              <a:ext cx="104774" cy="10477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958468" y="2362263"/>
            <a:ext cx="3564890" cy="148463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00"/>
              </a:spcBef>
            </a:pPr>
            <a:r>
              <a:rPr dirty="0" sz="3200">
                <a:latin typeface="Calibri"/>
                <a:cs typeface="Calibri"/>
              </a:rPr>
              <a:t>Smart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Hospitals </a:t>
            </a:r>
            <a:r>
              <a:rPr dirty="0" sz="3200">
                <a:latin typeface="Calibri"/>
                <a:cs typeface="Calibri"/>
              </a:rPr>
              <a:t>Smart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Transportation </a:t>
            </a:r>
            <a:r>
              <a:rPr dirty="0" sz="3200">
                <a:latin typeface="Calibri"/>
                <a:cs typeface="Calibri"/>
              </a:rPr>
              <a:t>Smart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Grid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0525" rIns="0" bIns="0" rtlCol="0" vert="horz">
            <a:spAutoFit/>
          </a:bodyPr>
          <a:lstStyle/>
          <a:p>
            <a:pPr marL="4598035">
              <a:lnSpc>
                <a:spcPct val="100000"/>
              </a:lnSpc>
              <a:spcBef>
                <a:spcPts val="3075"/>
              </a:spcBef>
            </a:pPr>
            <a:r>
              <a:rPr dirty="0" spc="-10"/>
              <a:t>INTRODUCTION</a:t>
            </a: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dirty="0" sz="3200" spc="-25">
                <a:latin typeface="Calibri"/>
                <a:cs typeface="Calibri"/>
              </a:rPr>
              <a:t>Smart-</a:t>
            </a:r>
            <a:r>
              <a:rPr dirty="0" sz="3200">
                <a:latin typeface="Calibri"/>
                <a:cs typeface="Calibri"/>
              </a:rPr>
              <a:t>city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IoT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relies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on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interconnected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devices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generating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massive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telemetry.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378591" y="2608455"/>
            <a:ext cx="104775" cy="1076325"/>
            <a:chOff x="7378591" y="2608455"/>
            <a:chExt cx="104775" cy="107632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78591" y="2608455"/>
              <a:ext cx="104774" cy="1047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78591" y="3094230"/>
              <a:ext cx="104774" cy="1047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78591" y="3580005"/>
              <a:ext cx="104774" cy="10477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628126" y="2341819"/>
            <a:ext cx="5213350" cy="148463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1434465">
              <a:lnSpc>
                <a:spcPts val="3829"/>
              </a:lnSpc>
              <a:spcBef>
                <a:spcPts val="235"/>
              </a:spcBef>
            </a:pPr>
            <a:r>
              <a:rPr dirty="0" sz="3200">
                <a:latin typeface="Calibri"/>
                <a:cs typeface="Calibri"/>
              </a:rPr>
              <a:t>Industrial</a:t>
            </a:r>
            <a:r>
              <a:rPr dirty="0" sz="3200" spc="-15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IoT </a:t>
            </a:r>
            <a:r>
              <a:rPr dirty="0" sz="3200">
                <a:latin typeface="Calibri"/>
                <a:cs typeface="Calibri"/>
              </a:rPr>
              <a:t>Intelligent</a:t>
            </a:r>
            <a:r>
              <a:rPr dirty="0" sz="3200" spc="-1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Surveillance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695"/>
              </a:lnSpc>
            </a:pPr>
            <a:r>
              <a:rPr dirty="0" sz="3200">
                <a:latin typeface="Calibri"/>
                <a:cs typeface="Calibri"/>
              </a:rPr>
              <a:t>Emergency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Response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Networks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561626" y="9457244"/>
            <a:ext cx="1216025" cy="405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 sz="2700">
                <a:solidFill>
                  <a:srgbClr val="FFFFFF"/>
                </a:solidFill>
                <a:latin typeface="Times New Roman"/>
                <a:cs typeface="Times New Roman"/>
              </a:rPr>
              <a:t>Page:</a:t>
            </a:r>
            <a:r>
              <a:rPr dirty="0" sz="27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700" spc="-25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9378" y="4305363"/>
            <a:ext cx="15299690" cy="370522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201930">
              <a:lnSpc>
                <a:spcPts val="3820"/>
              </a:lnSpc>
              <a:spcBef>
                <a:spcPts val="240"/>
              </a:spcBef>
            </a:pP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dynamic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distributed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nature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these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cyber-</a:t>
            </a:r>
            <a:r>
              <a:rPr dirty="0" sz="3200">
                <a:latin typeface="Calibri"/>
                <a:cs typeface="Calibri"/>
              </a:rPr>
              <a:t>physical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systems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expands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attack </a:t>
            </a:r>
            <a:r>
              <a:rPr dirty="0" sz="3200">
                <a:latin typeface="Calibri"/>
                <a:cs typeface="Calibri"/>
              </a:rPr>
              <a:t>surface,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making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them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vulnerable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sophisticated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evolving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cyber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threats.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Conventional </a:t>
            </a:r>
            <a:r>
              <a:rPr dirty="0" sz="3200">
                <a:latin typeface="Calibri"/>
                <a:cs typeface="Calibri"/>
              </a:rPr>
              <a:t>security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solutions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often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analyze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telemetry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from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individual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sources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isolation,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limiting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their </a:t>
            </a:r>
            <a:r>
              <a:rPr dirty="0" sz="3200">
                <a:latin typeface="Calibri"/>
                <a:cs typeface="Calibri"/>
              </a:rPr>
              <a:t>ability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provide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comprehensive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situational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awareness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timely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threat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response.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ts val="3829"/>
              </a:lnSpc>
              <a:spcBef>
                <a:spcPts val="2165"/>
              </a:spcBef>
            </a:pPr>
            <a:r>
              <a:rPr dirty="0" sz="3200" b="1">
                <a:latin typeface="Calibri"/>
                <a:cs typeface="Calibri"/>
              </a:rPr>
              <a:t>Project</a:t>
            </a:r>
            <a:r>
              <a:rPr dirty="0" sz="3200" spc="-10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Goal:</a:t>
            </a:r>
            <a:r>
              <a:rPr dirty="0" sz="3200" spc="-100" b="1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Develop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integrated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cognitive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cyber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intelligence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architecture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capable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of </a:t>
            </a:r>
            <a:r>
              <a:rPr dirty="0" sz="3200">
                <a:latin typeface="Calibri"/>
                <a:cs typeface="Calibri"/>
              </a:rPr>
              <a:t>transforming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raw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IoT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telemetry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into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actionable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cyber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intelligence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for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autonomous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smart-city </a:t>
            </a:r>
            <a:r>
              <a:rPr dirty="0" sz="3200" spc="-10">
                <a:latin typeface="Calibri"/>
                <a:cs typeface="Calibri"/>
              </a:rPr>
              <a:t>defence.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54179" y="201612"/>
            <a:ext cx="5379720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13242" y="1574069"/>
            <a:ext cx="11416030" cy="1484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35"/>
              </a:lnSpc>
              <a:spcBef>
                <a:spcPts val="100"/>
              </a:spcBef>
            </a:pPr>
            <a:r>
              <a:rPr dirty="0" sz="3200">
                <a:latin typeface="Calibri"/>
                <a:cs typeface="Calibri"/>
              </a:rPr>
              <a:t>Current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IoT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Security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Systems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Are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Fragmented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ts val="3829"/>
              </a:lnSpc>
              <a:spcBef>
                <a:spcPts val="95"/>
              </a:spcBef>
            </a:pPr>
            <a:r>
              <a:rPr dirty="0" sz="3200">
                <a:latin typeface="Calibri"/>
                <a:cs typeface="Calibri"/>
              </a:rPr>
              <a:t>Existing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solutions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typically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perform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only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one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aspect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cyber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defense. Examples: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54567" y="3298031"/>
            <a:ext cx="5572125" cy="3505200"/>
            <a:chOff x="2254567" y="3298031"/>
            <a:chExt cx="5572125" cy="3505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4567" y="3298031"/>
              <a:ext cx="104774" cy="1047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4567" y="3783806"/>
              <a:ext cx="104774" cy="1047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4567" y="4269581"/>
              <a:ext cx="104774" cy="1047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4567" y="5726906"/>
              <a:ext cx="104774" cy="1047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4567" y="6212681"/>
              <a:ext cx="104774" cy="1047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4567" y="6698455"/>
              <a:ext cx="104774" cy="1047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1491" y="3298031"/>
              <a:ext cx="104774" cy="1047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1491" y="3783806"/>
              <a:ext cx="104774" cy="1047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1491" y="4269581"/>
              <a:ext cx="104774" cy="1047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1491" y="5730666"/>
              <a:ext cx="104774" cy="1047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1491" y="6216441"/>
              <a:ext cx="104774" cy="10477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504102" y="3031394"/>
            <a:ext cx="4666615" cy="148463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35"/>
              </a:spcBef>
            </a:pPr>
            <a:r>
              <a:rPr dirty="0" sz="3200">
                <a:latin typeface="Calibri"/>
                <a:cs typeface="Calibri"/>
              </a:rPr>
              <a:t>Intrusion</a:t>
            </a:r>
            <a:r>
              <a:rPr dirty="0" sz="3200" spc="-1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Detection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Systems </a:t>
            </a:r>
            <a:r>
              <a:rPr dirty="0" sz="3200" spc="-20">
                <a:latin typeface="Calibri"/>
                <a:cs typeface="Calibri"/>
              </a:rPr>
              <a:t>UEBA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695"/>
              </a:lnSpc>
            </a:pPr>
            <a:r>
              <a:rPr dirty="0" sz="3200">
                <a:latin typeface="Calibri"/>
                <a:cs typeface="Calibri"/>
              </a:rPr>
              <a:t>Knowledge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Graph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Analytics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561626" y="9457244"/>
            <a:ext cx="1216025" cy="405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 sz="2700">
                <a:solidFill>
                  <a:srgbClr val="FFFFFF"/>
                </a:solidFill>
                <a:latin typeface="Times New Roman"/>
                <a:cs typeface="Times New Roman"/>
              </a:rPr>
              <a:t>Page:</a:t>
            </a:r>
            <a:r>
              <a:rPr dirty="0" sz="27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700" spc="-25">
                <a:solidFill>
                  <a:srgbClr val="FFFFFF"/>
                </a:solidFill>
                <a:latin typeface="Times New Roman"/>
                <a:cs typeface="Times New Roman"/>
              </a:rPr>
              <a:t>04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13242" y="4488719"/>
            <a:ext cx="14224000" cy="99885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04"/>
              </a:spcBef>
            </a:pPr>
            <a:r>
              <a:rPr dirty="0" sz="3200">
                <a:latin typeface="Calibri"/>
                <a:cs typeface="Calibri"/>
              </a:rPr>
              <a:t>Each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module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independently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analyzes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telemetry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without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sharing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semantic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intelligence. </a:t>
            </a:r>
            <a:r>
              <a:rPr dirty="0" sz="3200">
                <a:latin typeface="Calibri"/>
                <a:cs typeface="Calibri"/>
              </a:rPr>
              <a:t>This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leads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04102" y="5460269"/>
            <a:ext cx="3444875" cy="148463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00"/>
              </a:spcBef>
            </a:pPr>
            <a:r>
              <a:rPr dirty="0" sz="3200">
                <a:latin typeface="Calibri"/>
                <a:cs typeface="Calibri"/>
              </a:rPr>
              <a:t>Duplicate</a:t>
            </a:r>
            <a:r>
              <a:rPr dirty="0" sz="3200" spc="-1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processing </a:t>
            </a:r>
            <a:r>
              <a:rPr dirty="0" sz="3200">
                <a:latin typeface="Calibri"/>
                <a:cs typeface="Calibri"/>
              </a:rPr>
              <a:t>High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false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positives </a:t>
            </a:r>
            <a:r>
              <a:rPr dirty="0" sz="3200">
                <a:latin typeface="Calibri"/>
                <a:cs typeface="Calibri"/>
              </a:rPr>
              <a:t>Poor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explainability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71026" y="3031394"/>
            <a:ext cx="4366895" cy="148463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00"/>
              </a:spcBef>
            </a:pPr>
            <a:r>
              <a:rPr dirty="0" sz="3200" spc="-10">
                <a:latin typeface="Calibri"/>
                <a:cs typeface="Calibri"/>
              </a:rPr>
              <a:t>AI-</a:t>
            </a:r>
            <a:r>
              <a:rPr dirty="0" sz="3200">
                <a:latin typeface="Calibri"/>
                <a:cs typeface="Calibri"/>
              </a:rPr>
              <a:t>Based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Threat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Detection </a:t>
            </a:r>
            <a:r>
              <a:rPr dirty="0" sz="3200">
                <a:latin typeface="Calibri"/>
                <a:cs typeface="Calibri"/>
              </a:rPr>
              <a:t>Digital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Forensics </a:t>
            </a:r>
            <a:r>
              <a:rPr dirty="0" sz="3200">
                <a:latin typeface="Calibri"/>
                <a:cs typeface="Calibri"/>
              </a:rPr>
              <a:t>Autonomous</a:t>
            </a:r>
            <a:r>
              <a:rPr dirty="0" sz="3200" spc="-1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Response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71026" y="5464029"/>
            <a:ext cx="4391025" cy="99885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04"/>
              </a:spcBef>
            </a:pPr>
            <a:r>
              <a:rPr dirty="0" sz="3200">
                <a:latin typeface="Calibri"/>
                <a:cs typeface="Calibri"/>
              </a:rPr>
              <a:t>Limited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attack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correlation </a:t>
            </a:r>
            <a:r>
              <a:rPr dirty="0" sz="3200">
                <a:latin typeface="Calibri"/>
                <a:cs typeface="Calibri"/>
              </a:rPr>
              <a:t>Delayed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incident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response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13242" y="6917594"/>
            <a:ext cx="14393544" cy="148463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00"/>
              </a:spcBef>
            </a:pPr>
            <a:r>
              <a:rPr dirty="0" sz="3200">
                <a:latin typeface="Calibri"/>
                <a:cs typeface="Calibri"/>
              </a:rPr>
              <a:t>Instead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building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another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detection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system,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propose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integrated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cognitive </a:t>
            </a:r>
            <a:r>
              <a:rPr dirty="0" sz="3200">
                <a:latin typeface="Calibri"/>
                <a:cs typeface="Calibri"/>
              </a:rPr>
              <a:t>architecture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where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every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intelligence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layer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enriches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knowledge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before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passing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it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next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layer.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7299" y="1037272"/>
            <a:ext cx="373380" cy="1005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590"/>
              </a:lnSpc>
            </a:pPr>
            <a:r>
              <a:rPr dirty="0" sz="6600" spc="-605">
                <a:latin typeface="Trebuchet MS"/>
                <a:cs typeface="Trebuchet MS"/>
              </a:rPr>
              <a:t>+</a:t>
            </a:r>
            <a:endParaRPr sz="6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000" cy="10253980"/>
            <a:chOff x="0" y="0"/>
            <a:chExt cx="18288000" cy="102539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536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1425" y="4197191"/>
              <a:ext cx="104774" cy="1047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1425" y="4682966"/>
              <a:ext cx="104774" cy="1047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1425" y="5168741"/>
              <a:ext cx="104774" cy="1047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1425" y="5654516"/>
              <a:ext cx="104774" cy="1047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61425" y="6140290"/>
              <a:ext cx="104774" cy="1047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61425" y="6626066"/>
              <a:ext cx="104774" cy="1047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61425" y="7111841"/>
              <a:ext cx="104774" cy="10477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420100" y="1987454"/>
            <a:ext cx="15448280" cy="585660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35"/>
              </a:spcBef>
            </a:pPr>
            <a:r>
              <a:rPr dirty="0" sz="3200" spc="-20">
                <a:latin typeface="Calibri"/>
                <a:cs typeface="Calibri"/>
              </a:rPr>
              <a:t>Mission-</a:t>
            </a:r>
            <a:r>
              <a:rPr dirty="0" sz="3200">
                <a:latin typeface="Calibri"/>
                <a:cs typeface="Calibri"/>
              </a:rPr>
              <a:t>critical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Smart-</a:t>
            </a:r>
            <a:r>
              <a:rPr dirty="0" sz="3200">
                <a:latin typeface="Calibri"/>
                <a:cs typeface="Calibri"/>
              </a:rPr>
              <a:t>City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IoT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environments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continuously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generate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heterogeneous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telemetry </a:t>
            </a:r>
            <a:r>
              <a:rPr dirty="0" sz="3200">
                <a:latin typeface="Calibri"/>
                <a:cs typeface="Calibri"/>
              </a:rPr>
              <a:t>from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thousands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interconnected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cyber-</a:t>
            </a:r>
            <a:r>
              <a:rPr dirty="0" sz="3200">
                <a:latin typeface="Calibri"/>
                <a:cs typeface="Calibri"/>
              </a:rPr>
              <a:t>physical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devices.</a:t>
            </a:r>
            <a:endParaRPr sz="3200">
              <a:latin typeface="Calibri"/>
              <a:cs typeface="Calibri"/>
            </a:endParaRPr>
          </a:p>
          <a:p>
            <a:pPr marL="702945" marR="2624455" indent="-690880">
              <a:lnSpc>
                <a:spcPts val="3829"/>
              </a:lnSpc>
              <a:spcBef>
                <a:spcPts val="3815"/>
              </a:spcBef>
            </a:pPr>
            <a:r>
              <a:rPr dirty="0" sz="3200">
                <a:latin typeface="Calibri"/>
                <a:cs typeface="Calibri"/>
              </a:rPr>
              <a:t>Existing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cybersecurity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systems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suffer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from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several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fundamental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limitations: </a:t>
            </a:r>
            <a:r>
              <a:rPr dirty="0" sz="3200">
                <a:latin typeface="Calibri"/>
                <a:cs typeface="Calibri"/>
              </a:rPr>
              <a:t>Raw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telemetry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repeatedly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processed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by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independent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security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modules. </a:t>
            </a:r>
            <a:r>
              <a:rPr dirty="0" sz="3200">
                <a:latin typeface="Calibri"/>
                <a:cs typeface="Calibri"/>
              </a:rPr>
              <a:t>Lack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semantic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cyber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knowledge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generation.</a:t>
            </a:r>
            <a:endParaRPr sz="3200">
              <a:latin typeface="Calibri"/>
              <a:cs typeface="Calibri"/>
            </a:endParaRPr>
          </a:p>
          <a:p>
            <a:pPr marL="702945">
              <a:lnSpc>
                <a:spcPts val="3679"/>
              </a:lnSpc>
            </a:pPr>
            <a:r>
              <a:rPr dirty="0" sz="3200">
                <a:latin typeface="Calibri"/>
                <a:cs typeface="Calibri"/>
              </a:rPr>
              <a:t>Poor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contextual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understanding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device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behavior.</a:t>
            </a:r>
            <a:endParaRPr sz="3200">
              <a:latin typeface="Calibri"/>
              <a:cs typeface="Calibri"/>
            </a:endParaRPr>
          </a:p>
          <a:p>
            <a:pPr marL="702945" marR="5060950">
              <a:lnSpc>
                <a:spcPts val="3829"/>
              </a:lnSpc>
              <a:spcBef>
                <a:spcPts val="125"/>
              </a:spcBef>
            </a:pPr>
            <a:r>
              <a:rPr dirty="0" sz="3200">
                <a:latin typeface="Calibri"/>
                <a:cs typeface="Calibri"/>
              </a:rPr>
              <a:t>High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false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positive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rates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due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dynamic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IoT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environments. </a:t>
            </a:r>
            <a:r>
              <a:rPr dirty="0" sz="3200">
                <a:latin typeface="Calibri"/>
                <a:cs typeface="Calibri"/>
              </a:rPr>
              <a:t>Limited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attack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reconstruction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graph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reasoning.</a:t>
            </a:r>
            <a:endParaRPr sz="3200">
              <a:latin typeface="Calibri"/>
              <a:cs typeface="Calibri"/>
            </a:endParaRPr>
          </a:p>
          <a:p>
            <a:pPr marL="702945">
              <a:lnSpc>
                <a:spcPts val="3685"/>
              </a:lnSpc>
            </a:pPr>
            <a:r>
              <a:rPr dirty="0" sz="3200">
                <a:latin typeface="Calibri"/>
                <a:cs typeface="Calibri"/>
              </a:rPr>
              <a:t>AI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systems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rely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primarily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on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isolated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alerts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rather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than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integrated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intelligence.</a:t>
            </a:r>
            <a:endParaRPr sz="3200">
              <a:latin typeface="Calibri"/>
              <a:cs typeface="Calibri"/>
            </a:endParaRPr>
          </a:p>
          <a:p>
            <a:pPr marL="702945" marR="577850">
              <a:lnSpc>
                <a:spcPts val="3829"/>
              </a:lnSpc>
              <a:spcBef>
                <a:spcPts val="100"/>
              </a:spcBef>
            </a:pPr>
            <a:r>
              <a:rPr dirty="0" sz="3200">
                <a:latin typeface="Calibri"/>
                <a:cs typeface="Calibri"/>
              </a:rPr>
              <a:t>Existing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autonomous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response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mechanisms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are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largely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rule-</a:t>
            </a:r>
            <a:r>
              <a:rPr dirty="0" sz="3200">
                <a:latin typeface="Calibri"/>
                <a:cs typeface="Calibri"/>
              </a:rPr>
              <a:t>based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lack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contextual reasoning.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561626" y="9457244"/>
            <a:ext cx="1216025" cy="405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 sz="2700">
                <a:solidFill>
                  <a:srgbClr val="FFFFFF"/>
                </a:solidFill>
                <a:latin typeface="Times New Roman"/>
                <a:cs typeface="Times New Roman"/>
              </a:rPr>
              <a:t>Page:</a:t>
            </a:r>
            <a:r>
              <a:rPr dirty="0" sz="27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700" spc="-25">
                <a:solidFill>
                  <a:srgbClr val="FFFFFF"/>
                </a:solidFill>
                <a:latin typeface="Times New Roman"/>
                <a:cs typeface="Times New Roman"/>
              </a:rPr>
              <a:t>05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4555876" y="201612"/>
            <a:ext cx="9176385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330"/>
              <a:t> </a:t>
            </a:r>
            <a:r>
              <a:rPr dirty="0" spc="-10"/>
              <a:t>STATEMENT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7299" y="1037272"/>
            <a:ext cx="373380" cy="1005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590"/>
              </a:lnSpc>
            </a:pPr>
            <a:r>
              <a:rPr dirty="0" sz="6600" spc="-605">
                <a:latin typeface="Trebuchet MS"/>
                <a:cs typeface="Trebuchet MS"/>
              </a:rPr>
              <a:t>+</a:t>
            </a:r>
            <a:endParaRPr sz="66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5366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836393" y="201612"/>
            <a:ext cx="6615430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300"/>
              <a:t> </a:t>
            </a:r>
            <a:r>
              <a:rPr dirty="0" spc="-10"/>
              <a:t>VISION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561626" y="9457244"/>
            <a:ext cx="1216025" cy="405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 sz="2700">
                <a:solidFill>
                  <a:srgbClr val="FFFFFF"/>
                </a:solidFill>
                <a:latin typeface="Times New Roman"/>
                <a:cs typeface="Times New Roman"/>
              </a:rPr>
              <a:t>Page:</a:t>
            </a:r>
            <a:r>
              <a:rPr dirty="0" sz="27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700" spc="-25">
                <a:solidFill>
                  <a:srgbClr val="FFFFFF"/>
                </a:solidFill>
                <a:latin typeface="Times New Roman"/>
                <a:cs typeface="Times New Roman"/>
              </a:rPr>
              <a:t>06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3101" y="1446672"/>
            <a:ext cx="16061055" cy="7077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dirty="0" sz="3500" b="1">
                <a:latin typeface="Calibri"/>
                <a:cs typeface="Calibri"/>
              </a:rPr>
              <a:t>Towards</a:t>
            </a:r>
            <a:r>
              <a:rPr dirty="0" sz="3500" spc="-100" b="1">
                <a:latin typeface="Calibri"/>
                <a:cs typeface="Calibri"/>
              </a:rPr>
              <a:t> </a:t>
            </a:r>
            <a:r>
              <a:rPr dirty="0" sz="3500" b="1">
                <a:latin typeface="Calibri"/>
                <a:cs typeface="Calibri"/>
              </a:rPr>
              <a:t>a</a:t>
            </a:r>
            <a:r>
              <a:rPr dirty="0" sz="3500" spc="-95" b="1">
                <a:latin typeface="Calibri"/>
                <a:cs typeface="Calibri"/>
              </a:rPr>
              <a:t> </a:t>
            </a:r>
            <a:r>
              <a:rPr dirty="0" sz="3500" b="1">
                <a:latin typeface="Calibri"/>
                <a:cs typeface="Calibri"/>
              </a:rPr>
              <a:t>Cognitive</a:t>
            </a:r>
            <a:r>
              <a:rPr dirty="0" sz="3500" spc="-95" b="1">
                <a:latin typeface="Calibri"/>
                <a:cs typeface="Calibri"/>
              </a:rPr>
              <a:t> </a:t>
            </a:r>
            <a:r>
              <a:rPr dirty="0" sz="3500" b="1">
                <a:latin typeface="Calibri"/>
                <a:cs typeface="Calibri"/>
              </a:rPr>
              <a:t>Cyber</a:t>
            </a:r>
            <a:r>
              <a:rPr dirty="0" sz="3500" spc="-95" b="1">
                <a:latin typeface="Calibri"/>
                <a:cs typeface="Calibri"/>
              </a:rPr>
              <a:t> </a:t>
            </a:r>
            <a:r>
              <a:rPr dirty="0" sz="3500" b="1">
                <a:latin typeface="Calibri"/>
                <a:cs typeface="Calibri"/>
              </a:rPr>
              <a:t>Intelligence</a:t>
            </a:r>
            <a:r>
              <a:rPr dirty="0" sz="3500" spc="-100" b="1">
                <a:latin typeface="Calibri"/>
                <a:cs typeface="Calibri"/>
              </a:rPr>
              <a:t> </a:t>
            </a:r>
            <a:r>
              <a:rPr dirty="0" sz="3500" spc="-10" b="1">
                <a:latin typeface="Calibri"/>
                <a:cs typeface="Calibri"/>
              </a:rPr>
              <a:t>Architecture</a:t>
            </a:r>
            <a:endParaRPr sz="3500">
              <a:latin typeface="Calibri"/>
              <a:cs typeface="Calibri"/>
            </a:endParaRPr>
          </a:p>
          <a:p>
            <a:pPr marL="317500" marR="1278890">
              <a:lnSpc>
                <a:spcPts val="3829"/>
              </a:lnSpc>
              <a:spcBef>
                <a:spcPts val="135"/>
              </a:spcBef>
            </a:pPr>
            <a:r>
              <a:rPr dirty="0" sz="3200">
                <a:latin typeface="Calibri"/>
                <a:cs typeface="Calibri"/>
              </a:rPr>
              <a:t>Current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Smart-</a:t>
            </a:r>
            <a:r>
              <a:rPr dirty="0" sz="3200">
                <a:latin typeface="Calibri"/>
                <a:cs typeface="Calibri"/>
              </a:rPr>
              <a:t>City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cybersecurity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solutions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operate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isolated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systems,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where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intrusion </a:t>
            </a:r>
            <a:r>
              <a:rPr dirty="0" sz="3200">
                <a:latin typeface="Calibri"/>
                <a:cs typeface="Calibri"/>
              </a:rPr>
              <a:t>detection,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behavioral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analytics,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graph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reasoning,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AI-</a:t>
            </a:r>
            <a:r>
              <a:rPr dirty="0" sz="3200">
                <a:latin typeface="Calibri"/>
                <a:cs typeface="Calibri"/>
              </a:rPr>
              <a:t>assisted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decision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making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are </a:t>
            </a:r>
            <a:r>
              <a:rPr dirty="0" sz="3200">
                <a:latin typeface="Calibri"/>
                <a:cs typeface="Calibri"/>
              </a:rPr>
              <a:t>performed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independently.</a:t>
            </a:r>
            <a:endParaRPr sz="3200">
              <a:latin typeface="Calibri"/>
              <a:cs typeface="Calibri"/>
            </a:endParaRPr>
          </a:p>
          <a:p>
            <a:pPr marL="317500" marR="387985">
              <a:lnSpc>
                <a:spcPts val="3829"/>
              </a:lnSpc>
              <a:spcBef>
                <a:spcPts val="3810"/>
              </a:spcBef>
            </a:pPr>
            <a:r>
              <a:rPr dirty="0" sz="3200">
                <a:latin typeface="Calibri"/>
                <a:cs typeface="Calibri"/>
              </a:rPr>
              <a:t>Our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vision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develop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CORTEX,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unified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Cognitive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Cyber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Intelligence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Architecture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that </a:t>
            </a:r>
            <a:r>
              <a:rPr dirty="0" sz="3200">
                <a:latin typeface="Calibri"/>
                <a:cs typeface="Calibri"/>
              </a:rPr>
              <a:t>progressively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transforms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raw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IoT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telemetry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into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intelligent,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explainable,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actionable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cyber </a:t>
            </a:r>
            <a:r>
              <a:rPr dirty="0" sz="3200" spc="-10">
                <a:latin typeface="Calibri"/>
                <a:cs typeface="Calibri"/>
              </a:rPr>
              <a:t>intelligence.</a:t>
            </a:r>
            <a:endParaRPr sz="3200">
              <a:latin typeface="Calibri"/>
              <a:cs typeface="Calibri"/>
            </a:endParaRPr>
          </a:p>
          <a:p>
            <a:pPr marL="317500" marR="1002665">
              <a:lnSpc>
                <a:spcPts val="3829"/>
              </a:lnSpc>
              <a:spcBef>
                <a:spcPts val="3810"/>
              </a:spcBef>
            </a:pPr>
            <a:r>
              <a:rPr dirty="0" sz="3200">
                <a:latin typeface="Calibri"/>
                <a:cs typeface="Calibri"/>
              </a:rPr>
              <a:t>Instead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repeatedly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processing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same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telemetry,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each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research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engine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enriches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the </a:t>
            </a:r>
            <a:r>
              <a:rPr dirty="0" sz="3200">
                <a:latin typeface="Calibri"/>
                <a:cs typeface="Calibri"/>
              </a:rPr>
              <a:t>information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passes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it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next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layer,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creating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continuous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intelligence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pipeline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for </a:t>
            </a:r>
            <a:r>
              <a:rPr dirty="0" sz="3200" spc="-20">
                <a:latin typeface="Calibri"/>
                <a:cs typeface="Calibri"/>
              </a:rPr>
              <a:t>mission-</a:t>
            </a:r>
            <a:r>
              <a:rPr dirty="0" sz="3200">
                <a:latin typeface="Calibri"/>
                <a:cs typeface="Calibri"/>
              </a:rPr>
              <a:t>critical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Smart-</a:t>
            </a:r>
            <a:r>
              <a:rPr dirty="0" sz="3200">
                <a:latin typeface="Calibri"/>
                <a:cs typeface="Calibri"/>
              </a:rPr>
              <a:t>City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IoT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defense.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3200" b="1">
                <a:solidFill>
                  <a:srgbClr val="E3092E"/>
                </a:solidFill>
                <a:latin typeface="Calibri"/>
                <a:cs typeface="Calibri"/>
              </a:rPr>
              <a:t>One</a:t>
            </a:r>
            <a:r>
              <a:rPr dirty="0" sz="3200" spc="-80" b="1">
                <a:solidFill>
                  <a:srgbClr val="E3092E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E3092E"/>
                </a:solidFill>
                <a:latin typeface="Calibri"/>
                <a:cs typeface="Calibri"/>
              </a:rPr>
              <a:t>Architecture.</a:t>
            </a:r>
            <a:r>
              <a:rPr dirty="0" sz="3200" spc="-70" b="1">
                <a:solidFill>
                  <a:srgbClr val="E3092E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E3092E"/>
                </a:solidFill>
                <a:latin typeface="Calibri"/>
                <a:cs typeface="Calibri"/>
              </a:rPr>
              <a:t>Four</a:t>
            </a:r>
            <a:r>
              <a:rPr dirty="0" sz="3200" spc="-80" b="1">
                <a:solidFill>
                  <a:srgbClr val="E3092E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E3092E"/>
                </a:solidFill>
                <a:latin typeface="Calibri"/>
                <a:cs typeface="Calibri"/>
              </a:rPr>
              <a:t>Independent</a:t>
            </a:r>
            <a:r>
              <a:rPr dirty="0" sz="3200" spc="-75" b="1">
                <a:solidFill>
                  <a:srgbClr val="E3092E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E3092E"/>
                </a:solidFill>
                <a:latin typeface="Calibri"/>
                <a:cs typeface="Calibri"/>
              </a:rPr>
              <a:t>Research</a:t>
            </a:r>
            <a:r>
              <a:rPr dirty="0" sz="3200" spc="-80" b="1">
                <a:solidFill>
                  <a:srgbClr val="E3092E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E3092E"/>
                </a:solidFill>
                <a:latin typeface="Calibri"/>
                <a:cs typeface="Calibri"/>
              </a:rPr>
              <a:t>Engines.</a:t>
            </a:r>
            <a:r>
              <a:rPr dirty="0" sz="3200" spc="-75" b="1">
                <a:solidFill>
                  <a:srgbClr val="E3092E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E3092E"/>
                </a:solidFill>
                <a:latin typeface="Calibri"/>
                <a:cs typeface="Calibri"/>
              </a:rPr>
              <a:t>One</a:t>
            </a:r>
            <a:r>
              <a:rPr dirty="0" sz="3200" spc="-75" b="1">
                <a:solidFill>
                  <a:srgbClr val="E3092E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E3092E"/>
                </a:solidFill>
                <a:latin typeface="Calibri"/>
                <a:cs typeface="Calibri"/>
              </a:rPr>
              <a:t>Unified</a:t>
            </a:r>
            <a:r>
              <a:rPr dirty="0" sz="3200" spc="-80" b="1">
                <a:solidFill>
                  <a:srgbClr val="E3092E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E3092E"/>
                </a:solidFill>
                <a:latin typeface="Calibri"/>
                <a:cs typeface="Calibri"/>
              </a:rPr>
              <a:t>Cyber</a:t>
            </a:r>
            <a:r>
              <a:rPr dirty="0" sz="3200" spc="-75" b="1">
                <a:solidFill>
                  <a:srgbClr val="E3092E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E3092E"/>
                </a:solidFill>
                <a:latin typeface="Calibri"/>
                <a:cs typeface="Calibri"/>
              </a:rPr>
              <a:t>Intelligence</a:t>
            </a:r>
            <a:r>
              <a:rPr dirty="0" sz="3200" spc="-80" b="1">
                <a:solidFill>
                  <a:srgbClr val="E3092E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E3092E"/>
                </a:solidFill>
                <a:latin typeface="Calibri"/>
                <a:cs typeface="Calibri"/>
              </a:rPr>
              <a:t>Pipeline.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21760" y="3861593"/>
            <a:ext cx="8662035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dirty="0" spc="-409"/>
              <a:t> </a:t>
            </a:r>
            <a:r>
              <a:rPr dirty="0" spc="-10"/>
              <a:t>REVIEW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561626" y="9457244"/>
            <a:ext cx="1216025" cy="405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 sz="2700">
                <a:solidFill>
                  <a:srgbClr val="FFFFFF"/>
                </a:solidFill>
                <a:latin typeface="Times New Roman"/>
                <a:cs typeface="Times New Roman"/>
              </a:rPr>
              <a:t>Page:</a:t>
            </a:r>
            <a:r>
              <a:rPr dirty="0" sz="27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700" spc="-25">
                <a:solidFill>
                  <a:srgbClr val="FFFFFF"/>
                </a:solidFill>
                <a:latin typeface="Times New Roman"/>
                <a:cs typeface="Times New Roman"/>
              </a:rPr>
              <a:t>07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7299" y="1037272"/>
            <a:ext cx="365125" cy="1005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590"/>
              </a:lnSpc>
            </a:pPr>
            <a:r>
              <a:rPr dirty="0" sz="6600" spc="135">
                <a:latin typeface="Trebuchet MS"/>
                <a:cs typeface="Trebuchet MS"/>
              </a:rPr>
              <a:t>s</a:t>
            </a:r>
            <a:endParaRPr sz="6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000" cy="10253980"/>
            <a:chOff x="0" y="0"/>
            <a:chExt cx="18288000" cy="102539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536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696" y="4012276"/>
              <a:ext cx="95250" cy="952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696" y="4583775"/>
              <a:ext cx="95250" cy="952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696" y="5155275"/>
              <a:ext cx="95250" cy="952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696" y="5726775"/>
              <a:ext cx="95250" cy="9524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27171" y="3647151"/>
            <a:ext cx="6449695" cy="2311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3000" b="1">
                <a:latin typeface="Calibri"/>
                <a:cs typeface="Calibri"/>
              </a:rPr>
              <a:t>Conference/Journal:</a:t>
            </a:r>
            <a:r>
              <a:rPr dirty="0" sz="3000" spc="575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Information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(MDPI) </a:t>
            </a:r>
            <a:r>
              <a:rPr dirty="0" sz="3000" b="1">
                <a:latin typeface="Calibri"/>
                <a:cs typeface="Calibri"/>
              </a:rPr>
              <a:t>Authors</a:t>
            </a:r>
            <a:r>
              <a:rPr dirty="0" sz="3000">
                <a:latin typeface="Calibri"/>
                <a:cs typeface="Calibri"/>
              </a:rPr>
              <a:t>:Philip Empl, Günther </a:t>
            </a:r>
            <a:r>
              <a:rPr dirty="0" sz="3000" spc="-10">
                <a:latin typeface="Calibri"/>
                <a:cs typeface="Calibri"/>
              </a:rPr>
              <a:t>Pernul </a:t>
            </a:r>
            <a:r>
              <a:rPr dirty="0" sz="3000" b="1">
                <a:latin typeface="Calibri"/>
                <a:cs typeface="Calibri"/>
              </a:rPr>
              <a:t>Year:</a:t>
            </a:r>
            <a:r>
              <a:rPr dirty="0" sz="3000" spc="675" b="1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2023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3000" b="1">
                <a:latin typeface="Calibri"/>
                <a:cs typeface="Calibri"/>
              </a:rPr>
              <a:t>Citations:</a:t>
            </a:r>
            <a:r>
              <a:rPr dirty="0" sz="3000" spc="-40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70+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(Google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Scholar,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2025)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330116" y="497601"/>
            <a:ext cx="15319375" cy="6292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50"/>
              <a:t>PAPER</a:t>
            </a:r>
            <a:r>
              <a:rPr dirty="0" sz="3950" spc="-15"/>
              <a:t> </a:t>
            </a:r>
            <a:r>
              <a:rPr dirty="0" sz="3950"/>
              <a:t>1:</a:t>
            </a:r>
            <a:r>
              <a:rPr dirty="0" sz="3950" spc="-15"/>
              <a:t> </a:t>
            </a:r>
            <a:r>
              <a:rPr dirty="0" sz="3950" spc="-10"/>
              <a:t>Digital-Twin-</a:t>
            </a:r>
            <a:r>
              <a:rPr dirty="0" sz="3950"/>
              <a:t>Based</a:t>
            </a:r>
            <a:r>
              <a:rPr dirty="0" sz="3950" spc="-10"/>
              <a:t> </a:t>
            </a:r>
            <a:r>
              <a:rPr dirty="0" sz="3950"/>
              <a:t>Security</a:t>
            </a:r>
            <a:r>
              <a:rPr dirty="0" sz="3950" spc="-15"/>
              <a:t> </a:t>
            </a:r>
            <a:r>
              <a:rPr dirty="0" sz="3950"/>
              <a:t>Analytics</a:t>
            </a:r>
            <a:r>
              <a:rPr dirty="0" sz="3950" spc="-10"/>
              <a:t> </a:t>
            </a:r>
            <a:r>
              <a:rPr dirty="0" sz="3950"/>
              <a:t>for</a:t>
            </a:r>
            <a:r>
              <a:rPr dirty="0" sz="3950" spc="-15"/>
              <a:t> </a:t>
            </a:r>
            <a:r>
              <a:rPr dirty="0" sz="3950"/>
              <a:t>the</a:t>
            </a:r>
            <a:r>
              <a:rPr dirty="0" sz="3950" spc="-10"/>
              <a:t> </a:t>
            </a:r>
            <a:r>
              <a:rPr dirty="0" sz="3950"/>
              <a:t>Internet</a:t>
            </a:r>
            <a:r>
              <a:rPr dirty="0" sz="3950" spc="-15"/>
              <a:t> </a:t>
            </a:r>
            <a:r>
              <a:rPr dirty="0" sz="3950"/>
              <a:t>of</a:t>
            </a:r>
            <a:r>
              <a:rPr dirty="0" sz="3950" spc="-10"/>
              <a:t> Things</a:t>
            </a:r>
            <a:endParaRPr sz="3950"/>
          </a:p>
        </p:txBody>
      </p:sp>
      <p:grpSp>
        <p:nvGrpSpPr>
          <p:cNvPr id="11" name="object 11"/>
          <p:cNvGrpSpPr/>
          <p:nvPr/>
        </p:nvGrpSpPr>
        <p:grpSpPr>
          <a:xfrm>
            <a:off x="7993999" y="1547552"/>
            <a:ext cx="10006330" cy="7310755"/>
            <a:chOff x="7993999" y="1547552"/>
            <a:chExt cx="10006330" cy="7310755"/>
          </a:xfrm>
        </p:grpSpPr>
        <p:sp>
          <p:nvSpPr>
            <p:cNvPr id="12" name="object 12"/>
            <p:cNvSpPr/>
            <p:nvPr/>
          </p:nvSpPr>
          <p:spPr>
            <a:xfrm>
              <a:off x="8051149" y="1604702"/>
              <a:ext cx="9892030" cy="7196455"/>
            </a:xfrm>
            <a:custGeom>
              <a:avLst/>
              <a:gdLst/>
              <a:ahLst/>
              <a:cxnLst/>
              <a:rect l="l" t="t" r="r" b="b"/>
              <a:pathLst>
                <a:path w="9892030" h="7196455">
                  <a:moveTo>
                    <a:pt x="0" y="0"/>
                  </a:moveTo>
                  <a:lnTo>
                    <a:pt x="9891558" y="0"/>
                  </a:lnTo>
                  <a:lnTo>
                    <a:pt x="9891558" y="7196285"/>
                  </a:lnTo>
                  <a:lnTo>
                    <a:pt x="0" y="7196285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2072" y="2412076"/>
              <a:ext cx="95250" cy="95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2072" y="3326475"/>
              <a:ext cx="95250" cy="952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2072" y="4240875"/>
              <a:ext cx="95250" cy="952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2072" y="5612475"/>
              <a:ext cx="95250" cy="952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2072" y="6526875"/>
              <a:ext cx="95250" cy="9524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2072" y="7441275"/>
              <a:ext cx="95250" cy="9524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133622" y="2161251"/>
            <a:ext cx="9698990" cy="596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4990" marR="156083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Proposed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Digital</a:t>
            </a:r>
            <a:r>
              <a:rPr dirty="0" sz="3000" spc="-55" b="1">
                <a:latin typeface="Calibri"/>
                <a:cs typeface="Calibri"/>
              </a:rPr>
              <a:t> </a:t>
            </a:r>
            <a:r>
              <a:rPr dirty="0" sz="3000" spc="-20" b="1">
                <a:latin typeface="Calibri"/>
                <a:cs typeface="Calibri"/>
              </a:rPr>
              <a:t>Twin-</a:t>
            </a:r>
            <a:r>
              <a:rPr dirty="0" sz="3000" b="1">
                <a:latin typeface="Calibri"/>
                <a:cs typeface="Calibri"/>
              </a:rPr>
              <a:t>based</a:t>
            </a:r>
            <a:r>
              <a:rPr dirty="0" sz="3000" spc="-5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security</a:t>
            </a:r>
            <a:r>
              <a:rPr dirty="0" sz="3000" spc="-55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analytics </a:t>
            </a:r>
            <a:r>
              <a:rPr dirty="0" sz="3000">
                <a:latin typeface="Calibri"/>
                <a:cs typeface="Calibri"/>
              </a:rPr>
              <a:t>framework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IoT.</a:t>
            </a:r>
            <a:endParaRPr sz="3000">
              <a:latin typeface="Calibri"/>
              <a:cs typeface="Calibri"/>
            </a:endParaRPr>
          </a:p>
          <a:p>
            <a:pPr marL="554990" marR="116205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Enabled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cybersecurity</a:t>
            </a:r>
            <a:r>
              <a:rPr dirty="0" sz="3000" spc="-2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knowledge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generation</a:t>
            </a:r>
            <a:r>
              <a:rPr dirty="0" sz="3000" spc="-2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and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sharing </a:t>
            </a:r>
            <a:r>
              <a:rPr dirty="0" sz="3000">
                <a:latin typeface="Calibri"/>
                <a:cs typeface="Calibri"/>
              </a:rPr>
              <a:t>across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IoT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lifecycle.</a:t>
            </a:r>
            <a:endParaRPr sz="3000">
              <a:latin typeface="Calibri"/>
              <a:cs typeface="Calibri"/>
            </a:endParaRPr>
          </a:p>
          <a:p>
            <a:pPr marL="554990" marR="508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Improved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lifecycle-aware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security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monitoring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using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Digital Twins.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3000" b="1">
                <a:latin typeface="Calibri"/>
                <a:cs typeface="Calibri"/>
              </a:rPr>
              <a:t>Relevance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to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CORTEX:</a:t>
            </a:r>
            <a:endParaRPr sz="3000">
              <a:latin typeface="Calibri"/>
              <a:cs typeface="Calibri"/>
            </a:endParaRPr>
          </a:p>
          <a:p>
            <a:pPr marL="554990" marR="1538605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No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semantic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intelligence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layer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we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introduce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the </a:t>
            </a:r>
            <a:r>
              <a:rPr dirty="0" sz="3000" b="1">
                <a:latin typeface="Calibri"/>
                <a:cs typeface="Calibri"/>
              </a:rPr>
              <a:t>Cognitive</a:t>
            </a:r>
            <a:r>
              <a:rPr dirty="0" sz="3000" spc="-4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Security</a:t>
            </a:r>
            <a:r>
              <a:rPr dirty="0" sz="3000" spc="-4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Cortex</a:t>
            </a:r>
            <a:r>
              <a:rPr dirty="0" sz="3000" spc="-40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(CSC)</a:t>
            </a:r>
            <a:r>
              <a:rPr dirty="0" sz="3000" spc="-1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 marL="554990" marR="54991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No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Cyber</a:t>
            </a:r>
            <a:r>
              <a:rPr dirty="0" sz="3000" spc="-4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Knowledge</a:t>
            </a:r>
            <a:r>
              <a:rPr dirty="0" sz="3000" spc="-4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Objects</a:t>
            </a:r>
            <a:r>
              <a:rPr dirty="0" sz="3000">
                <a:latin typeface="Calibri"/>
                <a:cs typeface="Calibri"/>
              </a:rPr>
              <a:t>,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Threat</a:t>
            </a:r>
            <a:r>
              <a:rPr dirty="0" sz="3000" spc="-4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DNA</a:t>
            </a:r>
            <a:r>
              <a:rPr dirty="0" sz="3000">
                <a:latin typeface="Calibri"/>
                <a:cs typeface="Calibri"/>
              </a:rPr>
              <a:t>,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or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Dynamic </a:t>
            </a:r>
            <a:r>
              <a:rPr dirty="0" sz="3000" b="1">
                <a:latin typeface="Calibri"/>
                <a:cs typeface="Calibri"/>
              </a:rPr>
              <a:t>Trust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we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generate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AI-ready</a:t>
            </a:r>
            <a:r>
              <a:rPr dirty="0" sz="3000" spc="-1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cyber</a:t>
            </a:r>
            <a:r>
              <a:rPr dirty="0" sz="3000" spc="-10" b="1">
                <a:latin typeface="Calibri"/>
                <a:cs typeface="Calibri"/>
              </a:rPr>
              <a:t> knowledge</a:t>
            </a:r>
            <a:r>
              <a:rPr dirty="0" sz="3000" spc="-1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 marL="554990" marR="701675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No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behavioral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identity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or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attacker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intent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modeling;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we </a:t>
            </a:r>
            <a:r>
              <a:rPr dirty="0" sz="3000" b="1">
                <a:latin typeface="Calibri"/>
                <a:cs typeface="Calibri"/>
              </a:rPr>
              <a:t>enrich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telemetry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before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graph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reasoning.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561626" y="9457244"/>
            <a:ext cx="1216025" cy="405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 sz="2700">
                <a:solidFill>
                  <a:srgbClr val="FFFFFF"/>
                </a:solidFill>
                <a:latin typeface="Times New Roman"/>
                <a:cs typeface="Times New Roman"/>
              </a:rPr>
              <a:t>Page:</a:t>
            </a:r>
            <a:r>
              <a:rPr dirty="0" sz="27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700" spc="-25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7299" y="1037272"/>
            <a:ext cx="365125" cy="1005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590"/>
              </a:lnSpc>
            </a:pPr>
            <a:r>
              <a:rPr dirty="0" sz="6600" spc="135">
                <a:latin typeface="Trebuchet MS"/>
                <a:cs typeface="Trebuchet MS"/>
              </a:rPr>
              <a:t>s</a:t>
            </a:r>
            <a:endParaRPr sz="6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000" cy="10253980"/>
            <a:chOff x="0" y="0"/>
            <a:chExt cx="18288000" cy="102539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536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908" y="4505324"/>
              <a:ext cx="95250" cy="952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908" y="5095874"/>
              <a:ext cx="95250" cy="952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908" y="5686424"/>
              <a:ext cx="95250" cy="952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60383" y="4121150"/>
            <a:ext cx="5556250" cy="1797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9200"/>
              </a:lnSpc>
              <a:spcBef>
                <a:spcPts val="95"/>
              </a:spcBef>
            </a:pPr>
            <a:r>
              <a:rPr dirty="0" sz="3000" b="1">
                <a:latin typeface="Calibri"/>
                <a:cs typeface="Calibri"/>
              </a:rPr>
              <a:t>Conference/Journal:</a:t>
            </a:r>
            <a:r>
              <a:rPr dirty="0" sz="3000" spc="630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arXiv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Preprint </a:t>
            </a:r>
            <a:r>
              <a:rPr dirty="0" sz="3000" b="1">
                <a:latin typeface="Calibri"/>
                <a:cs typeface="Calibri"/>
              </a:rPr>
              <a:t>Authors</a:t>
            </a:r>
            <a:r>
              <a:rPr dirty="0" sz="3000">
                <a:latin typeface="Calibri"/>
                <a:cs typeface="Calibri"/>
              </a:rPr>
              <a:t>:Ahmed Shalaby et </a:t>
            </a:r>
            <a:r>
              <a:rPr dirty="0" sz="3000" spc="-25">
                <a:latin typeface="Calibri"/>
                <a:cs typeface="Calibri"/>
              </a:rPr>
              <a:t>al.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3000" b="1">
                <a:latin typeface="Calibri"/>
                <a:cs typeface="Calibri"/>
              </a:rPr>
              <a:t>Year:</a:t>
            </a:r>
            <a:r>
              <a:rPr dirty="0" sz="3000" spc="675" b="1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2025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143099" y="567848"/>
            <a:ext cx="16170910" cy="1172210"/>
          </a:xfrm>
          <a:prstGeom prst="rect"/>
        </p:spPr>
        <p:txBody>
          <a:bodyPr wrap="square" lIns="0" tIns="80645" rIns="0" bIns="0" rtlCol="0" vert="horz">
            <a:spAutoFit/>
          </a:bodyPr>
          <a:lstStyle/>
          <a:p>
            <a:pPr marL="6032500" marR="5080" indent="-6020435">
              <a:lnSpc>
                <a:spcPts val="4280"/>
              </a:lnSpc>
              <a:spcBef>
                <a:spcPts val="635"/>
              </a:spcBef>
            </a:pPr>
            <a:r>
              <a:rPr dirty="0" sz="3950"/>
              <a:t>PAPER</a:t>
            </a:r>
            <a:r>
              <a:rPr dirty="0" sz="3950" spc="-25"/>
              <a:t> </a:t>
            </a:r>
            <a:r>
              <a:rPr dirty="0" sz="3950"/>
              <a:t>2:</a:t>
            </a:r>
            <a:r>
              <a:rPr dirty="0" sz="3950" spc="-25"/>
              <a:t> </a:t>
            </a:r>
            <a:r>
              <a:rPr dirty="0" sz="3950"/>
              <a:t>Cybersecurity</a:t>
            </a:r>
            <a:r>
              <a:rPr dirty="0" sz="3950" spc="-20"/>
              <a:t> </a:t>
            </a:r>
            <a:r>
              <a:rPr dirty="0" sz="3950"/>
              <a:t>Threat</a:t>
            </a:r>
            <a:r>
              <a:rPr dirty="0" sz="3950" spc="-25"/>
              <a:t> </a:t>
            </a:r>
            <a:r>
              <a:rPr dirty="0" sz="3950"/>
              <a:t>Detection</a:t>
            </a:r>
            <a:r>
              <a:rPr dirty="0" sz="3950" spc="-20"/>
              <a:t> </a:t>
            </a:r>
            <a:r>
              <a:rPr dirty="0" sz="3950"/>
              <a:t>Based</a:t>
            </a:r>
            <a:r>
              <a:rPr dirty="0" sz="3950" spc="-25"/>
              <a:t> </a:t>
            </a:r>
            <a:r>
              <a:rPr dirty="0" sz="3950"/>
              <a:t>on</a:t>
            </a:r>
            <a:r>
              <a:rPr dirty="0" sz="3950" spc="-25"/>
              <a:t> </a:t>
            </a:r>
            <a:r>
              <a:rPr dirty="0" sz="3950"/>
              <a:t>a</a:t>
            </a:r>
            <a:r>
              <a:rPr dirty="0" sz="3950" spc="-20"/>
              <a:t> </a:t>
            </a:r>
            <a:r>
              <a:rPr dirty="0" sz="3950"/>
              <a:t>UEBA</a:t>
            </a:r>
            <a:r>
              <a:rPr dirty="0" sz="3950" spc="-25"/>
              <a:t> </a:t>
            </a:r>
            <a:r>
              <a:rPr dirty="0" sz="3950"/>
              <a:t>Framework</a:t>
            </a:r>
            <a:r>
              <a:rPr dirty="0" sz="3950" spc="-20"/>
              <a:t> Using </a:t>
            </a:r>
            <a:r>
              <a:rPr dirty="0" sz="3950"/>
              <a:t>Deep</a:t>
            </a:r>
            <a:r>
              <a:rPr dirty="0" sz="3950" spc="-25"/>
              <a:t> </a:t>
            </a:r>
            <a:r>
              <a:rPr dirty="0" sz="3950" spc="-10"/>
              <a:t>Autoencoders</a:t>
            </a:r>
            <a:endParaRPr sz="3950"/>
          </a:p>
        </p:txBody>
      </p:sp>
      <p:grpSp>
        <p:nvGrpSpPr>
          <p:cNvPr id="10" name="object 10"/>
          <p:cNvGrpSpPr/>
          <p:nvPr/>
        </p:nvGrpSpPr>
        <p:grpSpPr>
          <a:xfrm>
            <a:off x="8059725" y="2476607"/>
            <a:ext cx="9635490" cy="6396355"/>
            <a:chOff x="8059725" y="2476607"/>
            <a:chExt cx="9635490" cy="6396355"/>
          </a:xfrm>
        </p:grpSpPr>
        <p:sp>
          <p:nvSpPr>
            <p:cNvPr id="11" name="object 11"/>
            <p:cNvSpPr/>
            <p:nvPr/>
          </p:nvSpPr>
          <p:spPr>
            <a:xfrm>
              <a:off x="8116875" y="2533757"/>
              <a:ext cx="9521190" cy="6282055"/>
            </a:xfrm>
            <a:custGeom>
              <a:avLst/>
              <a:gdLst/>
              <a:ahLst/>
              <a:cxnLst/>
              <a:rect l="l" t="t" r="r" b="b"/>
              <a:pathLst>
                <a:path w="9521190" h="6282055">
                  <a:moveTo>
                    <a:pt x="0" y="0"/>
                  </a:moveTo>
                  <a:lnTo>
                    <a:pt x="9521019" y="0"/>
                  </a:lnTo>
                  <a:lnTo>
                    <a:pt x="9521019" y="6281885"/>
                  </a:lnTo>
                  <a:lnTo>
                    <a:pt x="0" y="6281885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97820" y="2883931"/>
              <a:ext cx="95250" cy="952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97820" y="3798331"/>
              <a:ext cx="95250" cy="95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97820" y="4712731"/>
              <a:ext cx="95250" cy="952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97820" y="6084331"/>
              <a:ext cx="95250" cy="952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97820" y="6998731"/>
              <a:ext cx="95250" cy="952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97820" y="7913131"/>
              <a:ext cx="95250" cy="9524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199370" y="2633106"/>
            <a:ext cx="9341485" cy="596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4990" marR="16002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Proposed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Deep</a:t>
            </a:r>
            <a:r>
              <a:rPr dirty="0" sz="3000" spc="-5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Autoencoder-based</a:t>
            </a:r>
            <a:r>
              <a:rPr dirty="0" sz="3000" spc="-5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UEBA</a:t>
            </a:r>
            <a:r>
              <a:rPr dirty="0" sz="3000" spc="-50" b="1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framework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threat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detection.</a:t>
            </a:r>
            <a:endParaRPr sz="3000">
              <a:latin typeface="Calibri"/>
              <a:cs typeface="Calibri"/>
            </a:endParaRPr>
          </a:p>
          <a:p>
            <a:pPr marL="554990" marR="1485265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Used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behavioral</a:t>
            </a:r>
            <a:r>
              <a:rPr dirty="0" sz="3000" spc="-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anomaly</a:t>
            </a:r>
            <a:r>
              <a:rPr dirty="0" sz="3000" spc="-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detection</a:t>
            </a:r>
            <a:r>
              <a:rPr dirty="0" sz="3000" spc="-5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to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identify </a:t>
            </a:r>
            <a:r>
              <a:rPr dirty="0" sz="3000">
                <a:latin typeface="Calibri"/>
                <a:cs typeface="Calibri"/>
              </a:rPr>
              <a:t>malicious</a:t>
            </a:r>
            <a:r>
              <a:rPr dirty="0" sz="3000" spc="-12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activities.</a:t>
            </a:r>
            <a:endParaRPr sz="3000">
              <a:latin typeface="Calibri"/>
              <a:cs typeface="Calibri"/>
            </a:endParaRPr>
          </a:p>
          <a:p>
            <a:pPr marL="554990" marR="4953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Generated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explainable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anomaly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predictions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security analysts.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3000" b="1">
                <a:latin typeface="Calibri"/>
                <a:cs typeface="Calibri"/>
              </a:rPr>
              <a:t>Relevance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to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CORTEX:</a:t>
            </a:r>
            <a:endParaRPr sz="3000">
              <a:latin typeface="Calibri"/>
              <a:cs typeface="Calibri"/>
            </a:endParaRPr>
          </a:p>
          <a:p>
            <a:pPr marL="554990" marR="79121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No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operational</a:t>
            </a:r>
            <a:r>
              <a:rPr dirty="0" sz="3000" spc="-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context</a:t>
            </a:r>
            <a:r>
              <a:rPr dirty="0" sz="3000" spc="-1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awareness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we</a:t>
            </a:r>
            <a:r>
              <a:rPr dirty="0" sz="3000" spc="-10">
                <a:latin typeface="Calibri"/>
                <a:cs typeface="Calibri"/>
              </a:rPr>
              <a:t> incorporate </a:t>
            </a:r>
            <a:r>
              <a:rPr dirty="0" sz="3000">
                <a:latin typeface="Calibri"/>
                <a:cs typeface="Calibri"/>
              </a:rPr>
              <a:t>maintenance,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firmware,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device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roles.</a:t>
            </a:r>
            <a:endParaRPr sz="3000">
              <a:latin typeface="Calibri"/>
              <a:cs typeface="Calibri"/>
            </a:endParaRPr>
          </a:p>
          <a:p>
            <a:pPr marL="55499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No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context-aware</a:t>
            </a:r>
            <a:r>
              <a:rPr dirty="0" sz="3000" spc="-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anomaly</a:t>
            </a:r>
            <a:r>
              <a:rPr dirty="0" sz="3000" spc="-1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validation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we</a:t>
            </a:r>
            <a:r>
              <a:rPr dirty="0" sz="3000" spc="-10">
                <a:latin typeface="Calibri"/>
                <a:cs typeface="Calibri"/>
              </a:rPr>
              <a:t> introduce</a:t>
            </a:r>
            <a:endParaRPr sz="3000">
              <a:latin typeface="Calibri"/>
              <a:cs typeface="Calibri"/>
            </a:endParaRPr>
          </a:p>
          <a:p>
            <a:pPr marL="554990">
              <a:lnSpc>
                <a:spcPct val="100000"/>
              </a:lnSpc>
            </a:pPr>
            <a:r>
              <a:rPr dirty="0" sz="3000" b="1">
                <a:latin typeface="Calibri"/>
                <a:cs typeface="Calibri"/>
              </a:rPr>
              <a:t>Context-Aware</a:t>
            </a:r>
            <a:r>
              <a:rPr dirty="0" sz="3000" spc="-7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Adaptive</a:t>
            </a:r>
            <a:r>
              <a:rPr dirty="0" sz="3000" spc="-7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Behavioral</a:t>
            </a:r>
            <a:r>
              <a:rPr dirty="0" sz="3000" spc="-7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Intelligence</a:t>
            </a:r>
            <a:r>
              <a:rPr dirty="0" sz="3000" spc="-70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(CABI)</a:t>
            </a:r>
            <a:r>
              <a:rPr dirty="0" sz="3000" spc="-1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 marL="554990" marR="76962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Limited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analyst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reasoning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we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provide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X-UEBA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with </a:t>
            </a:r>
            <a:r>
              <a:rPr dirty="0" sz="3000">
                <a:latin typeface="Calibri"/>
                <a:cs typeface="Calibri"/>
              </a:rPr>
              <a:t>contextual explanations and confidence </a:t>
            </a:r>
            <a:r>
              <a:rPr dirty="0" sz="3000" spc="-10">
                <a:latin typeface="Calibri"/>
                <a:cs typeface="Calibri"/>
              </a:rPr>
              <a:t>scores.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561626" y="9457244"/>
            <a:ext cx="1216025" cy="405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 sz="2700">
                <a:solidFill>
                  <a:srgbClr val="FFFFFF"/>
                </a:solidFill>
                <a:latin typeface="Times New Roman"/>
                <a:cs typeface="Times New Roman"/>
              </a:rPr>
              <a:t>Page:</a:t>
            </a:r>
            <a:r>
              <a:rPr dirty="0" sz="27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700" spc="-25">
                <a:solidFill>
                  <a:srgbClr val="FFFFFF"/>
                </a:solidFill>
                <a:latin typeface="Times New Roman"/>
                <a:cs typeface="Times New Roman"/>
              </a:rPr>
              <a:t>09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7299" y="1037272"/>
            <a:ext cx="365125" cy="1005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590"/>
              </a:lnSpc>
            </a:pPr>
            <a:r>
              <a:rPr dirty="0" sz="6600" spc="135">
                <a:latin typeface="Trebuchet MS"/>
                <a:cs typeface="Trebuchet MS"/>
              </a:rPr>
              <a:t>s</a:t>
            </a:r>
            <a:endParaRPr sz="6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000" cy="10253980"/>
            <a:chOff x="0" y="0"/>
            <a:chExt cx="18288000" cy="102539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536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5832" y="4918692"/>
              <a:ext cx="95250" cy="952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5832" y="5452092"/>
              <a:ext cx="95250" cy="952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5832" y="5985492"/>
              <a:ext cx="95250" cy="952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40307" y="4591667"/>
            <a:ext cx="5114290" cy="16256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3000" b="1">
                <a:latin typeface="Calibri"/>
                <a:cs typeface="Calibri"/>
              </a:rPr>
              <a:t>Conference/Journal: </a:t>
            </a:r>
            <a:r>
              <a:rPr dirty="0" sz="3000">
                <a:latin typeface="Calibri"/>
                <a:cs typeface="Calibri"/>
              </a:rPr>
              <a:t>IEEE </a:t>
            </a:r>
            <a:r>
              <a:rPr dirty="0" sz="3000" spc="-10">
                <a:latin typeface="Calibri"/>
                <a:cs typeface="Calibri"/>
              </a:rPr>
              <a:t>Access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3000" b="1">
                <a:latin typeface="Calibri"/>
                <a:cs typeface="Calibri"/>
              </a:rPr>
              <a:t>Authors</a:t>
            </a:r>
            <a:r>
              <a:rPr dirty="0" sz="3000">
                <a:latin typeface="Calibri"/>
                <a:cs typeface="Calibri"/>
              </a:rPr>
              <a:t>: Daniel G. et </a:t>
            </a:r>
            <a:r>
              <a:rPr dirty="0" sz="3000" spc="-25">
                <a:latin typeface="Calibri"/>
                <a:cs typeface="Calibri"/>
              </a:rPr>
              <a:t>al.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3000" b="1">
                <a:latin typeface="Calibri"/>
                <a:cs typeface="Calibri"/>
              </a:rPr>
              <a:t>Year: </a:t>
            </a:r>
            <a:r>
              <a:rPr dirty="0" sz="3000" spc="-20">
                <a:latin typeface="Calibri"/>
                <a:cs typeface="Calibri"/>
              </a:rPr>
              <a:t>2025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700460" y="603567"/>
            <a:ext cx="14887575" cy="1172210"/>
          </a:xfrm>
          <a:prstGeom prst="rect"/>
        </p:spPr>
        <p:txBody>
          <a:bodyPr wrap="square" lIns="0" tIns="80645" rIns="0" bIns="0" rtlCol="0" vert="horz">
            <a:spAutoFit/>
          </a:bodyPr>
          <a:lstStyle/>
          <a:p>
            <a:pPr marL="4768215" marR="5080" indent="-4756150">
              <a:lnSpc>
                <a:spcPts val="4280"/>
              </a:lnSpc>
              <a:spcBef>
                <a:spcPts val="635"/>
              </a:spcBef>
            </a:pPr>
            <a:r>
              <a:rPr dirty="0" sz="3950"/>
              <a:t>PAPER</a:t>
            </a:r>
            <a:r>
              <a:rPr dirty="0" sz="3950" spc="-20"/>
              <a:t> </a:t>
            </a:r>
            <a:r>
              <a:rPr dirty="0" sz="3950"/>
              <a:t>3:</a:t>
            </a:r>
            <a:r>
              <a:rPr dirty="0" sz="3950" spc="-20"/>
              <a:t> </a:t>
            </a:r>
            <a:r>
              <a:rPr dirty="0" sz="3950"/>
              <a:t>Concept</a:t>
            </a:r>
            <a:r>
              <a:rPr dirty="0" sz="3950" spc="-20"/>
              <a:t> </a:t>
            </a:r>
            <a:r>
              <a:rPr dirty="0" sz="3950"/>
              <a:t>Drift</a:t>
            </a:r>
            <a:r>
              <a:rPr dirty="0" sz="3950" spc="-20"/>
              <a:t> </a:t>
            </a:r>
            <a:r>
              <a:rPr dirty="0" sz="3950"/>
              <a:t>Under</a:t>
            </a:r>
            <a:r>
              <a:rPr dirty="0" sz="3950" spc="-20"/>
              <a:t> </a:t>
            </a:r>
            <a:r>
              <a:rPr dirty="0" sz="3950"/>
              <a:t>Harsh</a:t>
            </a:r>
            <a:r>
              <a:rPr dirty="0" sz="3950" spc="-20"/>
              <a:t> </a:t>
            </a:r>
            <a:r>
              <a:rPr dirty="0" sz="3950"/>
              <a:t>Constraints:</a:t>
            </a:r>
            <a:r>
              <a:rPr dirty="0" sz="3950" spc="-20"/>
              <a:t> </a:t>
            </a:r>
            <a:r>
              <a:rPr dirty="0" sz="3950"/>
              <a:t>A</a:t>
            </a:r>
            <a:r>
              <a:rPr dirty="0" sz="3950" spc="-20"/>
              <a:t> </a:t>
            </a:r>
            <a:r>
              <a:rPr dirty="0" sz="3950"/>
              <a:t>Review</a:t>
            </a:r>
            <a:r>
              <a:rPr dirty="0" sz="3950" spc="-20"/>
              <a:t> </a:t>
            </a:r>
            <a:r>
              <a:rPr dirty="0" sz="3950"/>
              <a:t>of</a:t>
            </a:r>
            <a:r>
              <a:rPr dirty="0" sz="3950" spc="-20"/>
              <a:t> </a:t>
            </a:r>
            <a:r>
              <a:rPr dirty="0" sz="3950" spc="-10"/>
              <a:t>Potential </a:t>
            </a:r>
            <a:r>
              <a:rPr dirty="0" sz="3950"/>
              <a:t>Strategies</a:t>
            </a:r>
            <a:r>
              <a:rPr dirty="0" sz="3950" spc="-35"/>
              <a:t> </a:t>
            </a:r>
            <a:r>
              <a:rPr dirty="0" sz="3950"/>
              <a:t>for</a:t>
            </a:r>
            <a:r>
              <a:rPr dirty="0" sz="3950" spc="-20"/>
              <a:t> </a:t>
            </a:r>
            <a:r>
              <a:rPr dirty="0" sz="3950"/>
              <a:t>IoT</a:t>
            </a:r>
            <a:r>
              <a:rPr dirty="0" sz="3950" spc="-20"/>
              <a:t> </a:t>
            </a:r>
            <a:r>
              <a:rPr dirty="0" sz="3950" spc="-10"/>
              <a:t>Systems</a:t>
            </a:r>
            <a:endParaRPr sz="3950"/>
          </a:p>
        </p:txBody>
      </p:sp>
      <p:grpSp>
        <p:nvGrpSpPr>
          <p:cNvPr id="10" name="object 10"/>
          <p:cNvGrpSpPr/>
          <p:nvPr/>
        </p:nvGrpSpPr>
        <p:grpSpPr>
          <a:xfrm>
            <a:off x="8363142" y="2301568"/>
            <a:ext cx="9315450" cy="6396355"/>
            <a:chOff x="8363142" y="2301568"/>
            <a:chExt cx="9315450" cy="6396355"/>
          </a:xfrm>
        </p:grpSpPr>
        <p:sp>
          <p:nvSpPr>
            <p:cNvPr id="11" name="object 11"/>
            <p:cNvSpPr/>
            <p:nvPr/>
          </p:nvSpPr>
          <p:spPr>
            <a:xfrm>
              <a:off x="8420292" y="2358718"/>
              <a:ext cx="9201150" cy="6282055"/>
            </a:xfrm>
            <a:custGeom>
              <a:avLst/>
              <a:gdLst/>
              <a:ahLst/>
              <a:cxnLst/>
              <a:rect l="l" t="t" r="r" b="b"/>
              <a:pathLst>
                <a:path w="9201150" h="6282055">
                  <a:moveTo>
                    <a:pt x="0" y="0"/>
                  </a:moveTo>
                  <a:lnTo>
                    <a:pt x="9200985" y="0"/>
                  </a:lnTo>
                  <a:lnTo>
                    <a:pt x="9200985" y="6281885"/>
                  </a:lnTo>
                  <a:lnTo>
                    <a:pt x="0" y="6281885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1210" y="3166091"/>
              <a:ext cx="95250" cy="952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1210" y="3623291"/>
              <a:ext cx="95250" cy="95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1210" y="4537691"/>
              <a:ext cx="95250" cy="952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1210" y="5909291"/>
              <a:ext cx="95250" cy="952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1210" y="6823691"/>
              <a:ext cx="95250" cy="952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1210" y="7738091"/>
              <a:ext cx="95250" cy="9524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502760" y="2915267"/>
            <a:ext cx="9032240" cy="551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4990" marR="13208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Reviewed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concept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drift</a:t>
            </a:r>
            <a:r>
              <a:rPr dirty="0" sz="3000" spc="-2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challenges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IoT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systems. </a:t>
            </a:r>
            <a:r>
              <a:rPr dirty="0" sz="3000">
                <a:latin typeface="Calibri"/>
                <a:cs typeface="Calibri"/>
              </a:rPr>
              <a:t>Summarized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drift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adaptation</a:t>
            </a:r>
            <a:r>
              <a:rPr dirty="0" sz="3000" spc="-4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strategies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streaming </a:t>
            </a:r>
            <a:r>
              <a:rPr dirty="0" sz="3000">
                <a:latin typeface="Calibri"/>
                <a:cs typeface="Calibri"/>
              </a:rPr>
              <a:t>IoT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data.</a:t>
            </a:r>
            <a:endParaRPr sz="3000">
              <a:latin typeface="Calibri"/>
              <a:cs typeface="Calibri"/>
            </a:endParaRPr>
          </a:p>
          <a:p>
            <a:pPr marL="554990" marR="1524635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Highlighted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need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context-aware</a:t>
            </a:r>
            <a:r>
              <a:rPr dirty="0" sz="3000" spc="-10" b="1">
                <a:latin typeface="Calibri"/>
                <a:cs typeface="Calibri"/>
              </a:rPr>
              <a:t> drift adaptation</a:t>
            </a:r>
            <a:r>
              <a:rPr dirty="0" sz="3000" spc="-1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3000" b="1">
                <a:latin typeface="Calibri"/>
                <a:cs typeface="Calibri"/>
              </a:rPr>
              <a:t>Relevance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to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CORTEX:</a:t>
            </a:r>
            <a:endParaRPr sz="3000">
              <a:latin typeface="Calibri"/>
              <a:cs typeface="Calibri"/>
            </a:endParaRPr>
          </a:p>
          <a:p>
            <a:pPr marL="554990" marR="348615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No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spc="-25" b="1">
                <a:latin typeface="Calibri"/>
                <a:cs typeface="Calibri"/>
              </a:rPr>
              <a:t>UEBA-</a:t>
            </a:r>
            <a:r>
              <a:rPr dirty="0" sz="3000" b="1">
                <a:latin typeface="Calibri"/>
                <a:cs typeface="Calibri"/>
              </a:rPr>
              <a:t>based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contextual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decision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framework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we </a:t>
            </a:r>
            <a:r>
              <a:rPr dirty="0" sz="3000">
                <a:latin typeface="Calibri"/>
                <a:cs typeface="Calibri"/>
              </a:rPr>
              <a:t>introduce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CABI</a:t>
            </a:r>
            <a:r>
              <a:rPr dirty="0" sz="3000" spc="-10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context-aware</a:t>
            </a:r>
            <a:r>
              <a:rPr dirty="0" sz="3000" spc="-10">
                <a:latin typeface="Calibri"/>
                <a:cs typeface="Calibri"/>
              </a:rPr>
              <a:t> decisions.</a:t>
            </a:r>
            <a:endParaRPr sz="3000">
              <a:latin typeface="Calibri"/>
              <a:cs typeface="Calibri"/>
            </a:endParaRPr>
          </a:p>
          <a:p>
            <a:pPr marL="554990" marR="508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No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baseline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adaptation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using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operational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context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we </a:t>
            </a:r>
            <a:r>
              <a:rPr dirty="0" sz="3000">
                <a:latin typeface="Calibri"/>
                <a:cs typeface="Calibri"/>
              </a:rPr>
              <a:t>combine </a:t>
            </a:r>
            <a:r>
              <a:rPr dirty="0" sz="3000" b="1">
                <a:latin typeface="Calibri"/>
                <a:cs typeface="Calibri"/>
              </a:rPr>
              <a:t>ADWIN </a:t>
            </a:r>
            <a:r>
              <a:rPr dirty="0" sz="3000">
                <a:latin typeface="Calibri"/>
                <a:cs typeface="Calibri"/>
              </a:rPr>
              <a:t>with contextual </a:t>
            </a:r>
            <a:r>
              <a:rPr dirty="0" sz="3000" spc="-10">
                <a:latin typeface="Calibri"/>
                <a:cs typeface="Calibri"/>
              </a:rPr>
              <a:t>verification.</a:t>
            </a:r>
            <a:endParaRPr sz="3000">
              <a:latin typeface="Calibri"/>
              <a:cs typeface="Calibri"/>
            </a:endParaRPr>
          </a:p>
          <a:p>
            <a:pPr marL="554990" marR="1231265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No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drift</a:t>
            </a:r>
            <a:r>
              <a:rPr dirty="0" sz="3000" spc="-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explanation</a:t>
            </a:r>
            <a:r>
              <a:rPr dirty="0" sz="3000" spc="-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for</a:t>
            </a:r>
            <a:r>
              <a:rPr dirty="0" sz="3000" spc="-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analysts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we</a:t>
            </a:r>
            <a:r>
              <a:rPr dirty="0" sz="3000" spc="-10">
                <a:latin typeface="Calibri"/>
                <a:cs typeface="Calibri"/>
              </a:rPr>
              <a:t> generate </a:t>
            </a:r>
            <a:r>
              <a:rPr dirty="0" sz="3000">
                <a:latin typeface="Calibri"/>
                <a:cs typeface="Calibri"/>
              </a:rPr>
              <a:t>explainable drift decisions with </a:t>
            </a:r>
            <a:r>
              <a:rPr dirty="0" sz="3000" spc="-10">
                <a:latin typeface="Calibri"/>
                <a:cs typeface="Calibri"/>
              </a:rPr>
              <a:t>confidence.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7299" y="1037272"/>
            <a:ext cx="365125" cy="1005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590"/>
              </a:lnSpc>
            </a:pPr>
            <a:r>
              <a:rPr dirty="0" sz="6600" spc="135">
                <a:latin typeface="Trebuchet MS"/>
                <a:cs typeface="Trebuchet MS"/>
              </a:rPr>
              <a:t>s</a:t>
            </a:r>
            <a:endParaRPr sz="6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000" cy="10253980"/>
            <a:chOff x="0" y="0"/>
            <a:chExt cx="18288000" cy="102539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536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0160" y="4049294"/>
              <a:ext cx="95250" cy="952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0160" y="5230394"/>
              <a:ext cx="95250" cy="952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0160" y="5820944"/>
              <a:ext cx="95250" cy="952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94635" y="3665119"/>
            <a:ext cx="6990715" cy="238760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3000" b="1">
                <a:latin typeface="Calibri"/>
                <a:cs typeface="Calibri"/>
              </a:rPr>
              <a:t>Conference/Journal: </a:t>
            </a:r>
            <a:r>
              <a:rPr dirty="0" sz="3000" spc="-10">
                <a:latin typeface="Calibri"/>
                <a:cs typeface="Calibri"/>
              </a:rPr>
              <a:t>Cybersecurity(Springer)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3000">
                <a:latin typeface="Calibri"/>
                <a:cs typeface="Calibri"/>
              </a:rPr>
              <a:t>/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arXiv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Preprint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3000" b="1">
                <a:latin typeface="Calibri"/>
                <a:cs typeface="Calibri"/>
              </a:rPr>
              <a:t>Authors</a:t>
            </a:r>
            <a:r>
              <a:rPr dirty="0" sz="3000">
                <a:latin typeface="Calibri"/>
                <a:cs typeface="Calibri"/>
              </a:rPr>
              <a:t>:Padmeswari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Nandiya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et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al.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3000" b="1">
                <a:latin typeface="Calibri"/>
                <a:cs typeface="Calibri"/>
              </a:rPr>
              <a:t>Year: </a:t>
            </a:r>
            <a:r>
              <a:rPr dirty="0" sz="3000" spc="-20">
                <a:latin typeface="Calibri"/>
                <a:cs typeface="Calibri"/>
              </a:rPr>
              <a:t>2026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137890" y="221376"/>
            <a:ext cx="16087725" cy="1172210"/>
          </a:xfrm>
          <a:prstGeom prst="rect"/>
        </p:spPr>
        <p:txBody>
          <a:bodyPr wrap="square" lIns="0" tIns="80645" rIns="0" bIns="0" rtlCol="0" vert="horz">
            <a:spAutoFit/>
          </a:bodyPr>
          <a:lstStyle/>
          <a:p>
            <a:pPr marL="5033010" marR="5080" indent="-5020945">
              <a:lnSpc>
                <a:spcPts val="4280"/>
              </a:lnSpc>
              <a:spcBef>
                <a:spcPts val="635"/>
              </a:spcBef>
            </a:pPr>
            <a:r>
              <a:rPr dirty="0" sz="3950"/>
              <a:t>PAPER</a:t>
            </a:r>
            <a:r>
              <a:rPr dirty="0" sz="3950" spc="-20"/>
              <a:t> </a:t>
            </a:r>
            <a:r>
              <a:rPr dirty="0" sz="3950"/>
              <a:t>4:</a:t>
            </a:r>
            <a:r>
              <a:rPr dirty="0" sz="3950" spc="-20"/>
              <a:t> </a:t>
            </a:r>
            <a:r>
              <a:rPr dirty="0" sz="3950" spc="-10"/>
              <a:t>BRIDG-</a:t>
            </a:r>
            <a:r>
              <a:rPr dirty="0" sz="3950"/>
              <a:t>ICS:</a:t>
            </a:r>
            <a:r>
              <a:rPr dirty="0" sz="3950" spc="-20"/>
              <a:t> </a:t>
            </a:r>
            <a:r>
              <a:rPr dirty="0" sz="3950" spc="-10"/>
              <a:t>AI-</a:t>
            </a:r>
            <a:r>
              <a:rPr dirty="0" sz="3950"/>
              <a:t>Grounded</a:t>
            </a:r>
            <a:r>
              <a:rPr dirty="0" sz="3950" spc="-20"/>
              <a:t> </a:t>
            </a:r>
            <a:r>
              <a:rPr dirty="0" sz="3950"/>
              <a:t>Knowledge</a:t>
            </a:r>
            <a:r>
              <a:rPr dirty="0" sz="3950" spc="-20"/>
              <a:t> </a:t>
            </a:r>
            <a:r>
              <a:rPr dirty="0" sz="3950"/>
              <a:t>Graphs</a:t>
            </a:r>
            <a:r>
              <a:rPr dirty="0" sz="3950" spc="-20"/>
              <a:t> </a:t>
            </a:r>
            <a:r>
              <a:rPr dirty="0" sz="3950"/>
              <a:t>for</a:t>
            </a:r>
            <a:r>
              <a:rPr dirty="0" sz="3950" spc="-20"/>
              <a:t> </a:t>
            </a:r>
            <a:r>
              <a:rPr dirty="0" sz="3950"/>
              <a:t>Intelligent</a:t>
            </a:r>
            <a:r>
              <a:rPr dirty="0" sz="3950" spc="-15"/>
              <a:t> </a:t>
            </a:r>
            <a:r>
              <a:rPr dirty="0" sz="3950" spc="-10"/>
              <a:t>Threat </a:t>
            </a:r>
            <a:r>
              <a:rPr dirty="0" sz="3950"/>
              <a:t>Analytics</a:t>
            </a:r>
            <a:r>
              <a:rPr dirty="0" sz="3950" spc="-25"/>
              <a:t> </a:t>
            </a:r>
            <a:r>
              <a:rPr dirty="0" sz="3950"/>
              <a:t>in</a:t>
            </a:r>
            <a:r>
              <a:rPr dirty="0" sz="3950" spc="-20"/>
              <a:t> </a:t>
            </a:r>
            <a:r>
              <a:rPr dirty="0" sz="3950"/>
              <a:t>Industry</a:t>
            </a:r>
            <a:r>
              <a:rPr dirty="0" sz="3950" spc="-25"/>
              <a:t> </a:t>
            </a:r>
            <a:r>
              <a:rPr dirty="0" sz="3950"/>
              <a:t>5.0</a:t>
            </a:r>
            <a:r>
              <a:rPr dirty="0" sz="3950" spc="-20"/>
              <a:t> </a:t>
            </a:r>
            <a:r>
              <a:rPr dirty="0" sz="3950" spc="-25"/>
              <a:t>CPS</a:t>
            </a:r>
            <a:endParaRPr sz="3950"/>
          </a:p>
        </p:txBody>
      </p:sp>
      <p:grpSp>
        <p:nvGrpSpPr>
          <p:cNvPr id="10" name="object 10"/>
          <p:cNvGrpSpPr/>
          <p:nvPr/>
        </p:nvGrpSpPr>
        <p:grpSpPr>
          <a:xfrm>
            <a:off x="8333184" y="1659731"/>
            <a:ext cx="9315450" cy="7310755"/>
            <a:chOff x="8333184" y="1659731"/>
            <a:chExt cx="9315450" cy="7310755"/>
          </a:xfrm>
        </p:grpSpPr>
        <p:sp>
          <p:nvSpPr>
            <p:cNvPr id="11" name="object 11"/>
            <p:cNvSpPr/>
            <p:nvPr/>
          </p:nvSpPr>
          <p:spPr>
            <a:xfrm>
              <a:off x="8390334" y="1716881"/>
              <a:ext cx="9201150" cy="7196455"/>
            </a:xfrm>
            <a:custGeom>
              <a:avLst/>
              <a:gdLst/>
              <a:ahLst/>
              <a:cxnLst/>
              <a:rect l="l" t="t" r="r" b="b"/>
              <a:pathLst>
                <a:path w="9201150" h="7196455">
                  <a:moveTo>
                    <a:pt x="0" y="0"/>
                  </a:moveTo>
                  <a:lnTo>
                    <a:pt x="9201006" y="0"/>
                  </a:lnTo>
                  <a:lnTo>
                    <a:pt x="9201006" y="7196285"/>
                  </a:lnTo>
                  <a:lnTo>
                    <a:pt x="0" y="7196285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1262" y="2524255"/>
              <a:ext cx="95250" cy="952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1262" y="3438655"/>
              <a:ext cx="95250" cy="95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1262" y="4353055"/>
              <a:ext cx="95250" cy="952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1262" y="5724654"/>
              <a:ext cx="95250" cy="952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1262" y="6639054"/>
              <a:ext cx="95250" cy="952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1262" y="7553454"/>
              <a:ext cx="95250" cy="9524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472813" y="2273430"/>
            <a:ext cx="9003030" cy="642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4990" marR="13208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Developed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AI-grounded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Knowledge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Graph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25">
                <a:latin typeface="Calibri"/>
                <a:cs typeface="Calibri"/>
              </a:rPr>
              <a:t> CPS </a:t>
            </a:r>
            <a:r>
              <a:rPr dirty="0" sz="3000">
                <a:latin typeface="Calibri"/>
                <a:cs typeface="Calibri"/>
              </a:rPr>
              <a:t>threat </a:t>
            </a:r>
            <a:r>
              <a:rPr dirty="0" sz="3000" spc="-10">
                <a:latin typeface="Calibri"/>
                <a:cs typeface="Calibri"/>
              </a:rPr>
              <a:t>analytics.</a:t>
            </a:r>
            <a:endParaRPr sz="3000">
              <a:latin typeface="Calibri"/>
              <a:cs typeface="Calibri"/>
            </a:endParaRPr>
          </a:p>
          <a:p>
            <a:pPr marL="554990" marR="474345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Integrated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LLMs</a:t>
            </a:r>
            <a:r>
              <a:rPr dirty="0" sz="3000" spc="-4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with</a:t>
            </a:r>
            <a:r>
              <a:rPr dirty="0" sz="3000" spc="-4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Knowledge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Graphs</a:t>
            </a:r>
            <a:r>
              <a:rPr dirty="0" sz="3000" spc="-40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threat reasoning.</a:t>
            </a:r>
            <a:endParaRPr sz="3000">
              <a:latin typeface="Calibri"/>
              <a:cs typeface="Calibri"/>
            </a:endParaRPr>
          </a:p>
          <a:p>
            <a:pPr marL="55499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Performed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attack</a:t>
            </a:r>
            <a:r>
              <a:rPr dirty="0" sz="3000" spc="-4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path</a:t>
            </a:r>
            <a:r>
              <a:rPr dirty="0" sz="3000" spc="-4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analysis</a:t>
            </a:r>
            <a:r>
              <a:rPr dirty="0" sz="3000" spc="-45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Industry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5.0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CPS.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0"/>
              </a:spcBef>
            </a:pPr>
            <a:r>
              <a:rPr dirty="0" sz="3000" b="1">
                <a:latin typeface="Calibri"/>
                <a:cs typeface="Calibri"/>
              </a:rPr>
              <a:t>Relevance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to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CORTEX:</a:t>
            </a:r>
            <a:endParaRPr sz="3000">
              <a:latin typeface="Calibri"/>
              <a:cs typeface="Calibri"/>
            </a:endParaRPr>
          </a:p>
          <a:p>
            <a:pPr marL="554990" marR="788035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Lacks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IoT-aware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temporal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and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provenance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graph </a:t>
            </a:r>
            <a:r>
              <a:rPr dirty="0" sz="3000" b="1">
                <a:latin typeface="Calibri"/>
                <a:cs typeface="Calibri"/>
              </a:rPr>
              <a:t>modeling</a:t>
            </a:r>
            <a:r>
              <a:rPr dirty="0" sz="3000" spc="-120" b="1">
                <a:latin typeface="Calibri"/>
                <a:cs typeface="Calibri"/>
              </a:rPr>
              <a:t> </a:t>
            </a:r>
            <a:r>
              <a:rPr dirty="0" sz="3000" spc="-5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 marL="554990" marR="46355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No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confidence-aware</a:t>
            </a:r>
            <a:r>
              <a:rPr dirty="0" sz="3000" spc="-2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graph</a:t>
            </a:r>
            <a:r>
              <a:rPr dirty="0" sz="3000" spc="-2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reasoning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we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add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Graph </a:t>
            </a:r>
            <a:r>
              <a:rPr dirty="0" sz="3000" b="1">
                <a:latin typeface="Calibri"/>
                <a:cs typeface="Calibri"/>
              </a:rPr>
              <a:t>Confidence</a:t>
            </a:r>
            <a:r>
              <a:rPr dirty="0" sz="3000" spc="-4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Scoring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reliable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attack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inference.</a:t>
            </a:r>
            <a:endParaRPr sz="3000">
              <a:latin typeface="Calibri"/>
              <a:cs typeface="Calibri"/>
            </a:endParaRPr>
          </a:p>
          <a:p>
            <a:pPr marL="55499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No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graph-aware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collaborative</a:t>
            </a:r>
            <a:r>
              <a:rPr dirty="0" sz="3000" spc="-2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decision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making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25">
                <a:latin typeface="Calibri"/>
                <a:cs typeface="Calibri"/>
              </a:rPr>
              <a:t> we</a:t>
            </a:r>
            <a:endParaRPr sz="3000">
              <a:latin typeface="Calibri"/>
              <a:cs typeface="Calibri"/>
            </a:endParaRPr>
          </a:p>
          <a:p>
            <a:pPr marL="554990" marR="508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extend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it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with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Graph-Aware</a:t>
            </a:r>
            <a:r>
              <a:rPr dirty="0" sz="3000" spc="-1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Multi-Agent</a:t>
            </a:r>
            <a:r>
              <a:rPr dirty="0" sz="3000" spc="-1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AI</a:t>
            </a:r>
            <a:r>
              <a:rPr dirty="0" sz="3000" spc="-10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10">
                <a:latin typeface="Calibri"/>
                <a:cs typeface="Calibri"/>
              </a:rPr>
              <a:t> Smart-</a:t>
            </a:r>
            <a:r>
              <a:rPr dirty="0" sz="3000">
                <a:latin typeface="Calibri"/>
                <a:cs typeface="Calibri"/>
              </a:rPr>
              <a:t>City </a:t>
            </a:r>
            <a:r>
              <a:rPr dirty="0" sz="3000" spc="-20">
                <a:latin typeface="Calibri"/>
                <a:cs typeface="Calibri"/>
              </a:rPr>
              <a:t>IoT.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7299" y="1037272"/>
            <a:ext cx="365125" cy="1005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590"/>
              </a:lnSpc>
            </a:pPr>
            <a:r>
              <a:rPr dirty="0" sz="6600" spc="135">
                <a:latin typeface="Trebuchet MS"/>
                <a:cs typeface="Trebuchet MS"/>
              </a:rPr>
              <a:t>s</a:t>
            </a:r>
            <a:endParaRPr sz="6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000" cy="10253980"/>
            <a:chOff x="0" y="0"/>
            <a:chExt cx="18288000" cy="102539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536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8426" y="4295775"/>
              <a:ext cx="95250" cy="952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8426" y="4829174"/>
              <a:ext cx="95250" cy="952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8426" y="5362574"/>
              <a:ext cx="95250" cy="952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8426" y="5895974"/>
              <a:ext cx="95250" cy="9524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22901" y="3968750"/>
            <a:ext cx="5114290" cy="2159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dirty="0" sz="3000" b="1">
                <a:latin typeface="Calibri"/>
                <a:cs typeface="Calibri"/>
              </a:rPr>
              <a:t>Conference/Journal: </a:t>
            </a:r>
            <a:r>
              <a:rPr dirty="0" sz="3000">
                <a:latin typeface="Calibri"/>
                <a:cs typeface="Calibri"/>
              </a:rPr>
              <a:t>IEEE </a:t>
            </a:r>
            <a:r>
              <a:rPr dirty="0" sz="3000" spc="-10">
                <a:latin typeface="Calibri"/>
                <a:cs typeface="Calibri"/>
              </a:rPr>
              <a:t>Access </a:t>
            </a:r>
            <a:r>
              <a:rPr dirty="0" sz="3000" b="1">
                <a:latin typeface="Calibri"/>
                <a:cs typeface="Calibri"/>
              </a:rPr>
              <a:t>Authors</a:t>
            </a:r>
            <a:r>
              <a:rPr dirty="0" sz="3000">
                <a:latin typeface="Calibri"/>
                <a:cs typeface="Calibri"/>
              </a:rPr>
              <a:t>:Yasser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Hmimou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et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al.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3000" b="1">
                <a:latin typeface="Calibri"/>
                <a:cs typeface="Calibri"/>
              </a:rPr>
              <a:t>Year: </a:t>
            </a:r>
            <a:r>
              <a:rPr dirty="0" sz="3000" spc="-20">
                <a:latin typeface="Calibri"/>
                <a:cs typeface="Calibri"/>
              </a:rPr>
              <a:t>2025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3000" b="1">
                <a:latin typeface="Calibri"/>
                <a:cs typeface="Calibri"/>
              </a:rPr>
              <a:t>Citations:</a:t>
            </a:r>
            <a:r>
              <a:rPr dirty="0" sz="3000" spc="-15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14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(IEEE</a:t>
            </a:r>
            <a:r>
              <a:rPr dirty="0" sz="3000" spc="-10">
                <a:latin typeface="Calibri"/>
                <a:cs typeface="Calibri"/>
              </a:rPr>
              <a:t> Xplore)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16461" y="396398"/>
            <a:ext cx="14872335" cy="1172210"/>
          </a:xfrm>
          <a:prstGeom prst="rect"/>
        </p:spPr>
        <p:txBody>
          <a:bodyPr wrap="square" lIns="0" tIns="80645" rIns="0" bIns="0" rtlCol="0" vert="horz">
            <a:spAutoFit/>
          </a:bodyPr>
          <a:lstStyle/>
          <a:p>
            <a:pPr marL="3106420" marR="5080" indent="-3094355">
              <a:lnSpc>
                <a:spcPts val="4280"/>
              </a:lnSpc>
              <a:spcBef>
                <a:spcPts val="635"/>
              </a:spcBef>
            </a:pPr>
            <a:r>
              <a:rPr dirty="0" sz="3950"/>
              <a:t>PAPER</a:t>
            </a:r>
            <a:r>
              <a:rPr dirty="0" sz="3950" spc="-20"/>
              <a:t> </a:t>
            </a:r>
            <a:r>
              <a:rPr dirty="0" sz="3950"/>
              <a:t>5:</a:t>
            </a:r>
            <a:r>
              <a:rPr dirty="0" sz="3950" spc="-20"/>
              <a:t> </a:t>
            </a:r>
            <a:r>
              <a:rPr dirty="0" sz="3950"/>
              <a:t>A</a:t>
            </a:r>
            <a:r>
              <a:rPr dirty="0" sz="3950" spc="-20"/>
              <a:t> </a:t>
            </a:r>
            <a:r>
              <a:rPr dirty="0" sz="3950" spc="-10"/>
              <a:t>Multi-</a:t>
            </a:r>
            <a:r>
              <a:rPr dirty="0" sz="3950"/>
              <a:t>Agent</a:t>
            </a:r>
            <a:r>
              <a:rPr dirty="0" sz="3950" spc="-20"/>
              <a:t> </a:t>
            </a:r>
            <a:r>
              <a:rPr dirty="0" sz="3950"/>
              <a:t>System</a:t>
            </a:r>
            <a:r>
              <a:rPr dirty="0" sz="3950" spc="-20"/>
              <a:t> </a:t>
            </a:r>
            <a:r>
              <a:rPr dirty="0" sz="3950"/>
              <a:t>for</a:t>
            </a:r>
            <a:r>
              <a:rPr dirty="0" sz="3950" spc="-20"/>
              <a:t> </a:t>
            </a:r>
            <a:r>
              <a:rPr dirty="0" sz="3950"/>
              <a:t>Cybersecurity</a:t>
            </a:r>
            <a:r>
              <a:rPr dirty="0" sz="3950" spc="-20"/>
              <a:t> </a:t>
            </a:r>
            <a:r>
              <a:rPr dirty="0" sz="3950"/>
              <a:t>Threat</a:t>
            </a:r>
            <a:r>
              <a:rPr dirty="0" sz="3950" spc="-20"/>
              <a:t> </a:t>
            </a:r>
            <a:r>
              <a:rPr dirty="0" sz="3950"/>
              <a:t>Detection</a:t>
            </a:r>
            <a:r>
              <a:rPr dirty="0" sz="3950" spc="-15"/>
              <a:t> </a:t>
            </a:r>
            <a:r>
              <a:rPr dirty="0" sz="3950" spc="-25"/>
              <a:t>and </a:t>
            </a:r>
            <a:r>
              <a:rPr dirty="0" sz="3950"/>
              <a:t>Correlation</a:t>
            </a:r>
            <a:r>
              <a:rPr dirty="0" sz="3950" spc="-35"/>
              <a:t> </a:t>
            </a:r>
            <a:r>
              <a:rPr dirty="0" sz="3950"/>
              <a:t>Using</a:t>
            </a:r>
            <a:r>
              <a:rPr dirty="0" sz="3950" spc="-30"/>
              <a:t> </a:t>
            </a:r>
            <a:r>
              <a:rPr dirty="0" sz="3950"/>
              <a:t>Large</a:t>
            </a:r>
            <a:r>
              <a:rPr dirty="0" sz="3950" spc="-30"/>
              <a:t> </a:t>
            </a:r>
            <a:r>
              <a:rPr dirty="0" sz="3950"/>
              <a:t>Language</a:t>
            </a:r>
            <a:r>
              <a:rPr dirty="0" sz="3950" spc="-30"/>
              <a:t> </a:t>
            </a:r>
            <a:r>
              <a:rPr dirty="0" sz="3950" spc="-10"/>
              <a:t>Models</a:t>
            </a:r>
            <a:endParaRPr sz="3950"/>
          </a:p>
        </p:txBody>
      </p:sp>
      <p:grpSp>
        <p:nvGrpSpPr>
          <p:cNvPr id="11" name="object 11"/>
          <p:cNvGrpSpPr/>
          <p:nvPr/>
        </p:nvGrpSpPr>
        <p:grpSpPr>
          <a:xfrm>
            <a:off x="8012689" y="1899533"/>
            <a:ext cx="10086975" cy="6853555"/>
            <a:chOff x="8012689" y="1899533"/>
            <a:chExt cx="10086975" cy="6853555"/>
          </a:xfrm>
        </p:grpSpPr>
        <p:sp>
          <p:nvSpPr>
            <p:cNvPr id="12" name="object 12"/>
            <p:cNvSpPr/>
            <p:nvPr/>
          </p:nvSpPr>
          <p:spPr>
            <a:xfrm>
              <a:off x="8069839" y="1956683"/>
              <a:ext cx="9972675" cy="6739255"/>
            </a:xfrm>
            <a:custGeom>
              <a:avLst/>
              <a:gdLst/>
              <a:ahLst/>
              <a:cxnLst/>
              <a:rect l="l" t="t" r="r" b="b"/>
              <a:pathLst>
                <a:path w="9972675" h="6739255">
                  <a:moveTo>
                    <a:pt x="9972648" y="6739085"/>
                  </a:moveTo>
                  <a:lnTo>
                    <a:pt x="0" y="6739085"/>
                  </a:lnTo>
                  <a:lnTo>
                    <a:pt x="0" y="0"/>
                  </a:lnTo>
                  <a:lnTo>
                    <a:pt x="9972648" y="0"/>
                  </a:lnTo>
                </a:path>
              </a:pathLst>
            </a:custGeom>
            <a:ln w="114299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0813" y="2764057"/>
              <a:ext cx="95250" cy="95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0813" y="3678457"/>
              <a:ext cx="95250" cy="952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0813" y="4592857"/>
              <a:ext cx="95250" cy="952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0813" y="5964457"/>
              <a:ext cx="95250" cy="952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0813" y="6878857"/>
              <a:ext cx="95250" cy="9524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0813" y="7793257"/>
              <a:ext cx="95250" cy="9524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152363" y="2513232"/>
            <a:ext cx="9416415" cy="596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4990" marR="101854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Proposed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LLM-based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multi-agent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cybersecurity </a:t>
            </a:r>
            <a:r>
              <a:rPr dirty="0" sz="3000">
                <a:latin typeface="Calibri"/>
                <a:cs typeface="Calibri"/>
              </a:rPr>
              <a:t>detection </a:t>
            </a:r>
            <a:r>
              <a:rPr dirty="0" sz="3000" spc="-10">
                <a:latin typeface="Calibri"/>
                <a:cs typeface="Calibri"/>
              </a:rPr>
              <a:t>framework.</a:t>
            </a:r>
            <a:endParaRPr sz="3000">
              <a:latin typeface="Calibri"/>
              <a:cs typeface="Calibri"/>
            </a:endParaRPr>
          </a:p>
          <a:p>
            <a:pPr marL="554990" marR="753745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Correlated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email,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log,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and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IP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threats</a:t>
            </a:r>
            <a:r>
              <a:rPr dirty="0" sz="3000" spc="-25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across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multiple domains.</a:t>
            </a:r>
            <a:endParaRPr sz="3000">
              <a:latin typeface="Calibri"/>
              <a:cs typeface="Calibri"/>
            </a:endParaRPr>
          </a:p>
          <a:p>
            <a:pPr marL="554990" marR="48260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Generated </a:t>
            </a:r>
            <a:r>
              <a:rPr dirty="0" sz="3000" b="1">
                <a:latin typeface="Calibri"/>
                <a:cs typeface="Calibri"/>
              </a:rPr>
              <a:t>contextual threat recommendations </a:t>
            </a:r>
            <a:r>
              <a:rPr dirty="0" sz="3000" spc="-10">
                <a:latin typeface="Calibri"/>
                <a:cs typeface="Calibri"/>
              </a:rPr>
              <a:t>using LLMs.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3000" b="1">
                <a:latin typeface="Calibri"/>
                <a:cs typeface="Calibri"/>
              </a:rPr>
              <a:t>Relevance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to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CORTEX:</a:t>
            </a:r>
            <a:endParaRPr sz="3000">
              <a:latin typeface="Calibri"/>
              <a:cs typeface="Calibri"/>
            </a:endParaRPr>
          </a:p>
          <a:p>
            <a:pPr marL="554990" marR="22352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No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graph-based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threat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reasoning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we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introduce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Graph-</a:t>
            </a:r>
            <a:r>
              <a:rPr dirty="0" sz="3000" b="1">
                <a:latin typeface="Calibri"/>
                <a:cs typeface="Calibri"/>
              </a:rPr>
              <a:t>Aware</a:t>
            </a:r>
            <a:r>
              <a:rPr dirty="0" sz="3000" spc="-1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Alert </a:t>
            </a:r>
            <a:r>
              <a:rPr dirty="0" sz="3000" spc="-10" b="1">
                <a:latin typeface="Calibri"/>
                <a:cs typeface="Calibri"/>
              </a:rPr>
              <a:t>Correlation</a:t>
            </a:r>
            <a:r>
              <a:rPr dirty="0" sz="3000" spc="-1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 marL="554990" marR="71374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No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Temporal</a:t>
            </a:r>
            <a:r>
              <a:rPr dirty="0" sz="3000" spc="-5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Knowledge</a:t>
            </a:r>
            <a:r>
              <a:rPr dirty="0" sz="3000" spc="-5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or</a:t>
            </a:r>
            <a:r>
              <a:rPr dirty="0" sz="3000" spc="-5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Provenance</a:t>
            </a:r>
            <a:r>
              <a:rPr dirty="0" sz="3000" spc="-5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Graphs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we </a:t>
            </a:r>
            <a:r>
              <a:rPr dirty="0" sz="3000">
                <a:latin typeface="Calibri"/>
                <a:cs typeface="Calibri"/>
              </a:rPr>
              <a:t>integrate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both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attack</a:t>
            </a:r>
            <a:r>
              <a:rPr dirty="0" sz="3000" spc="-10">
                <a:latin typeface="Calibri"/>
                <a:cs typeface="Calibri"/>
              </a:rPr>
              <a:t> correlation.</a:t>
            </a:r>
            <a:endParaRPr sz="3000">
              <a:latin typeface="Calibri"/>
              <a:cs typeface="Calibri"/>
            </a:endParaRPr>
          </a:p>
          <a:p>
            <a:pPr marL="554990" marR="508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No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</a:t>
            </a:r>
            <a:r>
              <a:rPr dirty="0" sz="3000" b="1">
                <a:latin typeface="Calibri"/>
                <a:cs typeface="Calibri"/>
              </a:rPr>
              <a:t>mart-City</a:t>
            </a:r>
            <a:r>
              <a:rPr dirty="0" sz="3000" spc="-2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IoT</a:t>
            </a:r>
            <a:r>
              <a:rPr dirty="0" sz="3000" spc="-2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context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or</a:t>
            </a:r>
            <a:r>
              <a:rPr dirty="0" sz="3000" spc="-2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confidence</a:t>
            </a:r>
            <a:r>
              <a:rPr dirty="0" sz="3000" spc="-2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scoring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we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add </a:t>
            </a:r>
            <a:r>
              <a:rPr dirty="0" sz="3000" b="1">
                <a:latin typeface="Calibri"/>
                <a:cs typeface="Calibri"/>
              </a:rPr>
              <a:t>IoT-aware</a:t>
            </a:r>
            <a:r>
              <a:rPr dirty="0" sz="3000" spc="-5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reasoning</a:t>
            </a:r>
            <a:r>
              <a:rPr dirty="0" sz="3000" spc="-50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with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Graph</a:t>
            </a:r>
            <a:r>
              <a:rPr dirty="0" sz="3000" spc="-5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Confidence</a:t>
            </a:r>
            <a:r>
              <a:rPr dirty="0" sz="3000" spc="-55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Scoring</a:t>
            </a:r>
            <a:r>
              <a:rPr dirty="0" sz="3000" spc="-1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7299" y="1037272"/>
            <a:ext cx="365125" cy="1005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590"/>
              </a:lnSpc>
            </a:pPr>
            <a:r>
              <a:rPr dirty="0" sz="6600" spc="135">
                <a:latin typeface="Trebuchet MS"/>
                <a:cs typeface="Trebuchet MS"/>
              </a:rPr>
              <a:t>s</a:t>
            </a:r>
            <a:endParaRPr sz="6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000" cy="10253980"/>
            <a:chOff x="0" y="0"/>
            <a:chExt cx="18288000" cy="102539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536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3224" y="4562474"/>
              <a:ext cx="95250" cy="952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3224" y="5095874"/>
              <a:ext cx="95250" cy="952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3224" y="5629274"/>
              <a:ext cx="95250" cy="952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07699" y="4235450"/>
            <a:ext cx="5674360" cy="1625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dirty="0" sz="3000" b="1">
                <a:latin typeface="Calibri"/>
                <a:cs typeface="Calibri"/>
              </a:rPr>
              <a:t>Conference/Journal:</a:t>
            </a:r>
            <a:r>
              <a:rPr dirty="0" sz="3000" spc="675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IEEE </a:t>
            </a:r>
            <a:r>
              <a:rPr dirty="0" sz="3000" spc="-10">
                <a:latin typeface="Calibri"/>
                <a:cs typeface="Calibri"/>
              </a:rPr>
              <a:t>TrustCom </a:t>
            </a:r>
            <a:r>
              <a:rPr dirty="0" sz="3000" b="1">
                <a:latin typeface="Calibri"/>
                <a:cs typeface="Calibri"/>
              </a:rPr>
              <a:t>Authors</a:t>
            </a:r>
            <a:r>
              <a:rPr dirty="0" sz="3000">
                <a:latin typeface="Calibri"/>
                <a:cs typeface="Calibri"/>
              </a:rPr>
              <a:t>:Canhua Chen et </a:t>
            </a:r>
            <a:r>
              <a:rPr dirty="0" sz="3000" spc="-25">
                <a:latin typeface="Calibri"/>
                <a:cs typeface="Calibri"/>
              </a:rPr>
              <a:t>al.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3000" b="1">
                <a:latin typeface="Calibri"/>
                <a:cs typeface="Calibri"/>
              </a:rPr>
              <a:t>Year: </a:t>
            </a:r>
            <a:r>
              <a:rPr dirty="0" sz="3000" spc="-20">
                <a:latin typeface="Calibri"/>
                <a:cs typeface="Calibri"/>
              </a:rPr>
              <a:t>2025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798538" y="310673"/>
            <a:ext cx="14691360" cy="1172210"/>
          </a:xfrm>
          <a:prstGeom prst="rect"/>
        </p:spPr>
        <p:txBody>
          <a:bodyPr wrap="square" lIns="0" tIns="80645" rIns="0" bIns="0" rtlCol="0" vert="horz">
            <a:spAutoFit/>
          </a:bodyPr>
          <a:lstStyle/>
          <a:p>
            <a:pPr marL="1221105" marR="5080" indent="-1209040">
              <a:lnSpc>
                <a:spcPts val="4280"/>
              </a:lnSpc>
              <a:spcBef>
                <a:spcPts val="635"/>
              </a:spcBef>
            </a:pPr>
            <a:r>
              <a:rPr dirty="0" sz="3950"/>
              <a:t>PAPER</a:t>
            </a:r>
            <a:r>
              <a:rPr dirty="0" sz="3950" spc="-25"/>
              <a:t> </a:t>
            </a:r>
            <a:r>
              <a:rPr dirty="0" sz="3950"/>
              <a:t>6:</a:t>
            </a:r>
            <a:r>
              <a:rPr dirty="0" sz="3950" spc="-20"/>
              <a:t> </a:t>
            </a:r>
            <a:r>
              <a:rPr dirty="0" sz="3950" spc="-10"/>
              <a:t>PROV-</a:t>
            </a:r>
            <a:r>
              <a:rPr dirty="0" sz="3950"/>
              <a:t>LLM:</a:t>
            </a:r>
            <a:r>
              <a:rPr dirty="0" sz="3950" spc="-25"/>
              <a:t> </a:t>
            </a:r>
            <a:r>
              <a:rPr dirty="0" sz="3950"/>
              <a:t>Advanced</a:t>
            </a:r>
            <a:r>
              <a:rPr dirty="0" sz="3950" spc="-20"/>
              <a:t> </a:t>
            </a:r>
            <a:r>
              <a:rPr dirty="0" sz="3950"/>
              <a:t>Persistent</a:t>
            </a:r>
            <a:r>
              <a:rPr dirty="0" sz="3950" spc="-25"/>
              <a:t> </a:t>
            </a:r>
            <a:r>
              <a:rPr dirty="0" sz="3950"/>
              <a:t>Threat</a:t>
            </a:r>
            <a:r>
              <a:rPr dirty="0" sz="3950" spc="-20"/>
              <a:t> </a:t>
            </a:r>
            <a:r>
              <a:rPr dirty="0" sz="3950"/>
              <a:t>Detection</a:t>
            </a:r>
            <a:r>
              <a:rPr dirty="0" sz="3950" spc="-25"/>
              <a:t> </a:t>
            </a:r>
            <a:r>
              <a:rPr dirty="0" sz="3950"/>
              <a:t>Based</a:t>
            </a:r>
            <a:r>
              <a:rPr dirty="0" sz="3950" spc="-20"/>
              <a:t> </a:t>
            </a:r>
            <a:r>
              <a:rPr dirty="0" sz="3950" spc="-25"/>
              <a:t>on </a:t>
            </a:r>
            <a:r>
              <a:rPr dirty="0" sz="3950"/>
              <a:t>Process</a:t>
            </a:r>
            <a:r>
              <a:rPr dirty="0" sz="3950" spc="-30"/>
              <a:t> </a:t>
            </a:r>
            <a:r>
              <a:rPr dirty="0" sz="3950"/>
              <a:t>Behavior</a:t>
            </a:r>
            <a:r>
              <a:rPr dirty="0" sz="3950" spc="-30"/>
              <a:t> </a:t>
            </a:r>
            <a:r>
              <a:rPr dirty="0" sz="3950"/>
              <a:t>Subgraphs</a:t>
            </a:r>
            <a:r>
              <a:rPr dirty="0" sz="3950" spc="-30"/>
              <a:t> </a:t>
            </a:r>
            <a:r>
              <a:rPr dirty="0" sz="3950"/>
              <a:t>Using</a:t>
            </a:r>
            <a:r>
              <a:rPr dirty="0" sz="3950" spc="-30"/>
              <a:t> </a:t>
            </a:r>
            <a:r>
              <a:rPr dirty="0" sz="3950"/>
              <a:t>Large</a:t>
            </a:r>
            <a:r>
              <a:rPr dirty="0" sz="3950" spc="-30"/>
              <a:t> </a:t>
            </a:r>
            <a:r>
              <a:rPr dirty="0" sz="3950"/>
              <a:t>Language</a:t>
            </a:r>
            <a:r>
              <a:rPr dirty="0" sz="3950" spc="-30"/>
              <a:t> </a:t>
            </a:r>
            <a:r>
              <a:rPr dirty="0" sz="3950" spc="-10"/>
              <a:t>Models</a:t>
            </a:r>
            <a:endParaRPr sz="3950"/>
          </a:p>
        </p:txBody>
      </p:sp>
      <p:grpSp>
        <p:nvGrpSpPr>
          <p:cNvPr id="10" name="object 10"/>
          <p:cNvGrpSpPr/>
          <p:nvPr/>
        </p:nvGrpSpPr>
        <p:grpSpPr>
          <a:xfrm>
            <a:off x="8273131" y="1681574"/>
            <a:ext cx="9570085" cy="7310755"/>
            <a:chOff x="8273131" y="1681574"/>
            <a:chExt cx="9570085" cy="7310755"/>
          </a:xfrm>
        </p:grpSpPr>
        <p:sp>
          <p:nvSpPr>
            <p:cNvPr id="11" name="object 11"/>
            <p:cNvSpPr/>
            <p:nvPr/>
          </p:nvSpPr>
          <p:spPr>
            <a:xfrm>
              <a:off x="8330281" y="1738724"/>
              <a:ext cx="9455785" cy="7196455"/>
            </a:xfrm>
            <a:custGeom>
              <a:avLst/>
              <a:gdLst/>
              <a:ahLst/>
              <a:cxnLst/>
              <a:rect l="l" t="t" r="r" b="b"/>
              <a:pathLst>
                <a:path w="9455785" h="7196455">
                  <a:moveTo>
                    <a:pt x="0" y="0"/>
                  </a:moveTo>
                  <a:lnTo>
                    <a:pt x="9455395" y="0"/>
                  </a:lnTo>
                  <a:lnTo>
                    <a:pt x="9455395" y="7196285"/>
                  </a:lnTo>
                  <a:lnTo>
                    <a:pt x="0" y="7196285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1230" y="2546098"/>
              <a:ext cx="95250" cy="952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1230" y="3460498"/>
              <a:ext cx="95250" cy="95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1230" y="4374898"/>
              <a:ext cx="95250" cy="952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1230" y="5746498"/>
              <a:ext cx="95250" cy="952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1230" y="6660898"/>
              <a:ext cx="95250" cy="952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1230" y="7575298"/>
              <a:ext cx="95250" cy="9524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412780" y="2295273"/>
            <a:ext cx="9251315" cy="642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4990" marR="937894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Proposed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LLM-based</a:t>
            </a:r>
            <a:r>
              <a:rPr dirty="0" sz="3000" spc="-2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APT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detection</a:t>
            </a:r>
            <a:r>
              <a:rPr dirty="0" sz="3000" spc="-25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using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process </a:t>
            </a:r>
            <a:r>
              <a:rPr dirty="0" sz="3000">
                <a:latin typeface="Calibri"/>
                <a:cs typeface="Calibri"/>
              </a:rPr>
              <a:t>provenance </a:t>
            </a:r>
            <a:r>
              <a:rPr dirty="0" sz="3000" spc="-10">
                <a:latin typeface="Calibri"/>
                <a:cs typeface="Calibri"/>
              </a:rPr>
              <a:t>subgraphs.</a:t>
            </a:r>
            <a:endParaRPr sz="3000">
              <a:latin typeface="Calibri"/>
              <a:cs typeface="Calibri"/>
            </a:endParaRPr>
          </a:p>
          <a:p>
            <a:pPr marL="554990" marR="99060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Modeled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process</a:t>
            </a:r>
            <a:r>
              <a:rPr dirty="0" sz="3000" spc="-7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behavior</a:t>
            </a:r>
            <a:r>
              <a:rPr dirty="0" sz="3000" spc="-8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provenance</a:t>
            </a:r>
            <a:r>
              <a:rPr dirty="0" sz="3000" spc="-75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attack analysis.</a:t>
            </a:r>
            <a:endParaRPr sz="3000">
              <a:latin typeface="Calibri"/>
              <a:cs typeface="Calibri"/>
            </a:endParaRPr>
          </a:p>
          <a:p>
            <a:pPr marL="554990" marR="78486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Generated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LLM-assisted</a:t>
            </a:r>
            <a:r>
              <a:rPr dirty="0" sz="3000" spc="-1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explanations</a:t>
            </a:r>
            <a:r>
              <a:rPr dirty="0" sz="3000" spc="-10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10">
                <a:latin typeface="Calibri"/>
                <a:cs typeface="Calibri"/>
              </a:rPr>
              <a:t> detected threats.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3000" b="1">
                <a:latin typeface="Calibri"/>
                <a:cs typeface="Calibri"/>
              </a:rPr>
              <a:t>Relevance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to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CORTEX:</a:t>
            </a:r>
            <a:endParaRPr sz="3000">
              <a:latin typeface="Calibri"/>
              <a:cs typeface="Calibri"/>
            </a:endParaRPr>
          </a:p>
          <a:p>
            <a:pPr marL="554990" marR="202565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Limited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to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process</a:t>
            </a:r>
            <a:r>
              <a:rPr dirty="0" sz="3000" spc="-5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provenance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we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model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Temporal</a:t>
            </a:r>
            <a:r>
              <a:rPr dirty="0" sz="3000" spc="-45" b="1">
                <a:latin typeface="Calibri"/>
                <a:cs typeface="Calibri"/>
              </a:rPr>
              <a:t> </a:t>
            </a:r>
            <a:r>
              <a:rPr dirty="0" sz="3000" spc="-50" b="1">
                <a:latin typeface="Calibri"/>
                <a:cs typeface="Calibri"/>
              </a:rPr>
              <a:t>&amp; </a:t>
            </a:r>
            <a:r>
              <a:rPr dirty="0" sz="3000" b="1">
                <a:latin typeface="Calibri"/>
                <a:cs typeface="Calibri"/>
              </a:rPr>
              <a:t>Network</a:t>
            </a:r>
            <a:r>
              <a:rPr dirty="0" sz="3000" spc="-5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Provenance</a:t>
            </a:r>
            <a:r>
              <a:rPr dirty="0" sz="3000" spc="-4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Graphs</a:t>
            </a:r>
            <a:r>
              <a:rPr dirty="0" sz="3000" spc="-45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IoT.</a:t>
            </a:r>
            <a:endParaRPr sz="3000">
              <a:latin typeface="Calibri"/>
              <a:cs typeface="Calibri"/>
            </a:endParaRPr>
          </a:p>
          <a:p>
            <a:pPr marL="554990" marR="508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No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collaborative</a:t>
            </a:r>
            <a:r>
              <a:rPr dirty="0" sz="3000" spc="-2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multi-agent</a:t>
            </a:r>
            <a:r>
              <a:rPr dirty="0" sz="3000" spc="-2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reasoning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we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introduce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spc="-50">
                <a:latin typeface="Calibri"/>
                <a:cs typeface="Calibri"/>
              </a:rPr>
              <a:t>a </a:t>
            </a:r>
            <a:r>
              <a:rPr dirty="0" sz="3000" b="1">
                <a:latin typeface="Calibri"/>
                <a:cs typeface="Calibri"/>
              </a:rPr>
              <a:t>Graph-Aware Multi-Agent Decision </a:t>
            </a:r>
            <a:r>
              <a:rPr dirty="0" sz="3000" spc="-10" b="1">
                <a:latin typeface="Calibri"/>
                <a:cs typeface="Calibri"/>
              </a:rPr>
              <a:t>Engine</a:t>
            </a:r>
            <a:r>
              <a:rPr dirty="0" sz="3000" spc="-1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 marL="554990" marR="4318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No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graph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confidence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or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attack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prioritization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we </a:t>
            </a:r>
            <a:r>
              <a:rPr dirty="0" sz="3000">
                <a:latin typeface="Calibri"/>
                <a:cs typeface="Calibri"/>
              </a:rPr>
              <a:t>provide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Graph</a:t>
            </a:r>
            <a:r>
              <a:rPr dirty="0" sz="3000" spc="-2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Confidence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Scoring</a:t>
            </a:r>
            <a:r>
              <a:rPr dirty="0" sz="3000" spc="-25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Adaptive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Attack </a:t>
            </a:r>
            <a:r>
              <a:rPr dirty="0" sz="3000" b="1">
                <a:latin typeface="Calibri"/>
                <a:cs typeface="Calibri"/>
              </a:rPr>
              <a:t>Path </a:t>
            </a:r>
            <a:r>
              <a:rPr dirty="0" sz="3000" spc="-10" b="1">
                <a:latin typeface="Calibri"/>
                <a:cs typeface="Calibri"/>
              </a:rPr>
              <a:t>Prioritization</a:t>
            </a:r>
            <a:r>
              <a:rPr dirty="0" sz="3000" spc="-1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7299" y="1037272"/>
            <a:ext cx="365125" cy="1005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590"/>
              </a:lnSpc>
            </a:pPr>
            <a:r>
              <a:rPr dirty="0" sz="6600" spc="135">
                <a:latin typeface="Trebuchet MS"/>
                <a:cs typeface="Trebuchet MS"/>
              </a:rPr>
              <a:t>s</a:t>
            </a:r>
            <a:endParaRPr sz="6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25" y="0"/>
            <a:ext cx="18278475" cy="10253980"/>
            <a:chOff x="9525" y="0"/>
            <a:chExt cx="18278475" cy="102539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" y="0"/>
              <a:ext cx="18278474" cy="102536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7616" y="4860982"/>
              <a:ext cx="95250" cy="952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7616" y="5394382"/>
              <a:ext cx="95250" cy="952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7616" y="5927782"/>
              <a:ext cx="95250" cy="952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62091" y="4533957"/>
            <a:ext cx="5561330" cy="1625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dirty="0" sz="3000" b="1">
                <a:latin typeface="Calibri"/>
                <a:cs typeface="Calibri"/>
              </a:rPr>
              <a:t>Conference/Journal: </a:t>
            </a:r>
            <a:r>
              <a:rPr dirty="0" sz="3000">
                <a:latin typeface="Calibri"/>
                <a:cs typeface="Calibri"/>
              </a:rPr>
              <a:t>IEEE </a:t>
            </a:r>
            <a:r>
              <a:rPr dirty="0" sz="3000" spc="-25">
                <a:latin typeface="Calibri"/>
                <a:cs typeface="Calibri"/>
              </a:rPr>
              <a:t>ISI </a:t>
            </a:r>
            <a:r>
              <a:rPr dirty="0" sz="3000" b="1">
                <a:latin typeface="Calibri"/>
                <a:cs typeface="Calibri"/>
              </a:rPr>
              <a:t>Authors</a:t>
            </a:r>
            <a:r>
              <a:rPr dirty="0" sz="3000">
                <a:latin typeface="Calibri"/>
                <a:cs typeface="Calibri"/>
              </a:rPr>
              <a:t>:Mohammad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M.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Islam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et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al. </a:t>
            </a:r>
            <a:r>
              <a:rPr dirty="0" sz="3000" b="1">
                <a:latin typeface="Calibri"/>
                <a:cs typeface="Calibri"/>
              </a:rPr>
              <a:t>Year: </a:t>
            </a:r>
            <a:r>
              <a:rPr dirty="0" sz="3000" spc="-20">
                <a:latin typeface="Calibri"/>
                <a:cs typeface="Calibri"/>
              </a:rPr>
              <a:t>2025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099022" y="348773"/>
            <a:ext cx="14090015" cy="1172210"/>
          </a:xfrm>
          <a:prstGeom prst="rect"/>
        </p:spPr>
        <p:txBody>
          <a:bodyPr wrap="square" lIns="0" tIns="80645" rIns="0" bIns="0" rtlCol="0" vert="horz">
            <a:spAutoFit/>
          </a:bodyPr>
          <a:lstStyle/>
          <a:p>
            <a:pPr marL="1235075" marR="5080" indent="-1223010">
              <a:lnSpc>
                <a:spcPts val="4280"/>
              </a:lnSpc>
              <a:spcBef>
                <a:spcPts val="635"/>
              </a:spcBef>
            </a:pPr>
            <a:r>
              <a:rPr dirty="0" sz="3950"/>
              <a:t>PAPER</a:t>
            </a:r>
            <a:r>
              <a:rPr dirty="0" sz="3950" spc="-15"/>
              <a:t> </a:t>
            </a:r>
            <a:r>
              <a:rPr dirty="0" sz="3950"/>
              <a:t>7:</a:t>
            </a:r>
            <a:r>
              <a:rPr dirty="0" sz="3950" spc="960"/>
              <a:t> </a:t>
            </a:r>
            <a:r>
              <a:rPr dirty="0" sz="3950"/>
              <a:t>Integrating</a:t>
            </a:r>
            <a:r>
              <a:rPr dirty="0" sz="3950" spc="-15"/>
              <a:t> </a:t>
            </a:r>
            <a:r>
              <a:rPr dirty="0" sz="3950"/>
              <a:t>Knowledge</a:t>
            </a:r>
            <a:r>
              <a:rPr dirty="0" sz="3950" spc="-15"/>
              <a:t> </a:t>
            </a:r>
            <a:r>
              <a:rPr dirty="0" sz="3950"/>
              <a:t>Graphs</a:t>
            </a:r>
            <a:r>
              <a:rPr dirty="0" sz="3950" spc="-15"/>
              <a:t> </a:t>
            </a:r>
            <a:r>
              <a:rPr dirty="0" sz="3950"/>
              <a:t>with</a:t>
            </a:r>
            <a:r>
              <a:rPr dirty="0" sz="3950" spc="-15"/>
              <a:t> </a:t>
            </a:r>
            <a:r>
              <a:rPr dirty="0" sz="3950" spc="-10"/>
              <a:t>Retrieval-Augmented </a:t>
            </a:r>
            <a:r>
              <a:rPr dirty="0" sz="3950"/>
              <a:t>Generation</a:t>
            </a:r>
            <a:r>
              <a:rPr dirty="0" sz="3950" spc="-40"/>
              <a:t> </a:t>
            </a:r>
            <a:r>
              <a:rPr dirty="0" sz="3950"/>
              <a:t>to</a:t>
            </a:r>
            <a:r>
              <a:rPr dirty="0" sz="3950" spc="-25"/>
              <a:t> </a:t>
            </a:r>
            <a:r>
              <a:rPr dirty="0" sz="3950"/>
              <a:t>Automate</a:t>
            </a:r>
            <a:r>
              <a:rPr dirty="0" sz="3950" spc="-25"/>
              <a:t> </a:t>
            </a:r>
            <a:r>
              <a:rPr dirty="0" sz="3950"/>
              <a:t>IoT</a:t>
            </a:r>
            <a:r>
              <a:rPr dirty="0" sz="3950" spc="-25"/>
              <a:t> </a:t>
            </a:r>
            <a:r>
              <a:rPr dirty="0" sz="3950"/>
              <a:t>Device</a:t>
            </a:r>
            <a:r>
              <a:rPr dirty="0" sz="3950" spc="-25"/>
              <a:t> </a:t>
            </a:r>
            <a:r>
              <a:rPr dirty="0" sz="3950"/>
              <a:t>Security</a:t>
            </a:r>
            <a:r>
              <a:rPr dirty="0" sz="3950" spc="-25"/>
              <a:t> </a:t>
            </a:r>
            <a:r>
              <a:rPr dirty="0" sz="3950" spc="-10"/>
              <a:t>Compliance</a:t>
            </a:r>
            <a:endParaRPr sz="3950"/>
          </a:p>
        </p:txBody>
      </p:sp>
      <p:grpSp>
        <p:nvGrpSpPr>
          <p:cNvPr id="10" name="object 10"/>
          <p:cNvGrpSpPr/>
          <p:nvPr/>
        </p:nvGrpSpPr>
        <p:grpSpPr>
          <a:xfrm>
            <a:off x="8565340" y="2015258"/>
            <a:ext cx="9315450" cy="6853555"/>
            <a:chOff x="8565340" y="2015258"/>
            <a:chExt cx="9315450" cy="6853555"/>
          </a:xfrm>
        </p:grpSpPr>
        <p:sp>
          <p:nvSpPr>
            <p:cNvPr id="11" name="object 11"/>
            <p:cNvSpPr/>
            <p:nvPr/>
          </p:nvSpPr>
          <p:spPr>
            <a:xfrm>
              <a:off x="8622490" y="2072408"/>
              <a:ext cx="9201150" cy="6739255"/>
            </a:xfrm>
            <a:custGeom>
              <a:avLst/>
              <a:gdLst/>
              <a:ahLst/>
              <a:cxnLst/>
              <a:rect l="l" t="t" r="r" b="b"/>
              <a:pathLst>
                <a:path w="9201150" h="6739255">
                  <a:moveTo>
                    <a:pt x="0" y="0"/>
                  </a:moveTo>
                  <a:lnTo>
                    <a:pt x="9200996" y="0"/>
                  </a:lnTo>
                  <a:lnTo>
                    <a:pt x="9200996" y="6739085"/>
                  </a:lnTo>
                  <a:lnTo>
                    <a:pt x="0" y="6739085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03414" y="2879782"/>
              <a:ext cx="95250" cy="952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03414" y="3794182"/>
              <a:ext cx="95250" cy="95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03414" y="4708582"/>
              <a:ext cx="95250" cy="952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03414" y="6080182"/>
              <a:ext cx="95250" cy="952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03414" y="6994582"/>
              <a:ext cx="95250" cy="952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03414" y="7908982"/>
              <a:ext cx="95250" cy="95249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54990" marR="226695">
              <a:lnSpc>
                <a:spcPct val="100000"/>
              </a:lnSpc>
              <a:spcBef>
                <a:spcPts val="100"/>
              </a:spcBef>
            </a:pPr>
            <a:r>
              <a:rPr dirty="0"/>
              <a:t>Developed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 b="1">
                <a:latin typeface="Calibri"/>
                <a:cs typeface="Calibri"/>
              </a:rPr>
              <a:t>Knowledge</a:t>
            </a:r>
            <a:r>
              <a:rPr dirty="0" spc="-4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Graph</a:t>
            </a:r>
            <a:r>
              <a:rPr dirty="0" spc="-4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+</a:t>
            </a:r>
            <a:r>
              <a:rPr dirty="0" spc="-4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RAG</a:t>
            </a:r>
            <a:r>
              <a:rPr dirty="0" spc="-40" b="1">
                <a:latin typeface="Calibri"/>
                <a:cs typeface="Calibri"/>
              </a:rPr>
              <a:t> </a:t>
            </a:r>
            <a:r>
              <a:rPr dirty="0"/>
              <a:t>framework</a:t>
            </a:r>
            <a:r>
              <a:rPr dirty="0" spc="-45"/>
              <a:t> </a:t>
            </a:r>
            <a:r>
              <a:rPr dirty="0" spc="-25"/>
              <a:t>for </a:t>
            </a:r>
            <a:r>
              <a:rPr dirty="0"/>
              <a:t>IoT</a:t>
            </a:r>
            <a:r>
              <a:rPr dirty="0" spc="-30"/>
              <a:t> </a:t>
            </a:r>
            <a:r>
              <a:rPr dirty="0"/>
              <a:t>security</a:t>
            </a:r>
            <a:r>
              <a:rPr dirty="0" spc="-15"/>
              <a:t> </a:t>
            </a:r>
            <a:r>
              <a:rPr dirty="0" spc="-10"/>
              <a:t>compliance.</a:t>
            </a:r>
          </a:p>
          <a:p>
            <a:pPr marL="554990" marR="42545">
              <a:lnSpc>
                <a:spcPct val="100000"/>
              </a:lnSpc>
            </a:pPr>
            <a:r>
              <a:rPr dirty="0"/>
              <a:t>Automated</a:t>
            </a:r>
            <a:r>
              <a:rPr dirty="0" spc="-15"/>
              <a:t> </a:t>
            </a:r>
            <a:r>
              <a:rPr dirty="0" b="1">
                <a:latin typeface="Calibri"/>
                <a:cs typeface="Calibri"/>
              </a:rPr>
              <a:t>NISTIR</a:t>
            </a:r>
            <a:r>
              <a:rPr dirty="0" spc="-1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8259A</a:t>
            </a:r>
            <a:r>
              <a:rPr dirty="0" spc="-10" b="1">
                <a:latin typeface="Calibri"/>
                <a:cs typeface="Calibri"/>
              </a:rPr>
              <a:t> </a:t>
            </a:r>
            <a:r>
              <a:rPr dirty="0"/>
              <a:t>compliance</a:t>
            </a:r>
            <a:r>
              <a:rPr dirty="0" spc="-15"/>
              <a:t> </a:t>
            </a:r>
            <a:r>
              <a:rPr dirty="0"/>
              <a:t>using</a:t>
            </a:r>
            <a:r>
              <a:rPr dirty="0" spc="-15"/>
              <a:t> </a:t>
            </a:r>
            <a:r>
              <a:rPr dirty="0"/>
              <a:t>Neo4j</a:t>
            </a:r>
            <a:r>
              <a:rPr dirty="0" spc="-10"/>
              <a:t> </a:t>
            </a:r>
            <a:r>
              <a:rPr dirty="0" spc="-25"/>
              <a:t>and </a:t>
            </a:r>
            <a:r>
              <a:rPr dirty="0" spc="-10"/>
              <a:t>LLMs.</a:t>
            </a:r>
          </a:p>
          <a:p>
            <a:pPr marL="554990" marR="1036319">
              <a:lnSpc>
                <a:spcPct val="100000"/>
              </a:lnSpc>
            </a:pPr>
            <a:r>
              <a:rPr dirty="0"/>
              <a:t>Improved</a:t>
            </a:r>
            <a:r>
              <a:rPr dirty="0" spc="-60"/>
              <a:t> </a:t>
            </a:r>
            <a:r>
              <a:rPr dirty="0" b="1">
                <a:latin typeface="Calibri"/>
                <a:cs typeface="Calibri"/>
              </a:rPr>
              <a:t>security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knowledge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retrieval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 spc="-10"/>
              <a:t>through </a:t>
            </a:r>
            <a:r>
              <a:rPr dirty="0"/>
              <a:t>graph-based </a:t>
            </a:r>
            <a:r>
              <a:rPr dirty="0" spc="-10"/>
              <a:t>querying.</a:t>
            </a:r>
          </a:p>
          <a:p>
            <a:pPr marL="12700">
              <a:lnSpc>
                <a:spcPct val="100000"/>
              </a:lnSpc>
            </a:pPr>
            <a:r>
              <a:rPr dirty="0" b="1">
                <a:latin typeface="Calibri"/>
                <a:cs typeface="Calibri"/>
              </a:rPr>
              <a:t>Relevance</a:t>
            </a:r>
            <a:r>
              <a:rPr dirty="0" spc="-6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to</a:t>
            </a:r>
            <a:r>
              <a:rPr dirty="0" spc="-6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CORTEX:</a:t>
            </a:r>
          </a:p>
          <a:p>
            <a:pPr marL="554990" marR="5080">
              <a:lnSpc>
                <a:spcPct val="100000"/>
              </a:lnSpc>
            </a:pPr>
            <a:r>
              <a:rPr dirty="0"/>
              <a:t>Limited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 b="1">
                <a:latin typeface="Calibri"/>
                <a:cs typeface="Calibri"/>
              </a:rPr>
              <a:t>IoT</a:t>
            </a:r>
            <a:r>
              <a:rPr dirty="0" spc="-1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compliance</a:t>
            </a:r>
            <a:r>
              <a:rPr dirty="0"/>
              <a:t>;</a:t>
            </a:r>
            <a:r>
              <a:rPr dirty="0" spc="-10"/>
              <a:t> </a:t>
            </a:r>
            <a:r>
              <a:rPr dirty="0"/>
              <a:t>we</a:t>
            </a:r>
            <a:r>
              <a:rPr dirty="0" spc="-10"/>
              <a:t> </a:t>
            </a:r>
            <a:r>
              <a:rPr dirty="0"/>
              <a:t>enable</a:t>
            </a:r>
            <a:r>
              <a:rPr dirty="0" spc="-10"/>
              <a:t> </a:t>
            </a:r>
            <a:r>
              <a:rPr dirty="0" b="1">
                <a:latin typeface="Calibri"/>
                <a:cs typeface="Calibri"/>
              </a:rPr>
              <a:t>real-time</a:t>
            </a:r>
            <a:r>
              <a:rPr dirty="0" spc="-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threat reasoning</a:t>
            </a:r>
            <a:r>
              <a:rPr dirty="0" spc="-10"/>
              <a:t>.</a:t>
            </a:r>
          </a:p>
          <a:p>
            <a:pPr marL="554990" marR="1362075">
              <a:lnSpc>
                <a:spcPct val="100000"/>
              </a:lnSpc>
            </a:pPr>
            <a:r>
              <a:rPr dirty="0"/>
              <a:t>No</a:t>
            </a:r>
            <a:r>
              <a:rPr dirty="0" spc="-45"/>
              <a:t> </a:t>
            </a:r>
            <a:r>
              <a:rPr dirty="0" b="1">
                <a:latin typeface="Calibri"/>
                <a:cs typeface="Calibri"/>
              </a:rPr>
              <a:t>incident</a:t>
            </a:r>
            <a:r>
              <a:rPr dirty="0" spc="-4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response</a:t>
            </a:r>
            <a:r>
              <a:rPr dirty="0" spc="-4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or</a:t>
            </a:r>
            <a:r>
              <a:rPr dirty="0" spc="-4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attack</a:t>
            </a:r>
            <a:r>
              <a:rPr dirty="0" spc="-4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detection</a:t>
            </a:r>
            <a:r>
              <a:rPr dirty="0"/>
              <a:t>;</a:t>
            </a:r>
            <a:r>
              <a:rPr dirty="0" spc="-40"/>
              <a:t> </a:t>
            </a:r>
            <a:r>
              <a:rPr dirty="0" spc="-25"/>
              <a:t>we </a:t>
            </a:r>
            <a:r>
              <a:rPr dirty="0"/>
              <a:t>introduce</a:t>
            </a:r>
            <a:r>
              <a:rPr dirty="0" spc="-10"/>
              <a:t> </a:t>
            </a:r>
            <a:r>
              <a:rPr dirty="0" b="1">
                <a:latin typeface="Calibri"/>
                <a:cs typeface="Calibri"/>
              </a:rPr>
              <a:t>Graph-Aware AI </a:t>
            </a:r>
            <a:r>
              <a:rPr dirty="0" spc="-10" b="1">
                <a:latin typeface="Calibri"/>
                <a:cs typeface="Calibri"/>
              </a:rPr>
              <a:t>Agents</a:t>
            </a:r>
            <a:r>
              <a:rPr dirty="0" spc="-10"/>
              <a:t>.</a:t>
            </a:r>
          </a:p>
          <a:p>
            <a:pPr marL="554990" marR="655955">
              <a:lnSpc>
                <a:spcPct val="100000"/>
              </a:lnSpc>
            </a:pPr>
            <a:r>
              <a:rPr dirty="0"/>
              <a:t>No</a:t>
            </a:r>
            <a:r>
              <a:rPr dirty="0" spc="-35"/>
              <a:t> </a:t>
            </a:r>
            <a:r>
              <a:rPr dirty="0" b="1">
                <a:latin typeface="Calibri"/>
                <a:cs typeface="Calibri"/>
              </a:rPr>
              <a:t>Temporal</a:t>
            </a:r>
            <a:r>
              <a:rPr dirty="0" spc="-3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or</a:t>
            </a:r>
            <a:r>
              <a:rPr dirty="0" spc="-3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Provenance</a:t>
            </a:r>
            <a:r>
              <a:rPr dirty="0" spc="-3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Graphs</a:t>
            </a:r>
            <a:r>
              <a:rPr dirty="0"/>
              <a:t>;</a:t>
            </a:r>
            <a:r>
              <a:rPr dirty="0" spc="-30"/>
              <a:t> </a:t>
            </a:r>
            <a:r>
              <a:rPr dirty="0"/>
              <a:t>we</a:t>
            </a:r>
            <a:r>
              <a:rPr dirty="0" spc="-30"/>
              <a:t> </a:t>
            </a:r>
            <a:r>
              <a:rPr dirty="0" spc="-10"/>
              <a:t>integrate </a:t>
            </a:r>
            <a:r>
              <a:rPr dirty="0"/>
              <a:t>both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 b="1">
                <a:latin typeface="Calibri"/>
                <a:cs typeface="Calibri"/>
              </a:rPr>
              <a:t>attack</a:t>
            </a:r>
            <a:r>
              <a:rPr dirty="0" spc="-1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reconstruction</a:t>
            </a:r>
            <a:r>
              <a:rPr dirty="0" spc="-10"/>
              <a:t>.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7299" y="1037272"/>
            <a:ext cx="365125" cy="1005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590"/>
              </a:lnSpc>
            </a:pPr>
            <a:r>
              <a:rPr dirty="0" sz="6600" spc="135">
                <a:latin typeface="Trebuchet MS"/>
                <a:cs typeface="Trebuchet MS"/>
              </a:rPr>
              <a:t>s</a:t>
            </a:r>
            <a:endParaRPr sz="66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000" cy="10253980"/>
            <a:chOff x="0" y="0"/>
            <a:chExt cx="18288000" cy="102539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536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692" y="4155514"/>
              <a:ext cx="95250" cy="952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692" y="4688914"/>
              <a:ext cx="95250" cy="952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692" y="5222314"/>
              <a:ext cx="95250" cy="952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51167" y="3828489"/>
            <a:ext cx="5387975" cy="16256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3000" b="1">
                <a:latin typeface="Calibri"/>
                <a:cs typeface="Calibri"/>
              </a:rPr>
              <a:t>Conference/Journal: </a:t>
            </a:r>
            <a:r>
              <a:rPr dirty="0" sz="3000">
                <a:latin typeface="Calibri"/>
                <a:cs typeface="Calibri"/>
              </a:rPr>
              <a:t>IEEE </a:t>
            </a:r>
            <a:r>
              <a:rPr dirty="0" sz="3000" spc="-10">
                <a:latin typeface="Calibri"/>
                <a:cs typeface="Calibri"/>
              </a:rPr>
              <a:t>ICTAACS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3000" b="1">
                <a:latin typeface="Calibri"/>
                <a:cs typeface="Calibri"/>
              </a:rPr>
              <a:t>Authors</a:t>
            </a:r>
            <a:r>
              <a:rPr dirty="0" sz="3000">
                <a:latin typeface="Calibri"/>
                <a:cs typeface="Calibri"/>
              </a:rPr>
              <a:t>:</a:t>
            </a:r>
            <a:r>
              <a:rPr dirty="0" sz="3000" spc="6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Lina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Baha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et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al.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3000" b="1">
                <a:latin typeface="Calibri"/>
                <a:cs typeface="Calibri"/>
              </a:rPr>
              <a:t>Year: </a:t>
            </a:r>
            <a:r>
              <a:rPr dirty="0" sz="3000" spc="-20">
                <a:latin typeface="Calibri"/>
                <a:cs typeface="Calibri"/>
              </a:rPr>
              <a:t>2025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626560" y="567848"/>
            <a:ext cx="17289145" cy="6292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50"/>
              <a:t>PAPER</a:t>
            </a:r>
            <a:r>
              <a:rPr dirty="0" sz="3950" spc="-20"/>
              <a:t> </a:t>
            </a:r>
            <a:r>
              <a:rPr dirty="0" sz="3950"/>
              <a:t>8:</a:t>
            </a:r>
            <a:r>
              <a:rPr dirty="0" sz="3950" spc="950"/>
              <a:t> </a:t>
            </a:r>
            <a:r>
              <a:rPr dirty="0" sz="3950"/>
              <a:t>A</a:t>
            </a:r>
            <a:r>
              <a:rPr dirty="0" sz="3950" spc="-20"/>
              <a:t> </a:t>
            </a:r>
            <a:r>
              <a:rPr dirty="0" sz="3950"/>
              <a:t>Hybrid</a:t>
            </a:r>
            <a:r>
              <a:rPr dirty="0" sz="3950" spc="-20"/>
              <a:t> </a:t>
            </a:r>
            <a:r>
              <a:rPr dirty="0" sz="3950" spc="-10"/>
              <a:t>GNN–</a:t>
            </a:r>
            <a:r>
              <a:rPr dirty="0" sz="3950"/>
              <a:t>LLM</a:t>
            </a:r>
            <a:r>
              <a:rPr dirty="0" sz="3950" spc="-20"/>
              <a:t> </a:t>
            </a:r>
            <a:r>
              <a:rPr dirty="0" sz="3950"/>
              <a:t>Framework</a:t>
            </a:r>
            <a:r>
              <a:rPr dirty="0" sz="3950" spc="-20"/>
              <a:t> </a:t>
            </a:r>
            <a:r>
              <a:rPr dirty="0" sz="3950"/>
              <a:t>for</a:t>
            </a:r>
            <a:r>
              <a:rPr dirty="0" sz="3950" spc="-20"/>
              <a:t> </a:t>
            </a:r>
            <a:r>
              <a:rPr dirty="0" sz="3950"/>
              <a:t>Correlating</a:t>
            </a:r>
            <a:r>
              <a:rPr dirty="0" sz="3950" spc="-20"/>
              <a:t> </a:t>
            </a:r>
            <a:r>
              <a:rPr dirty="0" sz="3950"/>
              <a:t>Cybersecurity</a:t>
            </a:r>
            <a:r>
              <a:rPr dirty="0" sz="3950" spc="-20"/>
              <a:t> </a:t>
            </a:r>
            <a:r>
              <a:rPr dirty="0" sz="3950" spc="-10"/>
              <a:t>Incidents</a:t>
            </a:r>
            <a:endParaRPr sz="3950"/>
          </a:p>
        </p:txBody>
      </p:sp>
      <p:grpSp>
        <p:nvGrpSpPr>
          <p:cNvPr id="10" name="object 10"/>
          <p:cNvGrpSpPr/>
          <p:nvPr/>
        </p:nvGrpSpPr>
        <p:grpSpPr>
          <a:xfrm>
            <a:off x="8050472" y="1554956"/>
            <a:ext cx="9265920" cy="7310755"/>
            <a:chOff x="8050472" y="1554956"/>
            <a:chExt cx="9265920" cy="7310755"/>
          </a:xfrm>
        </p:grpSpPr>
        <p:sp>
          <p:nvSpPr>
            <p:cNvPr id="11" name="object 11"/>
            <p:cNvSpPr/>
            <p:nvPr/>
          </p:nvSpPr>
          <p:spPr>
            <a:xfrm>
              <a:off x="8107622" y="1612106"/>
              <a:ext cx="9151620" cy="7196455"/>
            </a:xfrm>
            <a:custGeom>
              <a:avLst/>
              <a:gdLst/>
              <a:ahLst/>
              <a:cxnLst/>
              <a:rect l="l" t="t" r="r" b="b"/>
              <a:pathLst>
                <a:path w="9151619" h="7196455">
                  <a:moveTo>
                    <a:pt x="0" y="0"/>
                  </a:moveTo>
                  <a:lnTo>
                    <a:pt x="9151552" y="0"/>
                  </a:lnTo>
                  <a:lnTo>
                    <a:pt x="9151552" y="7196285"/>
                  </a:lnTo>
                  <a:lnTo>
                    <a:pt x="0" y="7196285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88604" y="2419480"/>
              <a:ext cx="95250" cy="952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88604" y="3333880"/>
              <a:ext cx="95250" cy="952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88604" y="4248280"/>
              <a:ext cx="95250" cy="952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88604" y="5619879"/>
              <a:ext cx="95250" cy="952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88604" y="6534279"/>
              <a:ext cx="95250" cy="952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88604" y="7448679"/>
              <a:ext cx="95250" cy="9524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190154" y="2168655"/>
            <a:ext cx="8855075" cy="642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4990" marR="42545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alibri"/>
                <a:cs typeface="Calibri"/>
              </a:rPr>
              <a:t>Proposed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hybrid</a:t>
            </a:r>
            <a:r>
              <a:rPr dirty="0" sz="3000" spc="-5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GNN–LLM</a:t>
            </a:r>
            <a:r>
              <a:rPr dirty="0" sz="3000" spc="-55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framework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IDS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alert correlation.</a:t>
            </a:r>
            <a:endParaRPr sz="3000">
              <a:latin typeface="Calibri"/>
              <a:cs typeface="Calibri"/>
            </a:endParaRPr>
          </a:p>
          <a:p>
            <a:pPr marL="554990" marR="927735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Used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GraphSAGE</a:t>
            </a:r>
            <a:r>
              <a:rPr dirty="0" sz="3000" spc="-5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to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identify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correlated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security incidents.</a:t>
            </a:r>
            <a:endParaRPr sz="3000">
              <a:latin typeface="Calibri"/>
              <a:cs typeface="Calibri"/>
            </a:endParaRPr>
          </a:p>
          <a:p>
            <a:pPr marL="554990" marR="52197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Generated </a:t>
            </a:r>
            <a:r>
              <a:rPr dirty="0" sz="3000" b="1">
                <a:latin typeface="Calibri"/>
                <a:cs typeface="Calibri"/>
              </a:rPr>
              <a:t>RAG-based explanations </a:t>
            </a:r>
            <a:r>
              <a:rPr dirty="0" sz="3000">
                <a:latin typeface="Calibri"/>
                <a:cs typeface="Calibri"/>
              </a:rPr>
              <a:t>and </a:t>
            </a:r>
            <a:r>
              <a:rPr dirty="0" sz="3000" spc="-10">
                <a:latin typeface="Calibri"/>
                <a:cs typeface="Calibri"/>
              </a:rPr>
              <a:t>response recommendations.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3000" b="1">
                <a:latin typeface="Calibri"/>
                <a:cs typeface="Calibri"/>
              </a:rPr>
              <a:t>Relevance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to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CORTEX:</a:t>
            </a:r>
            <a:endParaRPr sz="3000">
              <a:latin typeface="Calibri"/>
              <a:cs typeface="Calibri"/>
            </a:endParaRPr>
          </a:p>
          <a:p>
            <a:pPr marL="554990" marR="40513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Limited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to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IDS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alert</a:t>
            </a:r>
            <a:r>
              <a:rPr dirty="0" sz="3000" spc="-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correlation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we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perform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multi-</a:t>
            </a:r>
            <a:r>
              <a:rPr dirty="0" sz="3000" b="1">
                <a:latin typeface="Calibri"/>
                <a:cs typeface="Calibri"/>
              </a:rPr>
              <a:t>stage</a:t>
            </a:r>
            <a:r>
              <a:rPr dirty="0" sz="3000" spc="-1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attack </a:t>
            </a:r>
            <a:r>
              <a:rPr dirty="0" sz="3000" spc="-10" b="1">
                <a:latin typeface="Calibri"/>
                <a:cs typeface="Calibri"/>
              </a:rPr>
              <a:t>reconstruction</a:t>
            </a:r>
            <a:r>
              <a:rPr dirty="0" sz="3000" spc="-1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 marL="554990" marR="508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No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confidence-based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decision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fusion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we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introduce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 spc="-50">
                <a:latin typeface="Calibri"/>
                <a:cs typeface="Calibri"/>
              </a:rPr>
              <a:t>a </a:t>
            </a:r>
            <a:r>
              <a:rPr dirty="0" sz="3000" b="1">
                <a:latin typeface="Calibri"/>
                <a:cs typeface="Calibri"/>
              </a:rPr>
              <a:t>Confidence</a:t>
            </a:r>
            <a:r>
              <a:rPr dirty="0" sz="3000" spc="-114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Fusion</a:t>
            </a:r>
            <a:r>
              <a:rPr dirty="0" sz="3000" spc="-110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Engine</a:t>
            </a:r>
            <a:r>
              <a:rPr dirty="0" sz="3000" spc="-1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 marL="554990">
              <a:lnSpc>
                <a:spcPct val="100000"/>
              </a:lnSpc>
            </a:pPr>
            <a:r>
              <a:rPr dirty="0" sz="3000">
                <a:latin typeface="Calibri"/>
                <a:cs typeface="Calibri"/>
              </a:rPr>
              <a:t>No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adaptive</a:t>
            </a:r>
            <a:r>
              <a:rPr dirty="0" sz="3000" spc="-1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mitigation</a:t>
            </a:r>
            <a:r>
              <a:rPr dirty="0" sz="3000" spc="-10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or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threat</a:t>
            </a:r>
            <a:r>
              <a:rPr dirty="0" sz="3000" spc="-1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narratives</a:t>
            </a:r>
            <a:r>
              <a:rPr dirty="0" sz="3000">
                <a:latin typeface="Calibri"/>
                <a:cs typeface="Calibri"/>
              </a:rPr>
              <a:t>;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we</a:t>
            </a:r>
            <a:endParaRPr sz="3000">
              <a:latin typeface="Calibri"/>
              <a:cs typeface="Calibri"/>
            </a:endParaRPr>
          </a:p>
          <a:p>
            <a:pPr marL="554990" marR="283210">
              <a:lnSpc>
                <a:spcPct val="100000"/>
              </a:lnSpc>
            </a:pPr>
            <a:r>
              <a:rPr dirty="0" sz="3000" b="1">
                <a:latin typeface="Calibri"/>
                <a:cs typeface="Calibri"/>
              </a:rPr>
              <a:t>generate</a:t>
            </a:r>
            <a:r>
              <a:rPr dirty="0" sz="3000" spc="-3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context-aware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responses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explainable </a:t>
            </a:r>
            <a:r>
              <a:rPr dirty="0" sz="3000">
                <a:latin typeface="Calibri"/>
                <a:cs typeface="Calibri"/>
              </a:rPr>
              <a:t>attack </a:t>
            </a:r>
            <a:r>
              <a:rPr dirty="0" sz="3000" spc="-10">
                <a:latin typeface="Calibri"/>
                <a:cs typeface="Calibri"/>
              </a:rPr>
              <a:t>narratives.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0873" y="395235"/>
            <a:ext cx="9429748" cy="86201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32105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19413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83572" y="-60324"/>
            <a:ext cx="6520815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THREAT</a:t>
            </a:r>
            <a:r>
              <a:rPr dirty="0" spc="-265"/>
              <a:t> </a:t>
            </a:r>
            <a:r>
              <a:rPr dirty="0" spc="-10"/>
              <a:t>MODEL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81100" y="876299"/>
            <a:ext cx="6610984" cy="8164195"/>
            <a:chOff x="1181100" y="876299"/>
            <a:chExt cx="6610984" cy="8164195"/>
          </a:xfrm>
        </p:grpSpPr>
        <p:sp>
          <p:nvSpPr>
            <p:cNvPr id="5" name="object 5"/>
            <p:cNvSpPr/>
            <p:nvPr/>
          </p:nvSpPr>
          <p:spPr>
            <a:xfrm>
              <a:off x="1257300" y="952499"/>
              <a:ext cx="6408420" cy="3896995"/>
            </a:xfrm>
            <a:custGeom>
              <a:avLst/>
              <a:gdLst/>
              <a:ahLst/>
              <a:cxnLst/>
              <a:rect l="l" t="t" r="r" b="b"/>
              <a:pathLst>
                <a:path w="6408420" h="3896995">
                  <a:moveTo>
                    <a:pt x="6300982" y="3896959"/>
                  </a:moveTo>
                  <a:lnTo>
                    <a:pt x="110624" y="3896959"/>
                  </a:lnTo>
                  <a:lnTo>
                    <a:pt x="85256" y="3889776"/>
                  </a:lnTo>
                  <a:lnTo>
                    <a:pt x="41430" y="3837057"/>
                  </a:lnTo>
                  <a:lnTo>
                    <a:pt x="24300" y="3794813"/>
                  </a:lnTo>
                  <a:lnTo>
                    <a:pt x="11242" y="3744161"/>
                  </a:lnTo>
                  <a:lnTo>
                    <a:pt x="2921" y="3686736"/>
                  </a:lnTo>
                  <a:lnTo>
                    <a:pt x="0" y="3624175"/>
                  </a:lnTo>
                  <a:lnTo>
                    <a:pt x="0" y="272821"/>
                  </a:lnTo>
                  <a:lnTo>
                    <a:pt x="2921" y="210259"/>
                  </a:lnTo>
                  <a:lnTo>
                    <a:pt x="11242" y="152832"/>
                  </a:lnTo>
                  <a:lnTo>
                    <a:pt x="24300" y="102176"/>
                  </a:lnTo>
                  <a:lnTo>
                    <a:pt x="41430" y="59929"/>
                  </a:lnTo>
                  <a:lnTo>
                    <a:pt x="61970" y="27726"/>
                  </a:lnTo>
                  <a:lnTo>
                    <a:pt x="110624" y="0"/>
                  </a:lnTo>
                  <a:lnTo>
                    <a:pt x="6300982" y="0"/>
                  </a:lnTo>
                  <a:lnTo>
                    <a:pt x="6326350" y="7204"/>
                  </a:lnTo>
                  <a:lnTo>
                    <a:pt x="6370180" y="59929"/>
                  </a:lnTo>
                  <a:lnTo>
                    <a:pt x="6387312" y="102176"/>
                  </a:lnTo>
                  <a:lnTo>
                    <a:pt x="6400372" y="152832"/>
                  </a:lnTo>
                  <a:lnTo>
                    <a:pt x="6407887" y="204682"/>
                  </a:lnTo>
                  <a:lnTo>
                    <a:pt x="6407887" y="3692313"/>
                  </a:lnTo>
                  <a:lnTo>
                    <a:pt x="6400372" y="3744161"/>
                  </a:lnTo>
                  <a:lnTo>
                    <a:pt x="6387312" y="3794813"/>
                  </a:lnTo>
                  <a:lnTo>
                    <a:pt x="6370180" y="3837057"/>
                  </a:lnTo>
                  <a:lnTo>
                    <a:pt x="6349637" y="3869257"/>
                  </a:lnTo>
                  <a:lnTo>
                    <a:pt x="6300982" y="38969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257300" y="952499"/>
              <a:ext cx="6412230" cy="3896995"/>
            </a:xfrm>
            <a:custGeom>
              <a:avLst/>
              <a:gdLst/>
              <a:ahLst/>
              <a:cxnLst/>
              <a:rect l="l" t="t" r="r" b="b"/>
              <a:pathLst>
                <a:path w="6412230" h="3896995">
                  <a:moveTo>
                    <a:pt x="0" y="272815"/>
                  </a:moveTo>
                  <a:lnTo>
                    <a:pt x="2922" y="210251"/>
                  </a:lnTo>
                  <a:lnTo>
                    <a:pt x="11245" y="152821"/>
                  </a:lnTo>
                  <a:lnTo>
                    <a:pt x="24305" y="102163"/>
                  </a:lnTo>
                  <a:lnTo>
                    <a:pt x="41441" y="59913"/>
                  </a:lnTo>
                  <a:lnTo>
                    <a:pt x="61990" y="27709"/>
                  </a:lnTo>
                  <a:lnTo>
                    <a:pt x="110657" y="0"/>
                  </a:lnTo>
                  <a:lnTo>
                    <a:pt x="6300924" y="0"/>
                  </a:lnTo>
                  <a:lnTo>
                    <a:pt x="6326317" y="7175"/>
                  </a:lnTo>
                  <a:lnTo>
                    <a:pt x="6370171" y="59907"/>
                  </a:lnTo>
                  <a:lnTo>
                    <a:pt x="6387309" y="102160"/>
                  </a:lnTo>
                  <a:lnTo>
                    <a:pt x="6400371" y="152821"/>
                  </a:lnTo>
                  <a:lnTo>
                    <a:pt x="6408695" y="210253"/>
                  </a:lnTo>
                  <a:lnTo>
                    <a:pt x="6411617" y="272817"/>
                  </a:lnTo>
                  <a:lnTo>
                    <a:pt x="6411620" y="3624125"/>
                  </a:lnTo>
                  <a:lnTo>
                    <a:pt x="6408702" y="3686692"/>
                  </a:lnTo>
                  <a:lnTo>
                    <a:pt x="6400382" y="3744124"/>
                  </a:lnTo>
                  <a:lnTo>
                    <a:pt x="6387324" y="3794786"/>
                  </a:lnTo>
                  <a:lnTo>
                    <a:pt x="6370188" y="3837044"/>
                  </a:lnTo>
                  <a:lnTo>
                    <a:pt x="6349633" y="3869261"/>
                  </a:lnTo>
                  <a:lnTo>
                    <a:pt x="6300924" y="3896980"/>
                  </a:lnTo>
                  <a:lnTo>
                    <a:pt x="110639" y="3896984"/>
                  </a:lnTo>
                  <a:lnTo>
                    <a:pt x="85247" y="3889768"/>
                  </a:lnTo>
                  <a:lnTo>
                    <a:pt x="41416" y="3837021"/>
                  </a:lnTo>
                  <a:lnTo>
                    <a:pt x="24288" y="3794769"/>
                  </a:lnTo>
                  <a:lnTo>
                    <a:pt x="11235" y="3744112"/>
                  </a:lnTo>
                  <a:lnTo>
                    <a:pt x="2918" y="3686684"/>
                  </a:lnTo>
                  <a:lnTo>
                    <a:pt x="0" y="3624122"/>
                  </a:lnTo>
                  <a:lnTo>
                    <a:pt x="0" y="272815"/>
                  </a:lnTo>
                </a:path>
              </a:pathLst>
            </a:custGeom>
            <a:ln w="152400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6825" y="1732346"/>
              <a:ext cx="95250" cy="952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6825" y="2180021"/>
              <a:ext cx="95250" cy="952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6825" y="2627696"/>
              <a:ext cx="95250" cy="952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6825" y="3075371"/>
              <a:ext cx="95250" cy="952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6825" y="3523046"/>
              <a:ext cx="95250" cy="952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6825" y="3970721"/>
              <a:ext cx="95250" cy="952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6825" y="4418396"/>
              <a:ext cx="95250" cy="9524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04925" y="5067299"/>
              <a:ext cx="6407150" cy="3896995"/>
            </a:xfrm>
            <a:custGeom>
              <a:avLst/>
              <a:gdLst/>
              <a:ahLst/>
              <a:cxnLst/>
              <a:rect l="l" t="t" r="r" b="b"/>
              <a:pathLst>
                <a:path w="6407150" h="3896995">
                  <a:moveTo>
                    <a:pt x="6300152" y="3896446"/>
                  </a:moveTo>
                  <a:lnTo>
                    <a:pt x="110609" y="3896446"/>
                  </a:lnTo>
                  <a:lnTo>
                    <a:pt x="85245" y="3889264"/>
                  </a:lnTo>
                  <a:lnTo>
                    <a:pt x="41425" y="3836551"/>
                  </a:lnTo>
                  <a:lnTo>
                    <a:pt x="24297" y="3794313"/>
                  </a:lnTo>
                  <a:lnTo>
                    <a:pt x="11241" y="3743668"/>
                  </a:lnTo>
                  <a:lnTo>
                    <a:pt x="2920" y="3686250"/>
                  </a:lnTo>
                  <a:lnTo>
                    <a:pt x="0" y="3623697"/>
                  </a:lnTo>
                  <a:lnTo>
                    <a:pt x="0" y="272785"/>
                  </a:lnTo>
                  <a:lnTo>
                    <a:pt x="2920" y="210231"/>
                  </a:lnTo>
                  <a:lnTo>
                    <a:pt x="11241" y="152812"/>
                  </a:lnTo>
                  <a:lnTo>
                    <a:pt x="24297" y="102163"/>
                  </a:lnTo>
                  <a:lnTo>
                    <a:pt x="41425" y="59921"/>
                  </a:lnTo>
                  <a:lnTo>
                    <a:pt x="61962" y="27722"/>
                  </a:lnTo>
                  <a:lnTo>
                    <a:pt x="110609" y="0"/>
                  </a:lnTo>
                  <a:lnTo>
                    <a:pt x="6300152" y="0"/>
                  </a:lnTo>
                  <a:lnTo>
                    <a:pt x="6325517" y="7203"/>
                  </a:lnTo>
                  <a:lnTo>
                    <a:pt x="6369340" y="59921"/>
                  </a:lnTo>
                  <a:lnTo>
                    <a:pt x="6386470" y="102163"/>
                  </a:lnTo>
                  <a:lnTo>
                    <a:pt x="6399528" y="152812"/>
                  </a:lnTo>
                  <a:lnTo>
                    <a:pt x="6407043" y="204661"/>
                  </a:lnTo>
                  <a:lnTo>
                    <a:pt x="6407043" y="3691821"/>
                  </a:lnTo>
                  <a:lnTo>
                    <a:pt x="6399528" y="3743668"/>
                  </a:lnTo>
                  <a:lnTo>
                    <a:pt x="6386470" y="3794313"/>
                  </a:lnTo>
                  <a:lnTo>
                    <a:pt x="6369340" y="3836551"/>
                  </a:lnTo>
                  <a:lnTo>
                    <a:pt x="6348801" y="3868747"/>
                  </a:lnTo>
                  <a:lnTo>
                    <a:pt x="6300152" y="38964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304924" y="5067299"/>
              <a:ext cx="6410960" cy="3896995"/>
            </a:xfrm>
            <a:custGeom>
              <a:avLst/>
              <a:gdLst/>
              <a:ahLst/>
              <a:cxnLst/>
              <a:rect l="l" t="t" r="r" b="b"/>
              <a:pathLst>
                <a:path w="6410959" h="3896995">
                  <a:moveTo>
                    <a:pt x="0" y="272779"/>
                  </a:moveTo>
                  <a:lnTo>
                    <a:pt x="2921" y="210223"/>
                  </a:lnTo>
                  <a:lnTo>
                    <a:pt x="11243" y="152801"/>
                  </a:lnTo>
                  <a:lnTo>
                    <a:pt x="24302" y="102150"/>
                  </a:lnTo>
                  <a:lnTo>
                    <a:pt x="41435" y="59905"/>
                  </a:lnTo>
                  <a:lnTo>
                    <a:pt x="61981" y="27705"/>
                  </a:lnTo>
                  <a:lnTo>
                    <a:pt x="110642" y="0"/>
                  </a:lnTo>
                  <a:lnTo>
                    <a:pt x="6300093" y="0"/>
                  </a:lnTo>
                  <a:lnTo>
                    <a:pt x="6325483" y="7174"/>
                  </a:lnTo>
                  <a:lnTo>
                    <a:pt x="6369331" y="59900"/>
                  </a:lnTo>
                  <a:lnTo>
                    <a:pt x="6386466" y="102147"/>
                  </a:lnTo>
                  <a:lnTo>
                    <a:pt x="6399526" y="152801"/>
                  </a:lnTo>
                  <a:lnTo>
                    <a:pt x="6407849" y="210225"/>
                  </a:lnTo>
                  <a:lnTo>
                    <a:pt x="6410771" y="272781"/>
                  </a:lnTo>
                  <a:lnTo>
                    <a:pt x="6410773" y="3623647"/>
                  </a:lnTo>
                  <a:lnTo>
                    <a:pt x="6407856" y="3686206"/>
                  </a:lnTo>
                  <a:lnTo>
                    <a:pt x="6399538" y="3743630"/>
                  </a:lnTo>
                  <a:lnTo>
                    <a:pt x="6386481" y="3794286"/>
                  </a:lnTo>
                  <a:lnTo>
                    <a:pt x="6369348" y="3836538"/>
                  </a:lnTo>
                  <a:lnTo>
                    <a:pt x="6348795" y="3868751"/>
                  </a:lnTo>
                  <a:lnTo>
                    <a:pt x="6300093" y="3896466"/>
                  </a:lnTo>
                  <a:lnTo>
                    <a:pt x="110625" y="3896470"/>
                  </a:lnTo>
                  <a:lnTo>
                    <a:pt x="85235" y="3889255"/>
                  </a:lnTo>
                  <a:lnTo>
                    <a:pt x="41410" y="3836515"/>
                  </a:lnTo>
                  <a:lnTo>
                    <a:pt x="24285" y="3794269"/>
                  </a:lnTo>
                  <a:lnTo>
                    <a:pt x="11233" y="3743618"/>
                  </a:lnTo>
                  <a:lnTo>
                    <a:pt x="2918" y="3686198"/>
                  </a:lnTo>
                  <a:lnTo>
                    <a:pt x="0" y="3623644"/>
                  </a:lnTo>
                  <a:lnTo>
                    <a:pt x="0" y="272779"/>
                  </a:lnTo>
                </a:path>
              </a:pathLst>
            </a:custGeom>
            <a:ln w="152400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7632" y="5925557"/>
              <a:ext cx="95250" cy="952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7632" y="6373232"/>
              <a:ext cx="95250" cy="9524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7632" y="6820907"/>
              <a:ext cx="95250" cy="9524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7632" y="7268582"/>
              <a:ext cx="95250" cy="9524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7632" y="7716257"/>
              <a:ext cx="95250" cy="9524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753600" y="1031274"/>
            <a:ext cx="5216525" cy="7353934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648335" marR="1575435" indent="-636270">
              <a:lnSpc>
                <a:spcPts val="3529"/>
              </a:lnSpc>
              <a:spcBef>
                <a:spcPts val="220"/>
              </a:spcBef>
            </a:pPr>
            <a:r>
              <a:rPr dirty="0" sz="2950" b="1">
                <a:latin typeface="Calibri"/>
                <a:cs typeface="Calibri"/>
              </a:rPr>
              <a:t>Protected</a:t>
            </a:r>
            <a:r>
              <a:rPr dirty="0" sz="2950" spc="-170" b="1">
                <a:latin typeface="Calibri"/>
                <a:cs typeface="Calibri"/>
              </a:rPr>
              <a:t> </a:t>
            </a:r>
            <a:r>
              <a:rPr dirty="0" sz="2950" spc="-10" b="1">
                <a:latin typeface="Calibri"/>
                <a:cs typeface="Calibri"/>
              </a:rPr>
              <a:t>Environment </a:t>
            </a:r>
            <a:r>
              <a:rPr dirty="0" sz="2950">
                <a:latin typeface="Calibri"/>
                <a:cs typeface="Calibri"/>
              </a:rPr>
              <a:t>Smart</a:t>
            </a:r>
            <a:r>
              <a:rPr dirty="0" sz="2950" spc="-7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Hospitals </a:t>
            </a:r>
            <a:r>
              <a:rPr dirty="0" sz="2950">
                <a:latin typeface="Calibri"/>
                <a:cs typeface="Calibri"/>
              </a:rPr>
              <a:t>Smart</a:t>
            </a:r>
            <a:r>
              <a:rPr dirty="0" sz="2950" spc="-75">
                <a:latin typeface="Calibri"/>
                <a:cs typeface="Calibri"/>
              </a:rPr>
              <a:t> </a:t>
            </a:r>
            <a:r>
              <a:rPr dirty="0" sz="2950" spc="-20">
                <a:latin typeface="Calibri"/>
                <a:cs typeface="Calibri"/>
              </a:rPr>
              <a:t>Grid</a:t>
            </a:r>
            <a:endParaRPr sz="2950">
              <a:latin typeface="Calibri"/>
              <a:cs typeface="Calibri"/>
            </a:endParaRPr>
          </a:p>
          <a:p>
            <a:pPr marL="648335">
              <a:lnSpc>
                <a:spcPts val="3390"/>
              </a:lnSpc>
            </a:pPr>
            <a:r>
              <a:rPr dirty="0" sz="2950">
                <a:latin typeface="Calibri"/>
                <a:cs typeface="Calibri"/>
              </a:rPr>
              <a:t>Smart</a:t>
            </a:r>
            <a:r>
              <a:rPr dirty="0" sz="2950" spc="-8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Traffic</a:t>
            </a:r>
            <a:r>
              <a:rPr dirty="0" sz="2950" spc="-8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Management</a:t>
            </a:r>
            <a:endParaRPr sz="2950">
              <a:latin typeface="Calibri"/>
              <a:cs typeface="Calibri"/>
            </a:endParaRPr>
          </a:p>
          <a:p>
            <a:pPr marL="648335" marR="901065">
              <a:lnSpc>
                <a:spcPts val="3529"/>
              </a:lnSpc>
              <a:spcBef>
                <a:spcPts val="120"/>
              </a:spcBef>
            </a:pPr>
            <a:r>
              <a:rPr dirty="0" sz="2950">
                <a:latin typeface="Calibri"/>
                <a:cs typeface="Calibri"/>
              </a:rPr>
              <a:t>Water</a:t>
            </a:r>
            <a:r>
              <a:rPr dirty="0" sz="2950" spc="-10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Treatment</a:t>
            </a:r>
            <a:r>
              <a:rPr dirty="0" sz="2950" spc="-10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Plants </a:t>
            </a:r>
            <a:r>
              <a:rPr dirty="0" sz="2950">
                <a:latin typeface="Calibri"/>
                <a:cs typeface="Calibri"/>
              </a:rPr>
              <a:t>Industrial</a:t>
            </a:r>
            <a:r>
              <a:rPr dirty="0" sz="2950" spc="-125">
                <a:latin typeface="Calibri"/>
                <a:cs typeface="Calibri"/>
              </a:rPr>
              <a:t> </a:t>
            </a:r>
            <a:r>
              <a:rPr dirty="0" sz="2950" spc="-25">
                <a:latin typeface="Calibri"/>
                <a:cs typeface="Calibri"/>
              </a:rPr>
              <a:t>IoT</a:t>
            </a:r>
            <a:endParaRPr sz="2950">
              <a:latin typeface="Calibri"/>
              <a:cs typeface="Calibri"/>
            </a:endParaRPr>
          </a:p>
          <a:p>
            <a:pPr marL="648335">
              <a:lnSpc>
                <a:spcPts val="3395"/>
              </a:lnSpc>
            </a:pPr>
            <a:r>
              <a:rPr dirty="0" sz="2950">
                <a:latin typeface="Calibri"/>
                <a:cs typeface="Calibri"/>
              </a:rPr>
              <a:t>Emergency</a:t>
            </a:r>
            <a:r>
              <a:rPr dirty="0" sz="2950" spc="-11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Response</a:t>
            </a:r>
            <a:r>
              <a:rPr dirty="0" sz="2950" spc="-10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Systems</a:t>
            </a:r>
            <a:endParaRPr sz="2950">
              <a:latin typeface="Calibri"/>
              <a:cs typeface="Calibri"/>
            </a:endParaRPr>
          </a:p>
          <a:p>
            <a:pPr marL="648335">
              <a:lnSpc>
                <a:spcPts val="3529"/>
              </a:lnSpc>
            </a:pPr>
            <a:r>
              <a:rPr dirty="0" sz="2950">
                <a:latin typeface="Calibri"/>
                <a:cs typeface="Calibri"/>
              </a:rPr>
              <a:t>Smart</a:t>
            </a:r>
            <a:r>
              <a:rPr dirty="0" sz="2950" spc="-7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Surveillance</a:t>
            </a:r>
            <a:endParaRPr sz="2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2950">
              <a:latin typeface="Calibri"/>
              <a:cs typeface="Calibri"/>
            </a:endParaRPr>
          </a:p>
          <a:p>
            <a:pPr marL="648970" marR="474980" indent="-636270">
              <a:lnSpc>
                <a:spcPts val="3529"/>
              </a:lnSpc>
            </a:pPr>
            <a:r>
              <a:rPr dirty="0" sz="2950" b="1">
                <a:latin typeface="Calibri"/>
                <a:cs typeface="Calibri"/>
              </a:rPr>
              <a:t>Attack</a:t>
            </a:r>
            <a:r>
              <a:rPr dirty="0" sz="2950" spc="-100" b="1">
                <a:latin typeface="Calibri"/>
                <a:cs typeface="Calibri"/>
              </a:rPr>
              <a:t> </a:t>
            </a:r>
            <a:r>
              <a:rPr dirty="0" sz="2950" spc="-10" b="1">
                <a:latin typeface="Calibri"/>
                <a:cs typeface="Calibri"/>
              </a:rPr>
              <a:t>Objectives</a:t>
            </a:r>
            <a:r>
              <a:rPr dirty="0" sz="2950" spc="735" b="1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Compromise</a:t>
            </a:r>
            <a:r>
              <a:rPr dirty="0" sz="2950" spc="-8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IoT</a:t>
            </a:r>
            <a:r>
              <a:rPr dirty="0" sz="2950" spc="-7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Devices </a:t>
            </a:r>
            <a:r>
              <a:rPr dirty="0" sz="2950">
                <a:latin typeface="Calibri"/>
                <a:cs typeface="Calibri"/>
              </a:rPr>
              <a:t>Disrupt</a:t>
            </a:r>
            <a:r>
              <a:rPr dirty="0" sz="2950" spc="-9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Critical</a:t>
            </a:r>
            <a:r>
              <a:rPr dirty="0" sz="2950" spc="-9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Services </a:t>
            </a:r>
            <a:r>
              <a:rPr dirty="0" sz="2950">
                <a:latin typeface="Calibri"/>
                <a:cs typeface="Calibri"/>
              </a:rPr>
              <a:t>Steal</a:t>
            </a:r>
            <a:r>
              <a:rPr dirty="0" sz="2950" spc="-7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Sensitive</a:t>
            </a:r>
            <a:r>
              <a:rPr dirty="0" sz="2950" spc="-6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Information</a:t>
            </a:r>
            <a:endParaRPr sz="2950">
              <a:latin typeface="Calibri"/>
              <a:cs typeface="Calibri"/>
            </a:endParaRPr>
          </a:p>
          <a:p>
            <a:pPr marL="648970">
              <a:lnSpc>
                <a:spcPts val="3385"/>
              </a:lnSpc>
            </a:pPr>
            <a:r>
              <a:rPr dirty="0" sz="2950">
                <a:latin typeface="Calibri"/>
                <a:cs typeface="Calibri"/>
              </a:rPr>
              <a:t>Perform</a:t>
            </a:r>
            <a:r>
              <a:rPr dirty="0" sz="2950" spc="-8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Lateral</a:t>
            </a:r>
            <a:r>
              <a:rPr dirty="0" sz="2950" spc="-80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Movement</a:t>
            </a:r>
            <a:endParaRPr sz="2950">
              <a:latin typeface="Calibri"/>
              <a:cs typeface="Calibri"/>
            </a:endParaRPr>
          </a:p>
          <a:p>
            <a:pPr marL="648970" marR="1226185">
              <a:lnSpc>
                <a:spcPts val="3529"/>
              </a:lnSpc>
              <a:spcBef>
                <a:spcPts val="95"/>
              </a:spcBef>
            </a:pPr>
            <a:r>
              <a:rPr dirty="0" sz="2950">
                <a:latin typeface="Calibri"/>
                <a:cs typeface="Calibri"/>
              </a:rPr>
              <a:t>Cause </a:t>
            </a:r>
            <a:r>
              <a:rPr dirty="0" sz="2950" spc="-20">
                <a:latin typeface="Calibri"/>
                <a:cs typeface="Calibri"/>
              </a:rPr>
              <a:t>Mission-</a:t>
            </a:r>
            <a:r>
              <a:rPr dirty="0" sz="2950" spc="-10">
                <a:latin typeface="Calibri"/>
                <a:cs typeface="Calibri"/>
              </a:rPr>
              <a:t>Critical Infrastructure</a:t>
            </a:r>
            <a:r>
              <a:rPr dirty="0" sz="2950" spc="-3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Failure</a:t>
            </a:r>
            <a:endParaRPr sz="29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358058" y="876300"/>
            <a:ext cx="6617970" cy="8163559"/>
            <a:chOff x="10358058" y="876300"/>
            <a:chExt cx="6617970" cy="8163559"/>
          </a:xfrm>
        </p:grpSpPr>
        <p:sp>
          <p:nvSpPr>
            <p:cNvPr id="23" name="object 23"/>
            <p:cNvSpPr/>
            <p:nvPr/>
          </p:nvSpPr>
          <p:spPr>
            <a:xfrm>
              <a:off x="10434259" y="952499"/>
              <a:ext cx="6461760" cy="3930015"/>
            </a:xfrm>
            <a:custGeom>
              <a:avLst/>
              <a:gdLst/>
              <a:ahLst/>
              <a:cxnLst/>
              <a:rect l="l" t="t" r="r" b="b"/>
              <a:pathLst>
                <a:path w="6461759" h="3930015">
                  <a:moveTo>
                    <a:pt x="6353901" y="3929688"/>
                  </a:moveTo>
                  <a:lnTo>
                    <a:pt x="111553" y="3929688"/>
                  </a:lnTo>
                  <a:lnTo>
                    <a:pt x="85972" y="3922445"/>
                  </a:lnTo>
                  <a:lnTo>
                    <a:pt x="41778" y="3869283"/>
                  </a:lnTo>
                  <a:lnTo>
                    <a:pt x="24504" y="3826684"/>
                  </a:lnTo>
                  <a:lnTo>
                    <a:pt x="11336" y="3775607"/>
                  </a:lnTo>
                  <a:lnTo>
                    <a:pt x="2945" y="3717700"/>
                  </a:lnTo>
                  <a:lnTo>
                    <a:pt x="0" y="3654613"/>
                  </a:lnTo>
                  <a:lnTo>
                    <a:pt x="0" y="275112"/>
                  </a:lnTo>
                  <a:lnTo>
                    <a:pt x="2945" y="212025"/>
                  </a:lnTo>
                  <a:lnTo>
                    <a:pt x="11336" y="154115"/>
                  </a:lnTo>
                  <a:lnTo>
                    <a:pt x="24504" y="103034"/>
                  </a:lnTo>
                  <a:lnTo>
                    <a:pt x="41778" y="60432"/>
                  </a:lnTo>
                  <a:lnTo>
                    <a:pt x="62491" y="27959"/>
                  </a:lnTo>
                  <a:lnTo>
                    <a:pt x="111553" y="0"/>
                  </a:lnTo>
                  <a:lnTo>
                    <a:pt x="6353901" y="0"/>
                  </a:lnTo>
                  <a:lnTo>
                    <a:pt x="6402966" y="27959"/>
                  </a:lnTo>
                  <a:lnTo>
                    <a:pt x="6423680" y="60432"/>
                  </a:lnTo>
                  <a:lnTo>
                    <a:pt x="6440957" y="103034"/>
                  </a:lnTo>
                  <a:lnTo>
                    <a:pt x="6454126" y="154115"/>
                  </a:lnTo>
                  <a:lnTo>
                    <a:pt x="6461704" y="206404"/>
                  </a:lnTo>
                  <a:lnTo>
                    <a:pt x="6461704" y="3723320"/>
                  </a:lnTo>
                  <a:lnTo>
                    <a:pt x="6454126" y="3775607"/>
                  </a:lnTo>
                  <a:lnTo>
                    <a:pt x="6440957" y="3826684"/>
                  </a:lnTo>
                  <a:lnTo>
                    <a:pt x="6423680" y="3869283"/>
                  </a:lnTo>
                  <a:lnTo>
                    <a:pt x="6402966" y="3901753"/>
                  </a:lnTo>
                  <a:lnTo>
                    <a:pt x="6353901" y="39296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434259" y="952500"/>
              <a:ext cx="6465570" cy="3930015"/>
            </a:xfrm>
            <a:custGeom>
              <a:avLst/>
              <a:gdLst/>
              <a:ahLst/>
              <a:cxnLst/>
              <a:rect l="l" t="t" r="r" b="b"/>
              <a:pathLst>
                <a:path w="6465569" h="3930015">
                  <a:moveTo>
                    <a:pt x="0" y="275107"/>
                  </a:moveTo>
                  <a:lnTo>
                    <a:pt x="2946" y="212017"/>
                  </a:lnTo>
                  <a:lnTo>
                    <a:pt x="11339" y="154105"/>
                  </a:lnTo>
                  <a:lnTo>
                    <a:pt x="24509" y="103021"/>
                  </a:lnTo>
                  <a:lnTo>
                    <a:pt x="41789" y="60416"/>
                  </a:lnTo>
                  <a:lnTo>
                    <a:pt x="62510" y="27942"/>
                  </a:lnTo>
                  <a:lnTo>
                    <a:pt x="111586" y="0"/>
                  </a:lnTo>
                  <a:lnTo>
                    <a:pt x="6353841" y="0"/>
                  </a:lnTo>
                  <a:lnTo>
                    <a:pt x="6379449" y="7234"/>
                  </a:lnTo>
                  <a:lnTo>
                    <a:pt x="6423671" y="60410"/>
                  </a:lnTo>
                  <a:lnTo>
                    <a:pt x="6440952" y="103018"/>
                  </a:lnTo>
                  <a:lnTo>
                    <a:pt x="6454124" y="154105"/>
                  </a:lnTo>
                  <a:lnTo>
                    <a:pt x="6462518" y="212019"/>
                  </a:lnTo>
                  <a:lnTo>
                    <a:pt x="6465465" y="275108"/>
                  </a:lnTo>
                  <a:lnTo>
                    <a:pt x="6465467" y="3654562"/>
                  </a:lnTo>
                  <a:lnTo>
                    <a:pt x="6462525" y="3717655"/>
                  </a:lnTo>
                  <a:lnTo>
                    <a:pt x="6454136" y="3775569"/>
                  </a:lnTo>
                  <a:lnTo>
                    <a:pt x="6440968" y="3826657"/>
                  </a:lnTo>
                  <a:lnTo>
                    <a:pt x="6423688" y="3869270"/>
                  </a:lnTo>
                  <a:lnTo>
                    <a:pt x="6402960" y="3901758"/>
                  </a:lnTo>
                  <a:lnTo>
                    <a:pt x="6353841" y="3929708"/>
                  </a:lnTo>
                  <a:lnTo>
                    <a:pt x="111568" y="3929713"/>
                  </a:lnTo>
                  <a:lnTo>
                    <a:pt x="85962" y="3922436"/>
                  </a:lnTo>
                  <a:lnTo>
                    <a:pt x="41763" y="3869246"/>
                  </a:lnTo>
                  <a:lnTo>
                    <a:pt x="24492" y="3826639"/>
                  </a:lnTo>
                  <a:lnTo>
                    <a:pt x="11329" y="3775557"/>
                  </a:lnTo>
                  <a:lnTo>
                    <a:pt x="2943" y="3717647"/>
                  </a:lnTo>
                  <a:lnTo>
                    <a:pt x="0" y="3654559"/>
                  </a:lnTo>
                  <a:lnTo>
                    <a:pt x="0" y="275107"/>
                  </a:lnTo>
                </a:path>
              </a:pathLst>
            </a:custGeom>
            <a:ln w="152400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68226" y="1761811"/>
              <a:ext cx="95250" cy="9524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68226" y="2657161"/>
              <a:ext cx="95250" cy="9524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68226" y="3104836"/>
              <a:ext cx="95250" cy="9524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68226" y="3552510"/>
              <a:ext cx="95250" cy="9524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68226" y="4000185"/>
              <a:ext cx="95250" cy="9524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0434259" y="5057091"/>
              <a:ext cx="6423660" cy="3906520"/>
            </a:xfrm>
            <a:custGeom>
              <a:avLst/>
              <a:gdLst/>
              <a:ahLst/>
              <a:cxnLst/>
              <a:rect l="l" t="t" r="r" b="b"/>
              <a:pathLst>
                <a:path w="6423659" h="3906520">
                  <a:moveTo>
                    <a:pt x="6316331" y="3906452"/>
                  </a:moveTo>
                  <a:lnTo>
                    <a:pt x="110894" y="3906452"/>
                  </a:lnTo>
                  <a:lnTo>
                    <a:pt x="85464" y="3899251"/>
                  </a:lnTo>
                  <a:lnTo>
                    <a:pt x="41531" y="3846404"/>
                  </a:lnTo>
                  <a:lnTo>
                    <a:pt x="24359" y="3804057"/>
                  </a:lnTo>
                  <a:lnTo>
                    <a:pt x="11269" y="3753281"/>
                  </a:lnTo>
                  <a:lnTo>
                    <a:pt x="2928" y="3695717"/>
                  </a:lnTo>
                  <a:lnTo>
                    <a:pt x="0" y="3633003"/>
                  </a:lnTo>
                  <a:lnTo>
                    <a:pt x="0" y="273486"/>
                  </a:lnTo>
                  <a:lnTo>
                    <a:pt x="2928" y="210771"/>
                  </a:lnTo>
                  <a:lnTo>
                    <a:pt x="11269" y="153204"/>
                  </a:lnTo>
                  <a:lnTo>
                    <a:pt x="24359" y="102425"/>
                  </a:lnTo>
                  <a:lnTo>
                    <a:pt x="41531" y="60075"/>
                  </a:lnTo>
                  <a:lnTo>
                    <a:pt x="62121" y="27793"/>
                  </a:lnTo>
                  <a:lnTo>
                    <a:pt x="110894" y="0"/>
                  </a:lnTo>
                  <a:lnTo>
                    <a:pt x="6316331" y="0"/>
                  </a:lnTo>
                  <a:lnTo>
                    <a:pt x="6341761" y="7221"/>
                  </a:lnTo>
                  <a:lnTo>
                    <a:pt x="6385696" y="60075"/>
                  </a:lnTo>
                  <a:lnTo>
                    <a:pt x="6402871" y="102425"/>
                  </a:lnTo>
                  <a:lnTo>
                    <a:pt x="6415962" y="153204"/>
                  </a:lnTo>
                  <a:lnTo>
                    <a:pt x="6423496" y="205184"/>
                  </a:lnTo>
                  <a:lnTo>
                    <a:pt x="6423496" y="3701304"/>
                  </a:lnTo>
                  <a:lnTo>
                    <a:pt x="6415962" y="3753281"/>
                  </a:lnTo>
                  <a:lnTo>
                    <a:pt x="6402871" y="3804057"/>
                  </a:lnTo>
                  <a:lnTo>
                    <a:pt x="6385696" y="3846404"/>
                  </a:lnTo>
                  <a:lnTo>
                    <a:pt x="6365104" y="3878682"/>
                  </a:lnTo>
                  <a:lnTo>
                    <a:pt x="6316331" y="39064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434258" y="5057091"/>
              <a:ext cx="6427470" cy="3906520"/>
            </a:xfrm>
            <a:custGeom>
              <a:avLst/>
              <a:gdLst/>
              <a:ahLst/>
              <a:cxnLst/>
              <a:rect l="l" t="t" r="r" b="b"/>
              <a:pathLst>
                <a:path w="6427469" h="3906520">
                  <a:moveTo>
                    <a:pt x="0" y="273480"/>
                  </a:moveTo>
                  <a:lnTo>
                    <a:pt x="2929" y="210763"/>
                  </a:lnTo>
                  <a:lnTo>
                    <a:pt x="11272" y="153194"/>
                  </a:lnTo>
                  <a:lnTo>
                    <a:pt x="24364" y="102412"/>
                  </a:lnTo>
                  <a:lnTo>
                    <a:pt x="41541" y="60059"/>
                  </a:lnTo>
                  <a:lnTo>
                    <a:pt x="62140" y="27777"/>
                  </a:lnTo>
                  <a:lnTo>
                    <a:pt x="110926" y="0"/>
                  </a:lnTo>
                  <a:lnTo>
                    <a:pt x="6316269" y="0"/>
                  </a:lnTo>
                  <a:lnTo>
                    <a:pt x="6341726" y="7191"/>
                  </a:lnTo>
                  <a:lnTo>
                    <a:pt x="6385687" y="60053"/>
                  </a:lnTo>
                  <a:lnTo>
                    <a:pt x="6402866" y="102409"/>
                  </a:lnTo>
                  <a:lnTo>
                    <a:pt x="6415960" y="153193"/>
                  </a:lnTo>
                  <a:lnTo>
                    <a:pt x="6424305" y="210765"/>
                  </a:lnTo>
                  <a:lnTo>
                    <a:pt x="6427234" y="273482"/>
                  </a:lnTo>
                  <a:lnTo>
                    <a:pt x="6427236" y="3632952"/>
                  </a:lnTo>
                  <a:lnTo>
                    <a:pt x="6424311" y="3695671"/>
                  </a:lnTo>
                  <a:lnTo>
                    <a:pt x="6415972" y="3753243"/>
                  </a:lnTo>
                  <a:lnTo>
                    <a:pt x="6402881" y="3804029"/>
                  </a:lnTo>
                  <a:lnTo>
                    <a:pt x="6385704" y="3846390"/>
                  </a:lnTo>
                  <a:lnTo>
                    <a:pt x="6365098" y="3878686"/>
                  </a:lnTo>
                  <a:lnTo>
                    <a:pt x="6316269" y="3906472"/>
                  </a:lnTo>
                  <a:lnTo>
                    <a:pt x="110908" y="3906476"/>
                  </a:lnTo>
                  <a:lnTo>
                    <a:pt x="85453" y="3899242"/>
                  </a:lnTo>
                  <a:lnTo>
                    <a:pt x="41516" y="3846366"/>
                  </a:lnTo>
                  <a:lnTo>
                    <a:pt x="24347" y="3804012"/>
                  </a:lnTo>
                  <a:lnTo>
                    <a:pt x="11262" y="3753231"/>
                  </a:lnTo>
                  <a:lnTo>
                    <a:pt x="2925" y="3695663"/>
                  </a:lnTo>
                  <a:lnTo>
                    <a:pt x="0" y="3632949"/>
                  </a:lnTo>
                  <a:lnTo>
                    <a:pt x="0" y="273480"/>
                  </a:lnTo>
                </a:path>
              </a:pathLst>
            </a:custGeom>
            <a:ln w="152400">
              <a:solidFill>
                <a:srgbClr val="BFC1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01345" y="5827781"/>
              <a:ext cx="95250" cy="9524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01345" y="6723131"/>
              <a:ext cx="95250" cy="9524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01345" y="7170806"/>
              <a:ext cx="95250" cy="9524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01345" y="7618481"/>
              <a:ext cx="95250" cy="952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01345" y="8066156"/>
              <a:ext cx="95250" cy="9525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0707645" y="1067121"/>
            <a:ext cx="5934710" cy="767778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79375">
              <a:lnSpc>
                <a:spcPts val="3535"/>
              </a:lnSpc>
              <a:spcBef>
                <a:spcPts val="120"/>
              </a:spcBef>
            </a:pPr>
            <a:r>
              <a:rPr dirty="0" sz="2950" b="1">
                <a:latin typeface="Calibri"/>
                <a:cs typeface="Calibri"/>
              </a:rPr>
              <a:t>Threat</a:t>
            </a:r>
            <a:r>
              <a:rPr dirty="0" sz="2950" spc="-25" b="1">
                <a:latin typeface="Calibri"/>
                <a:cs typeface="Calibri"/>
              </a:rPr>
              <a:t> </a:t>
            </a:r>
            <a:r>
              <a:rPr dirty="0" sz="2950" spc="-10" b="1">
                <a:latin typeface="Calibri"/>
                <a:cs typeface="Calibri"/>
              </a:rPr>
              <a:t>Actors</a:t>
            </a:r>
            <a:endParaRPr sz="2950">
              <a:latin typeface="Calibri"/>
              <a:cs typeface="Calibri"/>
            </a:endParaRPr>
          </a:p>
          <a:p>
            <a:pPr marL="720725" marR="71755">
              <a:lnSpc>
                <a:spcPts val="3529"/>
              </a:lnSpc>
              <a:spcBef>
                <a:spcPts val="114"/>
              </a:spcBef>
            </a:pPr>
            <a:r>
              <a:rPr dirty="0" sz="2950">
                <a:latin typeface="Calibri"/>
                <a:cs typeface="Calibri"/>
              </a:rPr>
              <a:t>Advanced Persistent Threat </a:t>
            </a:r>
            <a:r>
              <a:rPr dirty="0" sz="2950" spc="-10">
                <a:latin typeface="Calibri"/>
                <a:cs typeface="Calibri"/>
              </a:rPr>
              <a:t>(APT) Groups</a:t>
            </a:r>
            <a:endParaRPr sz="2950">
              <a:latin typeface="Calibri"/>
              <a:cs typeface="Calibri"/>
            </a:endParaRPr>
          </a:p>
          <a:p>
            <a:pPr marL="720725">
              <a:lnSpc>
                <a:spcPts val="3395"/>
              </a:lnSpc>
            </a:pPr>
            <a:r>
              <a:rPr dirty="0" sz="2950" spc="-10">
                <a:latin typeface="Calibri"/>
                <a:cs typeface="Calibri"/>
              </a:rPr>
              <a:t>Nation-</a:t>
            </a:r>
            <a:r>
              <a:rPr dirty="0" sz="2950">
                <a:latin typeface="Calibri"/>
                <a:cs typeface="Calibri"/>
              </a:rPr>
              <a:t>State</a:t>
            </a:r>
            <a:r>
              <a:rPr dirty="0" sz="2950" spc="6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Adversaries</a:t>
            </a:r>
            <a:endParaRPr sz="2950">
              <a:latin typeface="Calibri"/>
              <a:cs typeface="Calibri"/>
            </a:endParaRPr>
          </a:p>
          <a:p>
            <a:pPr marL="720725" marR="889635">
              <a:lnSpc>
                <a:spcPts val="3529"/>
              </a:lnSpc>
              <a:spcBef>
                <a:spcPts val="120"/>
              </a:spcBef>
            </a:pPr>
            <a:r>
              <a:rPr dirty="0" sz="2950">
                <a:latin typeface="Calibri"/>
                <a:cs typeface="Calibri"/>
              </a:rPr>
              <a:t>Insider</a:t>
            </a:r>
            <a:r>
              <a:rPr dirty="0" sz="2950" spc="10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Threats</a:t>
            </a:r>
            <a:r>
              <a:rPr dirty="0" sz="2950" spc="73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Ransomware</a:t>
            </a:r>
            <a:r>
              <a:rPr dirty="0" sz="2950" spc="10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Operators </a:t>
            </a:r>
            <a:r>
              <a:rPr dirty="0" sz="2950">
                <a:latin typeface="Calibri"/>
                <a:cs typeface="Calibri"/>
              </a:rPr>
              <a:t>Cybercriminal</a:t>
            </a:r>
            <a:r>
              <a:rPr dirty="0" sz="2950" spc="-2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Organizations</a:t>
            </a:r>
            <a:endParaRPr sz="2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00"/>
              </a:spcBef>
            </a:pPr>
            <a:endParaRPr sz="2950">
              <a:latin typeface="Calibri"/>
              <a:cs typeface="Calibri"/>
            </a:endParaRPr>
          </a:p>
          <a:p>
            <a:pPr marL="12700">
              <a:lnSpc>
                <a:spcPts val="3529"/>
              </a:lnSpc>
            </a:pPr>
            <a:r>
              <a:rPr dirty="0" sz="2950" spc="-10" b="1">
                <a:latin typeface="Calibri"/>
                <a:cs typeface="Calibri"/>
              </a:rPr>
              <a:t>Assumptions</a:t>
            </a:r>
            <a:endParaRPr sz="2950">
              <a:latin typeface="Calibri"/>
              <a:cs typeface="Calibri"/>
            </a:endParaRPr>
          </a:p>
          <a:p>
            <a:pPr marL="649605" marR="617220">
              <a:lnSpc>
                <a:spcPts val="3529"/>
              </a:lnSpc>
              <a:spcBef>
                <a:spcPts val="114"/>
              </a:spcBef>
            </a:pPr>
            <a:r>
              <a:rPr dirty="0" sz="2950">
                <a:latin typeface="Calibri"/>
                <a:cs typeface="Calibri"/>
              </a:rPr>
              <a:t>Large-scale</a:t>
            </a:r>
            <a:r>
              <a:rPr dirty="0" sz="2950" spc="-1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heterogeneous</a:t>
            </a:r>
            <a:r>
              <a:rPr dirty="0" sz="2950" spc="-5">
                <a:latin typeface="Calibri"/>
                <a:cs typeface="Calibri"/>
              </a:rPr>
              <a:t> </a:t>
            </a:r>
            <a:r>
              <a:rPr dirty="0" sz="2950" spc="-25">
                <a:latin typeface="Calibri"/>
                <a:cs typeface="Calibri"/>
              </a:rPr>
              <a:t>IoT </a:t>
            </a:r>
            <a:r>
              <a:rPr dirty="0" sz="2950" spc="-10">
                <a:latin typeface="Calibri"/>
                <a:cs typeface="Calibri"/>
              </a:rPr>
              <a:t>deployment</a:t>
            </a:r>
            <a:endParaRPr sz="2950">
              <a:latin typeface="Calibri"/>
              <a:cs typeface="Calibri"/>
            </a:endParaRPr>
          </a:p>
          <a:p>
            <a:pPr marL="649605">
              <a:lnSpc>
                <a:spcPts val="3395"/>
              </a:lnSpc>
            </a:pPr>
            <a:r>
              <a:rPr dirty="0" sz="2950">
                <a:latin typeface="Calibri"/>
                <a:cs typeface="Calibri"/>
              </a:rPr>
              <a:t>Continuous</a:t>
            </a:r>
            <a:r>
              <a:rPr dirty="0" sz="2950" spc="-3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telemetry</a:t>
            </a:r>
            <a:r>
              <a:rPr dirty="0" sz="2950" spc="-2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generation</a:t>
            </a:r>
            <a:endParaRPr sz="2950">
              <a:latin typeface="Calibri"/>
              <a:cs typeface="Calibri"/>
            </a:endParaRPr>
          </a:p>
          <a:p>
            <a:pPr marL="649605" marR="5080">
              <a:lnSpc>
                <a:spcPts val="3529"/>
              </a:lnSpc>
              <a:spcBef>
                <a:spcPts val="90"/>
              </a:spcBef>
            </a:pPr>
            <a:r>
              <a:rPr dirty="0" sz="2950">
                <a:latin typeface="Calibri"/>
                <a:cs typeface="Calibri"/>
              </a:rPr>
              <a:t>Dynamic</a:t>
            </a:r>
            <a:r>
              <a:rPr dirty="0" sz="2950" spc="-4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network</a:t>
            </a:r>
            <a:r>
              <a:rPr dirty="0" sz="2950" spc="-3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topology </a:t>
            </a:r>
            <a:r>
              <a:rPr dirty="0" sz="2950">
                <a:latin typeface="Calibri"/>
                <a:cs typeface="Calibri"/>
              </a:rPr>
              <a:t>Multiple</a:t>
            </a:r>
            <a:r>
              <a:rPr dirty="0" sz="2950" spc="-5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communication</a:t>
            </a:r>
            <a:r>
              <a:rPr dirty="0" sz="2950" spc="-50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protocols </a:t>
            </a:r>
            <a:r>
              <a:rPr dirty="0" sz="2950">
                <a:latin typeface="Calibri"/>
                <a:cs typeface="Calibri"/>
              </a:rPr>
              <a:t>Sophisticated </a:t>
            </a:r>
            <a:r>
              <a:rPr dirty="0" sz="2950" spc="-10">
                <a:latin typeface="Calibri"/>
                <a:cs typeface="Calibri"/>
              </a:rPr>
              <a:t>multi-</a:t>
            </a:r>
            <a:r>
              <a:rPr dirty="0" sz="2950">
                <a:latin typeface="Calibri"/>
                <a:cs typeface="Calibri"/>
              </a:rPr>
              <a:t>stage</a:t>
            </a:r>
            <a:r>
              <a:rPr dirty="0" sz="2950" spc="1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cyber attacks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32105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8797" rIns="0" bIns="0" rtlCol="0" vert="horz">
            <a:spAutoFit/>
          </a:bodyPr>
          <a:lstStyle/>
          <a:p>
            <a:pPr marL="4516755">
              <a:lnSpc>
                <a:spcPct val="100000"/>
              </a:lnSpc>
              <a:spcBef>
                <a:spcPts val="100"/>
              </a:spcBef>
            </a:pPr>
            <a:r>
              <a:rPr dirty="0"/>
              <a:t>THREAT</a:t>
            </a:r>
            <a:r>
              <a:rPr dirty="0" spc="-265"/>
              <a:t> </a:t>
            </a:r>
            <a:r>
              <a:rPr dirty="0" spc="-1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7544" y="1114425"/>
            <a:ext cx="11449048" cy="76390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32105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40645"/>
            <a:chOff x="0" y="0"/>
            <a:chExt cx="18288000" cy="102406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4032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1884" y="1549425"/>
              <a:ext cx="13087349" cy="7191374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5296" rIns="0" bIns="0" rtlCol="0" vert="horz">
            <a:spAutoFit/>
          </a:bodyPr>
          <a:lstStyle/>
          <a:p>
            <a:pPr marL="5743575">
              <a:lnSpc>
                <a:spcPct val="100000"/>
              </a:lnSpc>
              <a:spcBef>
                <a:spcPts val="105"/>
              </a:spcBef>
            </a:pPr>
            <a:r>
              <a:rPr dirty="0" sz="5900" spc="-10"/>
              <a:t>Methodology</a:t>
            </a:r>
            <a:endParaRPr sz="5900"/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40645"/>
            <a:chOff x="0" y="0"/>
            <a:chExt cx="18288000" cy="102406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4032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4208" y="156972"/>
              <a:ext cx="13611224" cy="870584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53980"/>
            <a:chOff x="0" y="0"/>
            <a:chExt cx="18288000" cy="1025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528" y="1562417"/>
              <a:ext cx="104774" cy="1047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528" y="2191067"/>
              <a:ext cx="104774" cy="1047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528" y="3448367"/>
              <a:ext cx="104774" cy="1047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528" y="4077017"/>
              <a:ext cx="104774" cy="1047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528" y="5334317"/>
              <a:ext cx="104774" cy="1047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528" y="6591617"/>
              <a:ext cx="104774" cy="1047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528" y="7848917"/>
              <a:ext cx="104774" cy="10477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23593" y="1154734"/>
            <a:ext cx="16802100" cy="7569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92785">
              <a:lnSpc>
                <a:spcPct val="128899"/>
              </a:lnSpc>
              <a:spcBef>
                <a:spcPts val="100"/>
              </a:spcBef>
            </a:pPr>
            <a:r>
              <a:rPr dirty="0" sz="3200" b="1">
                <a:latin typeface="Calibri"/>
                <a:cs typeface="Calibri"/>
              </a:rPr>
              <a:t>IoT</a:t>
            </a:r>
            <a:r>
              <a:rPr dirty="0" sz="3200" spc="-8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Data</a:t>
            </a:r>
            <a:r>
              <a:rPr dirty="0" sz="3200" spc="-8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Acquisition:</a:t>
            </a:r>
            <a:r>
              <a:rPr dirty="0" sz="3200" spc="-70" b="1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Real-</a:t>
            </a:r>
            <a:r>
              <a:rPr dirty="0" sz="3200">
                <a:latin typeface="Calibri"/>
                <a:cs typeface="Calibri"/>
              </a:rPr>
              <a:t>Time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Data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Collection,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Device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Heterogeneity,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20" b="1">
                <a:latin typeface="Calibri"/>
                <a:cs typeface="Calibri"/>
              </a:rPr>
              <a:t>Multi-</a:t>
            </a:r>
            <a:r>
              <a:rPr dirty="0" sz="3200" b="1">
                <a:latin typeface="Calibri"/>
                <a:cs typeface="Calibri"/>
              </a:rPr>
              <a:t>Source</a:t>
            </a:r>
            <a:r>
              <a:rPr dirty="0" sz="3200" spc="-7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Data</a:t>
            </a:r>
            <a:r>
              <a:rPr dirty="0" sz="3200" spc="-8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Fusion </a:t>
            </a:r>
            <a:r>
              <a:rPr dirty="0" sz="3200" b="1">
                <a:latin typeface="Calibri"/>
                <a:cs typeface="Calibri"/>
              </a:rPr>
              <a:t>Cognitive</a:t>
            </a:r>
            <a:r>
              <a:rPr dirty="0" sz="3200" spc="-10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Security</a:t>
            </a:r>
            <a:r>
              <a:rPr dirty="0" sz="3200" spc="-9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Cortex</a:t>
            </a:r>
            <a:r>
              <a:rPr dirty="0" sz="3200" spc="-9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(CSC):</a:t>
            </a:r>
            <a:r>
              <a:rPr dirty="0" sz="3200" spc="-95" b="1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Semantic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Threat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Understanding,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Dynamic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Threat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DNA,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Intent </a:t>
            </a:r>
            <a:r>
              <a:rPr dirty="0" sz="3200">
                <a:latin typeface="Calibri"/>
                <a:cs typeface="Calibri"/>
              </a:rPr>
              <a:t>Estimation,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Adaptive</a:t>
            </a:r>
            <a:r>
              <a:rPr dirty="0" sz="3200" spc="-9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Trust</a:t>
            </a:r>
            <a:r>
              <a:rPr dirty="0" sz="3200" spc="-9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Modeling</a:t>
            </a:r>
            <a:endParaRPr sz="3200">
              <a:latin typeface="Calibri"/>
              <a:cs typeface="Calibri"/>
            </a:endParaRPr>
          </a:p>
          <a:p>
            <a:pPr algn="just" marL="12700" marR="5080">
              <a:lnSpc>
                <a:spcPct val="128899"/>
              </a:lnSpc>
            </a:pPr>
            <a:r>
              <a:rPr dirty="0" sz="3200" b="1">
                <a:latin typeface="Calibri"/>
                <a:cs typeface="Calibri"/>
              </a:rPr>
              <a:t>CABI</a:t>
            </a:r>
            <a:r>
              <a:rPr dirty="0" sz="3200" spc="-7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&amp;</a:t>
            </a:r>
            <a:r>
              <a:rPr dirty="0" sz="3200" spc="-7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X-</a:t>
            </a:r>
            <a:r>
              <a:rPr dirty="0" sz="3200" b="1">
                <a:latin typeface="Calibri"/>
                <a:cs typeface="Calibri"/>
              </a:rPr>
              <a:t>UEBA:</a:t>
            </a:r>
            <a:r>
              <a:rPr dirty="0" sz="3200" spc="-65" b="1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Behavioral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Profiling,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25" b="1">
                <a:latin typeface="Calibri"/>
                <a:cs typeface="Calibri"/>
              </a:rPr>
              <a:t>Context-</a:t>
            </a:r>
            <a:r>
              <a:rPr dirty="0" sz="3200" b="1">
                <a:latin typeface="Calibri"/>
                <a:cs typeface="Calibri"/>
              </a:rPr>
              <a:t>Aware</a:t>
            </a:r>
            <a:r>
              <a:rPr dirty="0" sz="3200" spc="-7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Anomaly</a:t>
            </a:r>
            <a:r>
              <a:rPr dirty="0" sz="3200" spc="-7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Detection</a:t>
            </a:r>
            <a:r>
              <a:rPr dirty="0" sz="3200">
                <a:latin typeface="Calibri"/>
                <a:cs typeface="Calibri"/>
              </a:rPr>
              <a:t>,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Behavioral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Drift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Adaptation </a:t>
            </a:r>
            <a:r>
              <a:rPr dirty="0" sz="3200" b="1">
                <a:latin typeface="Calibri"/>
                <a:cs typeface="Calibri"/>
              </a:rPr>
              <a:t>Adaptive</a:t>
            </a:r>
            <a:r>
              <a:rPr dirty="0" sz="3200" spc="-10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Graph</a:t>
            </a:r>
            <a:r>
              <a:rPr dirty="0" sz="3200" spc="-10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Intelligence:</a:t>
            </a:r>
            <a:r>
              <a:rPr dirty="0" sz="3200" spc="-95" b="1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Dynamic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Attack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Knowledge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Graphs,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Attack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Provenance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Tracking,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Multi-</a:t>
            </a:r>
            <a:r>
              <a:rPr dirty="0" sz="3200">
                <a:latin typeface="Calibri"/>
                <a:cs typeface="Calibri"/>
              </a:rPr>
              <a:t>Layer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Graph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Fusion,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Attack</a:t>
            </a:r>
            <a:r>
              <a:rPr dirty="0" sz="3200" spc="-7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Path</a:t>
            </a:r>
            <a:r>
              <a:rPr dirty="0" sz="3200" spc="-7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Reconstruction</a:t>
            </a:r>
            <a:endParaRPr sz="3200">
              <a:latin typeface="Calibri"/>
              <a:cs typeface="Calibri"/>
            </a:endParaRPr>
          </a:p>
          <a:p>
            <a:pPr marL="12700" marR="641350">
              <a:lnSpc>
                <a:spcPct val="128899"/>
              </a:lnSpc>
            </a:pPr>
            <a:r>
              <a:rPr dirty="0" sz="3200" spc="-10" b="1">
                <a:latin typeface="Calibri"/>
                <a:cs typeface="Calibri"/>
              </a:rPr>
              <a:t>Graph-</a:t>
            </a:r>
            <a:r>
              <a:rPr dirty="0" sz="3200" b="1">
                <a:latin typeface="Calibri"/>
                <a:cs typeface="Calibri"/>
              </a:rPr>
              <a:t>Aware</a:t>
            </a:r>
            <a:r>
              <a:rPr dirty="0" sz="3200" spc="-75" b="1">
                <a:latin typeface="Calibri"/>
                <a:cs typeface="Calibri"/>
              </a:rPr>
              <a:t> </a:t>
            </a:r>
            <a:r>
              <a:rPr dirty="0" sz="3200" spc="-20" b="1">
                <a:latin typeface="Calibri"/>
                <a:cs typeface="Calibri"/>
              </a:rPr>
              <a:t>Multi-</a:t>
            </a:r>
            <a:r>
              <a:rPr dirty="0" sz="3200" b="1">
                <a:latin typeface="Calibri"/>
                <a:cs typeface="Calibri"/>
              </a:rPr>
              <a:t>Agent</a:t>
            </a:r>
            <a:r>
              <a:rPr dirty="0" sz="3200" spc="-7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AI:</a:t>
            </a:r>
            <a:r>
              <a:rPr dirty="0" sz="3200" spc="-70" b="1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Collaborative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Agent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Reasoning,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Context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Sharing,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20" b="1">
                <a:latin typeface="Calibri"/>
                <a:cs typeface="Calibri"/>
              </a:rPr>
              <a:t>Confidence-Based </a:t>
            </a:r>
            <a:r>
              <a:rPr dirty="0" sz="3200" b="1">
                <a:latin typeface="Calibri"/>
                <a:cs typeface="Calibri"/>
              </a:rPr>
              <a:t>Decision</a:t>
            </a:r>
            <a:r>
              <a:rPr dirty="0" sz="3200" spc="-9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Fusion</a:t>
            </a:r>
            <a:r>
              <a:rPr dirty="0" sz="3200">
                <a:latin typeface="Calibri"/>
                <a:cs typeface="Calibri"/>
              </a:rPr>
              <a:t>,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Explainable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AI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Reasoning</a:t>
            </a:r>
            <a:endParaRPr sz="3200">
              <a:latin typeface="Calibri"/>
              <a:cs typeface="Calibri"/>
            </a:endParaRPr>
          </a:p>
          <a:p>
            <a:pPr marL="12700" marR="1246505">
              <a:lnSpc>
                <a:spcPct val="128899"/>
              </a:lnSpc>
            </a:pPr>
            <a:r>
              <a:rPr dirty="0" sz="3200" b="1">
                <a:latin typeface="Calibri"/>
                <a:cs typeface="Calibri"/>
              </a:rPr>
              <a:t>Autonomous</a:t>
            </a:r>
            <a:r>
              <a:rPr dirty="0" sz="3200" spc="-9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Response:</a:t>
            </a:r>
            <a:r>
              <a:rPr dirty="0" sz="3200" spc="-80" b="1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Context-</a:t>
            </a:r>
            <a:r>
              <a:rPr dirty="0" sz="3200">
                <a:latin typeface="Calibri"/>
                <a:cs typeface="Calibri"/>
              </a:rPr>
              <a:t>Aware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Mitigation,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Response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Orchestration,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Threat</a:t>
            </a:r>
            <a:r>
              <a:rPr dirty="0" sz="3200" spc="-8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Narrative </a:t>
            </a:r>
            <a:r>
              <a:rPr dirty="0" sz="3200" b="1">
                <a:latin typeface="Calibri"/>
                <a:cs typeface="Calibri"/>
              </a:rPr>
              <a:t>Generation</a:t>
            </a:r>
            <a:r>
              <a:rPr dirty="0" sz="3200">
                <a:latin typeface="Calibri"/>
                <a:cs typeface="Calibri"/>
              </a:rPr>
              <a:t>,</a:t>
            </a:r>
            <a:r>
              <a:rPr dirty="0" sz="3200" spc="-1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Explainable</a:t>
            </a:r>
            <a:r>
              <a:rPr dirty="0" sz="3200" spc="-1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Response</a:t>
            </a:r>
            <a:r>
              <a:rPr dirty="0" sz="3200" spc="-1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Planning</a:t>
            </a:r>
            <a:endParaRPr sz="3200">
              <a:latin typeface="Calibri"/>
              <a:cs typeface="Calibri"/>
            </a:endParaRPr>
          </a:p>
          <a:p>
            <a:pPr marL="12700" marR="107314">
              <a:lnSpc>
                <a:spcPct val="128899"/>
              </a:lnSpc>
            </a:pPr>
            <a:r>
              <a:rPr dirty="0" sz="3200" spc="-20" b="1">
                <a:latin typeface="Calibri"/>
                <a:cs typeface="Calibri"/>
              </a:rPr>
              <a:t>Cross-</a:t>
            </a:r>
            <a:r>
              <a:rPr dirty="0" sz="3200" b="1">
                <a:latin typeface="Calibri"/>
                <a:cs typeface="Calibri"/>
              </a:rPr>
              <a:t>Layer</a:t>
            </a:r>
            <a:r>
              <a:rPr dirty="0" sz="3200" spc="-8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Integration:</a:t>
            </a:r>
            <a:r>
              <a:rPr dirty="0" sz="3200" spc="-7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End-</a:t>
            </a:r>
            <a:r>
              <a:rPr dirty="0" sz="3200" spc="-20" b="1">
                <a:latin typeface="Calibri"/>
                <a:cs typeface="Calibri"/>
              </a:rPr>
              <a:t>to-</a:t>
            </a:r>
            <a:r>
              <a:rPr dirty="0" sz="3200" b="1">
                <a:latin typeface="Calibri"/>
                <a:cs typeface="Calibri"/>
              </a:rPr>
              <a:t>End</a:t>
            </a:r>
            <a:r>
              <a:rPr dirty="0" sz="3200" spc="-8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Intelligence</a:t>
            </a:r>
            <a:r>
              <a:rPr dirty="0" sz="3200" spc="-8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Integration</a:t>
            </a:r>
            <a:r>
              <a:rPr dirty="0" sz="3200">
                <a:latin typeface="Calibri"/>
                <a:cs typeface="Calibri"/>
              </a:rPr>
              <a:t>,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Context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Continuity,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Unified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Confidence </a:t>
            </a:r>
            <a:r>
              <a:rPr dirty="0" sz="3200">
                <a:latin typeface="Calibri"/>
                <a:cs typeface="Calibri"/>
              </a:rPr>
              <a:t>Propagation,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Real-</a:t>
            </a:r>
            <a:r>
              <a:rPr dirty="0" sz="3200" b="1">
                <a:latin typeface="Calibri"/>
                <a:cs typeface="Calibri"/>
              </a:rPr>
              <a:t>Time</a:t>
            </a:r>
            <a:r>
              <a:rPr dirty="0" sz="3200" spc="-9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Decision</a:t>
            </a:r>
            <a:r>
              <a:rPr dirty="0" sz="3200" spc="-9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Intelligence</a:t>
            </a:r>
            <a:r>
              <a:rPr dirty="0" sz="3200">
                <a:latin typeface="Calibri"/>
                <a:cs typeface="Calibri"/>
              </a:rPr>
              <a:t>,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Smart-</a:t>
            </a:r>
            <a:r>
              <a:rPr dirty="0" sz="3200">
                <a:latin typeface="Calibri"/>
                <a:cs typeface="Calibri"/>
              </a:rPr>
              <a:t>City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Scalability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21</a:t>
            </a: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6197301" y="123888"/>
            <a:ext cx="5436235" cy="1016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0" spc="-10"/>
              <a:t>CHALLENGES</a:t>
            </a:r>
            <a:endParaRPr sz="6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02602" y="83187"/>
            <a:ext cx="5482590" cy="497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b="1">
                <a:latin typeface="Times New Roman"/>
                <a:cs typeface="Times New Roman"/>
              </a:rPr>
              <a:t>PROPOSED</a:t>
            </a:r>
            <a:r>
              <a:rPr dirty="0" sz="3100" spc="-110" b="1">
                <a:latin typeface="Times New Roman"/>
                <a:cs typeface="Times New Roman"/>
              </a:rPr>
              <a:t> </a:t>
            </a:r>
            <a:r>
              <a:rPr dirty="0" sz="3100" spc="-10" b="1">
                <a:latin typeface="Times New Roman"/>
                <a:cs typeface="Times New Roman"/>
              </a:rPr>
              <a:t>ARCHITECTURE</a:t>
            </a:r>
            <a:endParaRPr sz="31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2702" y="670478"/>
            <a:ext cx="12649199" cy="84296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69631" y="799906"/>
            <a:ext cx="8549005" cy="71882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2266950" marR="5080" indent="-2254885">
              <a:lnSpc>
                <a:spcPts val="2700"/>
              </a:lnSpc>
              <a:spcBef>
                <a:spcPts val="240"/>
              </a:spcBef>
            </a:pPr>
            <a:r>
              <a:rPr dirty="0" sz="2300" b="1">
                <a:latin typeface="Times New Roman"/>
                <a:cs typeface="Times New Roman"/>
              </a:rPr>
              <a:t>CORTEX:</a:t>
            </a:r>
            <a:r>
              <a:rPr dirty="0" sz="2300" spc="-80" b="1">
                <a:latin typeface="Times New Roman"/>
                <a:cs typeface="Times New Roman"/>
              </a:rPr>
              <a:t> </a:t>
            </a:r>
            <a:r>
              <a:rPr dirty="0" sz="2300" b="1">
                <a:latin typeface="Times New Roman"/>
                <a:cs typeface="Times New Roman"/>
              </a:rPr>
              <a:t>A</a:t>
            </a:r>
            <a:r>
              <a:rPr dirty="0" sz="2300" spc="-80" b="1">
                <a:latin typeface="Times New Roman"/>
                <a:cs typeface="Times New Roman"/>
              </a:rPr>
              <a:t> </a:t>
            </a:r>
            <a:r>
              <a:rPr dirty="0" sz="2300" b="1">
                <a:latin typeface="Times New Roman"/>
                <a:cs typeface="Times New Roman"/>
              </a:rPr>
              <a:t>Cognitive</a:t>
            </a:r>
            <a:r>
              <a:rPr dirty="0" sz="2300" spc="-80" b="1">
                <a:latin typeface="Times New Roman"/>
                <a:cs typeface="Times New Roman"/>
              </a:rPr>
              <a:t> </a:t>
            </a:r>
            <a:r>
              <a:rPr dirty="0" sz="2300" b="1">
                <a:latin typeface="Times New Roman"/>
                <a:cs typeface="Times New Roman"/>
              </a:rPr>
              <a:t>Cyber</a:t>
            </a:r>
            <a:r>
              <a:rPr dirty="0" sz="2300" spc="-80" b="1">
                <a:latin typeface="Times New Roman"/>
                <a:cs typeface="Times New Roman"/>
              </a:rPr>
              <a:t> </a:t>
            </a:r>
            <a:r>
              <a:rPr dirty="0" sz="2300" b="1">
                <a:latin typeface="Times New Roman"/>
                <a:cs typeface="Times New Roman"/>
              </a:rPr>
              <a:t>Intelligence</a:t>
            </a:r>
            <a:r>
              <a:rPr dirty="0" sz="2300" spc="-80" b="1">
                <a:latin typeface="Times New Roman"/>
                <a:cs typeface="Times New Roman"/>
              </a:rPr>
              <a:t> </a:t>
            </a:r>
            <a:r>
              <a:rPr dirty="0" sz="2300" b="1">
                <a:latin typeface="Times New Roman"/>
                <a:cs typeface="Times New Roman"/>
              </a:rPr>
              <a:t>Architecture</a:t>
            </a:r>
            <a:r>
              <a:rPr dirty="0" sz="2300" spc="-80" b="1">
                <a:latin typeface="Times New Roman"/>
                <a:cs typeface="Times New Roman"/>
              </a:rPr>
              <a:t> </a:t>
            </a:r>
            <a:r>
              <a:rPr dirty="0" sz="2300" b="1">
                <a:latin typeface="Times New Roman"/>
                <a:cs typeface="Times New Roman"/>
              </a:rPr>
              <a:t>for</a:t>
            </a:r>
            <a:r>
              <a:rPr dirty="0" sz="2300" spc="-80" b="1">
                <a:latin typeface="Times New Roman"/>
                <a:cs typeface="Times New Roman"/>
              </a:rPr>
              <a:t> </a:t>
            </a:r>
            <a:r>
              <a:rPr dirty="0" sz="2300" spc="-10" b="1">
                <a:latin typeface="Times New Roman"/>
                <a:cs typeface="Times New Roman"/>
              </a:rPr>
              <a:t>Mission-</a:t>
            </a:r>
            <a:r>
              <a:rPr dirty="0" sz="2300" b="1">
                <a:latin typeface="Times New Roman"/>
                <a:cs typeface="Times New Roman"/>
              </a:rPr>
              <a:t>Critical</a:t>
            </a:r>
            <a:r>
              <a:rPr dirty="0" sz="2300" spc="-45" b="1">
                <a:latin typeface="Times New Roman"/>
                <a:cs typeface="Times New Roman"/>
              </a:rPr>
              <a:t> </a:t>
            </a:r>
            <a:r>
              <a:rPr dirty="0" sz="2300" spc="-10" b="1">
                <a:latin typeface="Times New Roman"/>
                <a:cs typeface="Times New Roman"/>
              </a:rPr>
              <a:t>Smart-</a:t>
            </a:r>
            <a:r>
              <a:rPr dirty="0" sz="2300" b="1">
                <a:latin typeface="Times New Roman"/>
                <a:cs typeface="Times New Roman"/>
              </a:rPr>
              <a:t>City</a:t>
            </a:r>
            <a:r>
              <a:rPr dirty="0" sz="2300" spc="-45" b="1">
                <a:latin typeface="Times New Roman"/>
                <a:cs typeface="Times New Roman"/>
              </a:rPr>
              <a:t> </a:t>
            </a:r>
            <a:r>
              <a:rPr dirty="0" sz="2300" b="1">
                <a:latin typeface="Times New Roman"/>
                <a:cs typeface="Times New Roman"/>
              </a:rPr>
              <a:t>IoT</a:t>
            </a:r>
            <a:r>
              <a:rPr dirty="0" sz="2300" spc="-45" b="1">
                <a:latin typeface="Times New Roman"/>
                <a:cs typeface="Times New Roman"/>
              </a:rPr>
              <a:t> </a:t>
            </a:r>
            <a:r>
              <a:rPr dirty="0" sz="2300" spc="-10" b="1">
                <a:latin typeface="Times New Roman"/>
                <a:cs typeface="Times New Roman"/>
              </a:rPr>
              <a:t>Defense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3323" y="1212881"/>
            <a:ext cx="17294860" cy="7498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700"/>
              </a:lnSpc>
              <a:spcBef>
                <a:spcPts val="100"/>
              </a:spcBef>
            </a:pPr>
            <a:r>
              <a:rPr dirty="0" sz="3100" b="1">
                <a:latin typeface="Times New Roman"/>
                <a:cs typeface="Times New Roman"/>
              </a:rPr>
              <a:t>Our</a:t>
            </a:r>
            <a:r>
              <a:rPr dirty="0" sz="3100" spc="-145" b="1">
                <a:latin typeface="Times New Roman"/>
                <a:cs typeface="Times New Roman"/>
              </a:rPr>
              <a:t> </a:t>
            </a:r>
            <a:r>
              <a:rPr dirty="0" sz="3100" b="1">
                <a:latin typeface="Times New Roman"/>
                <a:cs typeface="Times New Roman"/>
              </a:rPr>
              <a:t>Research</a:t>
            </a:r>
            <a:r>
              <a:rPr dirty="0" sz="3100" spc="-95" b="1">
                <a:latin typeface="Times New Roman"/>
                <a:cs typeface="Times New Roman"/>
              </a:rPr>
              <a:t> </a:t>
            </a:r>
            <a:r>
              <a:rPr dirty="0" sz="3100" spc="-10" b="1">
                <a:latin typeface="Times New Roman"/>
                <a:cs typeface="Times New Roman"/>
              </a:rPr>
              <a:t>Contributions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ts val="3675"/>
              </a:lnSpc>
              <a:tabLst>
                <a:tab pos="579120" algn="l"/>
              </a:tabLst>
            </a:pPr>
            <a:r>
              <a:rPr dirty="0" sz="1200" spc="2275">
                <a:latin typeface="Arial MT"/>
                <a:cs typeface="Arial MT"/>
              </a:rPr>
              <a:t>🔹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3100" b="1">
                <a:latin typeface="Times New Roman"/>
                <a:cs typeface="Times New Roman"/>
              </a:rPr>
              <a:t>Adaptive</a:t>
            </a:r>
            <a:r>
              <a:rPr dirty="0" sz="3100" spc="-70" b="1">
                <a:latin typeface="Times New Roman"/>
                <a:cs typeface="Times New Roman"/>
              </a:rPr>
              <a:t> </a:t>
            </a:r>
            <a:r>
              <a:rPr dirty="0" sz="3100" b="1">
                <a:latin typeface="Times New Roman"/>
                <a:cs typeface="Times New Roman"/>
              </a:rPr>
              <a:t>Cognitive</a:t>
            </a:r>
            <a:r>
              <a:rPr dirty="0" sz="3100" spc="-70" b="1">
                <a:latin typeface="Times New Roman"/>
                <a:cs typeface="Times New Roman"/>
              </a:rPr>
              <a:t> </a:t>
            </a:r>
            <a:r>
              <a:rPr dirty="0" sz="3100" b="1">
                <a:latin typeface="Times New Roman"/>
                <a:cs typeface="Times New Roman"/>
              </a:rPr>
              <a:t>Security</a:t>
            </a:r>
            <a:r>
              <a:rPr dirty="0" sz="3100" spc="-70" b="1">
                <a:latin typeface="Times New Roman"/>
                <a:cs typeface="Times New Roman"/>
              </a:rPr>
              <a:t> </a:t>
            </a:r>
            <a:r>
              <a:rPr dirty="0" sz="3100" b="1">
                <a:latin typeface="Times New Roman"/>
                <a:cs typeface="Times New Roman"/>
              </a:rPr>
              <a:t>Cortex</a:t>
            </a:r>
            <a:r>
              <a:rPr dirty="0" sz="3100" spc="-70" b="1">
                <a:latin typeface="Times New Roman"/>
                <a:cs typeface="Times New Roman"/>
              </a:rPr>
              <a:t> </a:t>
            </a:r>
            <a:r>
              <a:rPr dirty="0" sz="3100" spc="-10" b="1">
                <a:latin typeface="Times New Roman"/>
                <a:cs typeface="Times New Roman"/>
              </a:rPr>
              <a:t>(CSC)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ts val="3675"/>
              </a:lnSpc>
            </a:pPr>
            <a:r>
              <a:rPr dirty="0" sz="3100">
                <a:latin typeface="Times New Roman"/>
                <a:cs typeface="Times New Roman"/>
              </a:rPr>
              <a:t>Generates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Cyber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Knowledge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Objects,</a:t>
            </a:r>
            <a:r>
              <a:rPr dirty="0" sz="3100" spc="-10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Threat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DNA,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and</a:t>
            </a:r>
            <a:r>
              <a:rPr dirty="0" sz="3100" spc="-10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Trust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Scores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to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enrich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IoT</a:t>
            </a:r>
            <a:r>
              <a:rPr dirty="0" sz="3100" spc="-10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security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 spc="-10">
                <a:latin typeface="Times New Roman"/>
                <a:cs typeface="Times New Roman"/>
              </a:rPr>
              <a:t>context.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ts val="3675"/>
              </a:lnSpc>
              <a:tabLst>
                <a:tab pos="601345" algn="l"/>
              </a:tabLst>
            </a:pPr>
            <a:r>
              <a:rPr dirty="0" sz="1200" spc="2275">
                <a:latin typeface="Arial MT"/>
                <a:cs typeface="Arial MT"/>
              </a:rPr>
              <a:t>🔹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3100" spc="-10" b="1">
                <a:latin typeface="Times New Roman"/>
                <a:cs typeface="Times New Roman"/>
              </a:rPr>
              <a:t>Context-</a:t>
            </a:r>
            <a:r>
              <a:rPr dirty="0" sz="3100" spc="-30" b="1">
                <a:latin typeface="Times New Roman"/>
                <a:cs typeface="Times New Roman"/>
              </a:rPr>
              <a:t>Aware</a:t>
            </a:r>
            <a:r>
              <a:rPr dirty="0" sz="3100" spc="-120" b="1">
                <a:latin typeface="Times New Roman"/>
                <a:cs typeface="Times New Roman"/>
              </a:rPr>
              <a:t> </a:t>
            </a:r>
            <a:r>
              <a:rPr dirty="0" sz="3100" spc="-10" b="1">
                <a:latin typeface="Times New Roman"/>
                <a:cs typeface="Times New Roman"/>
              </a:rPr>
              <a:t>Behavioral</a:t>
            </a:r>
            <a:r>
              <a:rPr dirty="0" sz="3100" spc="-185" b="1">
                <a:latin typeface="Times New Roman"/>
                <a:cs typeface="Times New Roman"/>
              </a:rPr>
              <a:t> </a:t>
            </a:r>
            <a:r>
              <a:rPr dirty="0" sz="3100" spc="-10" b="1">
                <a:latin typeface="Times New Roman"/>
                <a:cs typeface="Times New Roman"/>
              </a:rPr>
              <a:t>Analytics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ts val="3675"/>
              </a:lnSpc>
            </a:pPr>
            <a:r>
              <a:rPr dirty="0" sz="3100">
                <a:latin typeface="Times New Roman"/>
                <a:cs typeface="Times New Roman"/>
              </a:rPr>
              <a:t>Detects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behavioral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drift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and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generates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explainable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risk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scores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using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adaptive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behavioral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 spc="-10">
                <a:latin typeface="Times New Roman"/>
                <a:cs typeface="Times New Roman"/>
              </a:rPr>
              <a:t>intelligence.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ts val="3675"/>
              </a:lnSpc>
              <a:tabLst>
                <a:tab pos="601345" algn="l"/>
              </a:tabLst>
            </a:pPr>
            <a:r>
              <a:rPr dirty="0" sz="1200" spc="2275">
                <a:latin typeface="Arial MT"/>
                <a:cs typeface="Arial MT"/>
              </a:rPr>
              <a:t>🔹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3100" b="1">
                <a:latin typeface="Times New Roman"/>
                <a:cs typeface="Times New Roman"/>
              </a:rPr>
              <a:t>Adaptive</a:t>
            </a:r>
            <a:r>
              <a:rPr dirty="0" sz="3100" spc="-85" b="1">
                <a:latin typeface="Times New Roman"/>
                <a:cs typeface="Times New Roman"/>
              </a:rPr>
              <a:t> </a:t>
            </a:r>
            <a:r>
              <a:rPr dirty="0" sz="3100" b="1">
                <a:latin typeface="Times New Roman"/>
                <a:cs typeface="Times New Roman"/>
              </a:rPr>
              <a:t>Graph</a:t>
            </a:r>
            <a:r>
              <a:rPr dirty="0" sz="3100" spc="-85" b="1">
                <a:latin typeface="Times New Roman"/>
                <a:cs typeface="Times New Roman"/>
              </a:rPr>
              <a:t> </a:t>
            </a:r>
            <a:r>
              <a:rPr dirty="0" sz="3100" spc="-10" b="1">
                <a:latin typeface="Times New Roman"/>
                <a:cs typeface="Times New Roman"/>
              </a:rPr>
              <a:t>Intelligence</a:t>
            </a:r>
            <a:endParaRPr sz="3100">
              <a:latin typeface="Times New Roman"/>
              <a:cs typeface="Times New Roman"/>
            </a:endParaRPr>
          </a:p>
          <a:p>
            <a:pPr marL="12700" marR="5080">
              <a:lnSpc>
                <a:spcPts val="3679"/>
              </a:lnSpc>
              <a:spcBef>
                <a:spcPts val="130"/>
              </a:spcBef>
            </a:pPr>
            <a:r>
              <a:rPr dirty="0" sz="3100">
                <a:latin typeface="Times New Roman"/>
                <a:cs typeface="Times New Roman"/>
              </a:rPr>
              <a:t>Combines</a:t>
            </a:r>
            <a:r>
              <a:rPr dirty="0" sz="3100" spc="-105">
                <a:latin typeface="Times New Roman"/>
                <a:cs typeface="Times New Roman"/>
              </a:rPr>
              <a:t> </a:t>
            </a:r>
            <a:r>
              <a:rPr dirty="0" sz="3100" spc="-20">
                <a:latin typeface="Times New Roman"/>
                <a:cs typeface="Times New Roman"/>
              </a:rPr>
              <a:t>Temporal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Knowledge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Graph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and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Network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Provenance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Graph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to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reconstruct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attack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paths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and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 spc="-10">
                <a:latin typeface="Times New Roman"/>
                <a:cs typeface="Times New Roman"/>
              </a:rPr>
              <a:t>detect </a:t>
            </a:r>
            <a:r>
              <a:rPr dirty="0" sz="3100">
                <a:latin typeface="Times New Roman"/>
                <a:cs typeface="Times New Roman"/>
              </a:rPr>
              <a:t>lateral</a:t>
            </a:r>
            <a:r>
              <a:rPr dirty="0" sz="3100" spc="-60">
                <a:latin typeface="Times New Roman"/>
                <a:cs typeface="Times New Roman"/>
              </a:rPr>
              <a:t> </a:t>
            </a:r>
            <a:r>
              <a:rPr dirty="0" sz="3100" spc="-10">
                <a:latin typeface="Times New Roman"/>
                <a:cs typeface="Times New Roman"/>
              </a:rPr>
              <a:t>movement.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ts val="3529"/>
              </a:lnSpc>
              <a:tabLst>
                <a:tab pos="601345" algn="l"/>
              </a:tabLst>
            </a:pPr>
            <a:r>
              <a:rPr dirty="0" sz="1200" spc="2275">
                <a:latin typeface="Arial MT"/>
                <a:cs typeface="Arial MT"/>
              </a:rPr>
              <a:t>🔹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3100" spc="-25" b="1">
                <a:latin typeface="Times New Roman"/>
                <a:cs typeface="Times New Roman"/>
              </a:rPr>
              <a:t>Graph-</a:t>
            </a:r>
            <a:r>
              <a:rPr dirty="0" sz="3100" spc="-30" b="1">
                <a:latin typeface="Times New Roman"/>
                <a:cs typeface="Times New Roman"/>
              </a:rPr>
              <a:t>Aware</a:t>
            </a:r>
            <a:r>
              <a:rPr dirty="0" sz="3100" spc="-40" b="1">
                <a:latin typeface="Times New Roman"/>
                <a:cs typeface="Times New Roman"/>
              </a:rPr>
              <a:t> </a:t>
            </a:r>
            <a:r>
              <a:rPr dirty="0" sz="3100" spc="-20" b="1">
                <a:latin typeface="Times New Roman"/>
                <a:cs typeface="Times New Roman"/>
              </a:rPr>
              <a:t>Multi-</a:t>
            </a:r>
            <a:r>
              <a:rPr dirty="0" sz="3100" spc="-10" b="1">
                <a:latin typeface="Times New Roman"/>
                <a:cs typeface="Times New Roman"/>
              </a:rPr>
              <a:t>Agent</a:t>
            </a:r>
            <a:r>
              <a:rPr dirty="0" sz="3100" spc="-185" b="1">
                <a:latin typeface="Times New Roman"/>
                <a:cs typeface="Times New Roman"/>
              </a:rPr>
              <a:t> </a:t>
            </a:r>
            <a:r>
              <a:rPr dirty="0" sz="3100" spc="-25" b="1">
                <a:latin typeface="Times New Roman"/>
                <a:cs typeface="Times New Roman"/>
              </a:rPr>
              <a:t>AI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ts val="3675"/>
              </a:lnSpc>
            </a:pPr>
            <a:r>
              <a:rPr dirty="0" sz="3100">
                <a:latin typeface="Times New Roman"/>
                <a:cs typeface="Times New Roman"/>
              </a:rPr>
              <a:t>AI</a:t>
            </a:r>
            <a:r>
              <a:rPr dirty="0" sz="3100" spc="-4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agents</a:t>
            </a:r>
            <a:r>
              <a:rPr dirty="0" sz="3100" spc="-4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collaborate</a:t>
            </a:r>
            <a:r>
              <a:rPr dirty="0" sz="3100" spc="-4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using</a:t>
            </a:r>
            <a:r>
              <a:rPr dirty="0" sz="3100" spc="-4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graph</a:t>
            </a:r>
            <a:r>
              <a:rPr dirty="0" sz="3100" spc="-4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intelligence</a:t>
            </a:r>
            <a:r>
              <a:rPr dirty="0" sz="3100" spc="-4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and</a:t>
            </a:r>
            <a:r>
              <a:rPr dirty="0" sz="3100" spc="-4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behavioral</a:t>
            </a:r>
            <a:r>
              <a:rPr dirty="0" sz="3100" spc="-4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context,</a:t>
            </a:r>
            <a:r>
              <a:rPr dirty="0" sz="3100" spc="-4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not</a:t>
            </a:r>
            <a:r>
              <a:rPr dirty="0" sz="3100" spc="-4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just</a:t>
            </a:r>
            <a:r>
              <a:rPr dirty="0" sz="3100" spc="-4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raw</a:t>
            </a:r>
            <a:r>
              <a:rPr dirty="0" sz="3100" spc="-40">
                <a:latin typeface="Times New Roman"/>
                <a:cs typeface="Times New Roman"/>
              </a:rPr>
              <a:t> </a:t>
            </a:r>
            <a:r>
              <a:rPr dirty="0" sz="3100" spc="-20">
                <a:latin typeface="Times New Roman"/>
                <a:cs typeface="Times New Roman"/>
              </a:rPr>
              <a:t>logs.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ts val="3675"/>
              </a:lnSpc>
              <a:tabLst>
                <a:tab pos="601345" algn="l"/>
              </a:tabLst>
            </a:pPr>
            <a:r>
              <a:rPr dirty="0" sz="1200" spc="2275">
                <a:latin typeface="Arial MT"/>
                <a:cs typeface="Arial MT"/>
              </a:rPr>
              <a:t>🔹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3100" b="1">
                <a:latin typeface="Times New Roman"/>
                <a:cs typeface="Times New Roman"/>
              </a:rPr>
              <a:t>Confidence</a:t>
            </a:r>
            <a:r>
              <a:rPr dirty="0" sz="3100" spc="-100" b="1">
                <a:latin typeface="Times New Roman"/>
                <a:cs typeface="Times New Roman"/>
              </a:rPr>
              <a:t> </a:t>
            </a:r>
            <a:r>
              <a:rPr dirty="0" sz="3100" b="1">
                <a:latin typeface="Times New Roman"/>
                <a:cs typeface="Times New Roman"/>
              </a:rPr>
              <a:t>Fusion</a:t>
            </a:r>
            <a:r>
              <a:rPr dirty="0" sz="3100" spc="-95" b="1">
                <a:latin typeface="Times New Roman"/>
                <a:cs typeface="Times New Roman"/>
              </a:rPr>
              <a:t> </a:t>
            </a:r>
            <a:r>
              <a:rPr dirty="0" sz="3100" spc="-10" b="1">
                <a:latin typeface="Times New Roman"/>
                <a:cs typeface="Times New Roman"/>
              </a:rPr>
              <a:t>Engine</a:t>
            </a:r>
            <a:endParaRPr sz="3100">
              <a:latin typeface="Times New Roman"/>
              <a:cs typeface="Times New Roman"/>
            </a:endParaRPr>
          </a:p>
          <a:p>
            <a:pPr marL="12700" marR="334645">
              <a:lnSpc>
                <a:spcPts val="3679"/>
              </a:lnSpc>
              <a:spcBef>
                <a:spcPts val="135"/>
              </a:spcBef>
            </a:pPr>
            <a:r>
              <a:rPr dirty="0" sz="3100">
                <a:latin typeface="Times New Roman"/>
                <a:cs typeface="Times New Roman"/>
              </a:rPr>
              <a:t>Fuses</a:t>
            </a:r>
            <a:r>
              <a:rPr dirty="0" sz="3100" spc="-6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evidence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from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multiple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intelligent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modules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to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produce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a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reliable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attack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type,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 spc="-10">
                <a:latin typeface="Times New Roman"/>
                <a:cs typeface="Times New Roman"/>
              </a:rPr>
              <a:t>severity,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and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 spc="-10">
                <a:latin typeface="Times New Roman"/>
                <a:cs typeface="Times New Roman"/>
              </a:rPr>
              <a:t>confidence score.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ts val="3529"/>
              </a:lnSpc>
              <a:tabLst>
                <a:tab pos="600710" algn="l"/>
              </a:tabLst>
            </a:pPr>
            <a:r>
              <a:rPr dirty="0" sz="1200" spc="2275">
                <a:latin typeface="Arial MT"/>
                <a:cs typeface="Arial MT"/>
              </a:rPr>
              <a:t>🔹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3100" spc="-10" b="1">
                <a:latin typeface="Times New Roman"/>
                <a:cs typeface="Times New Roman"/>
              </a:rPr>
              <a:t>Context-</a:t>
            </a:r>
            <a:r>
              <a:rPr dirty="0" sz="3100" spc="-65" b="1">
                <a:latin typeface="Times New Roman"/>
                <a:cs typeface="Times New Roman"/>
              </a:rPr>
              <a:t>Aware</a:t>
            </a:r>
            <a:r>
              <a:rPr dirty="0" sz="3100" spc="-175" b="1">
                <a:latin typeface="Times New Roman"/>
                <a:cs typeface="Times New Roman"/>
              </a:rPr>
              <a:t> </a:t>
            </a:r>
            <a:r>
              <a:rPr dirty="0" sz="3100" b="1">
                <a:latin typeface="Times New Roman"/>
                <a:cs typeface="Times New Roman"/>
              </a:rPr>
              <a:t>Autonomous</a:t>
            </a:r>
            <a:r>
              <a:rPr dirty="0" sz="3100" spc="-120" b="1">
                <a:latin typeface="Times New Roman"/>
                <a:cs typeface="Times New Roman"/>
              </a:rPr>
              <a:t> </a:t>
            </a:r>
            <a:r>
              <a:rPr dirty="0" sz="3100" spc="-10" b="1">
                <a:latin typeface="Times New Roman"/>
                <a:cs typeface="Times New Roman"/>
              </a:rPr>
              <a:t>Response</a:t>
            </a:r>
            <a:endParaRPr sz="3100">
              <a:latin typeface="Times New Roman"/>
              <a:cs typeface="Times New Roman"/>
            </a:endParaRPr>
          </a:p>
          <a:p>
            <a:pPr marL="12700" marR="168275">
              <a:lnSpc>
                <a:spcPts val="3679"/>
              </a:lnSpc>
              <a:spcBef>
                <a:spcPts val="115"/>
              </a:spcBef>
            </a:pPr>
            <a:r>
              <a:rPr dirty="0" sz="3100">
                <a:latin typeface="Times New Roman"/>
                <a:cs typeface="Times New Roman"/>
              </a:rPr>
              <a:t>Generates</a:t>
            </a:r>
            <a:r>
              <a:rPr dirty="0" sz="3100" spc="-55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adaptive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mitigation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strategies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and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explainable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threat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narratives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based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on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attack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context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and</a:t>
            </a:r>
            <a:r>
              <a:rPr dirty="0" sz="3100" spc="-50">
                <a:latin typeface="Times New Roman"/>
                <a:cs typeface="Times New Roman"/>
              </a:rPr>
              <a:t> </a:t>
            </a:r>
            <a:r>
              <a:rPr dirty="0" sz="3100" spc="-10">
                <a:latin typeface="Times New Roman"/>
                <a:cs typeface="Times New Roman"/>
              </a:rPr>
              <a:t>device criticality.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23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25416" y="123888"/>
            <a:ext cx="7980045" cy="1016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0"/>
              <a:t>OVERALL</a:t>
            </a:r>
            <a:r>
              <a:rPr dirty="0" sz="6500" spc="-340"/>
              <a:t> </a:t>
            </a:r>
            <a:r>
              <a:rPr dirty="0" sz="6500" spc="-10"/>
              <a:t>NOVELTY</a:t>
            </a:r>
            <a:endParaRPr sz="6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7308" y="359038"/>
            <a:ext cx="13049249" cy="86963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53980"/>
            <a:chOff x="0" y="0"/>
            <a:chExt cx="18288000" cy="1025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668" y="2393900"/>
              <a:ext cx="114300" cy="1142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668" y="3689300"/>
              <a:ext cx="114300" cy="1142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668" y="4984700"/>
              <a:ext cx="114300" cy="1142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668" y="6927800"/>
              <a:ext cx="114300" cy="1142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51843" y="1984312"/>
            <a:ext cx="16297275" cy="5854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145">
              <a:lnSpc>
                <a:spcPct val="121400"/>
              </a:lnSpc>
              <a:spcBef>
                <a:spcPts val="100"/>
              </a:spcBef>
            </a:pPr>
            <a:r>
              <a:rPr dirty="0" sz="3500">
                <a:latin typeface="Calibri"/>
                <a:cs typeface="Calibri"/>
              </a:rPr>
              <a:t>We</a:t>
            </a:r>
            <a:r>
              <a:rPr dirty="0" sz="3500" spc="-5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propose</a:t>
            </a:r>
            <a:r>
              <a:rPr dirty="0" sz="3500" spc="-5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CORTEX,</a:t>
            </a:r>
            <a:r>
              <a:rPr dirty="0" sz="3500" spc="-5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an</a:t>
            </a:r>
            <a:r>
              <a:rPr dirty="0" sz="3500" spc="-5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adaptive</a:t>
            </a:r>
            <a:r>
              <a:rPr dirty="0" sz="3500" spc="-5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cognitive</a:t>
            </a:r>
            <a:r>
              <a:rPr dirty="0" sz="3500" spc="-5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cyber</a:t>
            </a:r>
            <a:r>
              <a:rPr dirty="0" sz="3500" spc="-5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defense</a:t>
            </a:r>
            <a:r>
              <a:rPr dirty="0" sz="3500" spc="-5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architecture</a:t>
            </a:r>
            <a:r>
              <a:rPr dirty="0" sz="3500" spc="-5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for</a:t>
            </a:r>
            <a:r>
              <a:rPr dirty="0" sz="3500" spc="-50">
                <a:latin typeface="Calibri"/>
                <a:cs typeface="Calibri"/>
              </a:rPr>
              <a:t> </a:t>
            </a:r>
            <a:r>
              <a:rPr dirty="0" sz="3500" spc="-20">
                <a:latin typeface="Calibri"/>
                <a:cs typeface="Calibri"/>
              </a:rPr>
              <a:t>Mission-</a:t>
            </a:r>
            <a:r>
              <a:rPr dirty="0" sz="3500" spc="-10">
                <a:latin typeface="Calibri"/>
                <a:cs typeface="Calibri"/>
              </a:rPr>
              <a:t>Critical </a:t>
            </a:r>
            <a:r>
              <a:rPr dirty="0" sz="3500" spc="-25">
                <a:latin typeface="Calibri"/>
                <a:cs typeface="Calibri"/>
              </a:rPr>
              <a:t>Smart-</a:t>
            </a:r>
            <a:r>
              <a:rPr dirty="0" sz="3500">
                <a:latin typeface="Calibri"/>
                <a:cs typeface="Calibri"/>
              </a:rPr>
              <a:t>City</a:t>
            </a:r>
            <a:r>
              <a:rPr dirty="0" sz="3500" spc="-2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IoT</a:t>
            </a:r>
            <a:r>
              <a:rPr dirty="0" sz="3500" spc="-25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environments.</a:t>
            </a:r>
            <a:endParaRPr sz="3500">
              <a:latin typeface="Calibri"/>
              <a:cs typeface="Calibri"/>
            </a:endParaRPr>
          </a:p>
          <a:p>
            <a:pPr marL="12700" marR="138430">
              <a:lnSpc>
                <a:spcPct val="121400"/>
              </a:lnSpc>
            </a:pPr>
            <a:r>
              <a:rPr dirty="0" sz="3500">
                <a:latin typeface="Calibri"/>
                <a:cs typeface="Calibri"/>
              </a:rPr>
              <a:t>Our</a:t>
            </a:r>
            <a:r>
              <a:rPr dirty="0" sz="3500" spc="-9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framework</a:t>
            </a:r>
            <a:r>
              <a:rPr dirty="0" sz="3500" spc="-9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integrates</a:t>
            </a:r>
            <a:r>
              <a:rPr dirty="0" sz="3500" spc="-8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Semantic</a:t>
            </a:r>
            <a:r>
              <a:rPr dirty="0" sz="3500" spc="-9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Intelligence,</a:t>
            </a:r>
            <a:r>
              <a:rPr dirty="0" sz="3500" spc="-9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Behavioral</a:t>
            </a:r>
            <a:r>
              <a:rPr dirty="0" sz="3500" spc="-8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Analytics,</a:t>
            </a:r>
            <a:r>
              <a:rPr dirty="0" sz="3500" spc="-9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Graph</a:t>
            </a:r>
            <a:r>
              <a:rPr dirty="0" sz="3500" spc="-90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Intelligence, </a:t>
            </a:r>
            <a:r>
              <a:rPr dirty="0" sz="3500">
                <a:latin typeface="Calibri"/>
                <a:cs typeface="Calibri"/>
              </a:rPr>
              <a:t>and</a:t>
            </a:r>
            <a:r>
              <a:rPr dirty="0" sz="3500" spc="-50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Multi-</a:t>
            </a:r>
            <a:r>
              <a:rPr dirty="0" sz="3500">
                <a:latin typeface="Calibri"/>
                <a:cs typeface="Calibri"/>
              </a:rPr>
              <a:t>Agent</a:t>
            </a:r>
            <a:r>
              <a:rPr dirty="0" sz="3500" spc="-4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AI</a:t>
            </a:r>
            <a:r>
              <a:rPr dirty="0" sz="3500" spc="-4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into</a:t>
            </a:r>
            <a:r>
              <a:rPr dirty="0" sz="3500" spc="-4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a</a:t>
            </a:r>
            <a:r>
              <a:rPr dirty="0" sz="3500" spc="-4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unified</a:t>
            </a:r>
            <a:r>
              <a:rPr dirty="0" sz="3500" spc="-4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cybersecurity</a:t>
            </a:r>
            <a:r>
              <a:rPr dirty="0" sz="3500" spc="-45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platform.</a:t>
            </a:r>
            <a:endParaRPr sz="3500">
              <a:latin typeface="Calibri"/>
              <a:cs typeface="Calibri"/>
            </a:endParaRPr>
          </a:p>
          <a:p>
            <a:pPr marL="12700" marR="807085">
              <a:lnSpc>
                <a:spcPct val="121400"/>
              </a:lnSpc>
            </a:pPr>
            <a:r>
              <a:rPr dirty="0" sz="3500">
                <a:latin typeface="Calibri"/>
                <a:cs typeface="Calibri"/>
              </a:rPr>
              <a:t>We</a:t>
            </a:r>
            <a:r>
              <a:rPr dirty="0" sz="3500" spc="-5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aim</a:t>
            </a:r>
            <a:r>
              <a:rPr dirty="0" sz="3500" spc="-5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to</a:t>
            </a:r>
            <a:r>
              <a:rPr dirty="0" sz="3500" spc="-5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develop</a:t>
            </a:r>
            <a:r>
              <a:rPr dirty="0" sz="3500" spc="-45">
                <a:latin typeface="Calibri"/>
                <a:cs typeface="Calibri"/>
              </a:rPr>
              <a:t> </a:t>
            </a:r>
            <a:r>
              <a:rPr dirty="0" sz="3500" spc="-20">
                <a:latin typeface="Calibri"/>
                <a:cs typeface="Calibri"/>
              </a:rPr>
              <a:t>Graph-</a:t>
            </a:r>
            <a:r>
              <a:rPr dirty="0" sz="3500">
                <a:latin typeface="Calibri"/>
                <a:cs typeface="Calibri"/>
              </a:rPr>
              <a:t>Aware</a:t>
            </a:r>
            <a:r>
              <a:rPr dirty="0" sz="3500" spc="-5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Threat</a:t>
            </a:r>
            <a:r>
              <a:rPr dirty="0" sz="3500" spc="-5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Intelligence,</a:t>
            </a:r>
            <a:r>
              <a:rPr dirty="0" sz="3500" spc="-4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a</a:t>
            </a:r>
            <a:r>
              <a:rPr dirty="0" sz="3500" spc="-5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Confidence</a:t>
            </a:r>
            <a:r>
              <a:rPr dirty="0" sz="3500" spc="-5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Fusion</a:t>
            </a:r>
            <a:r>
              <a:rPr dirty="0" sz="3500" spc="-4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Engine,</a:t>
            </a:r>
            <a:r>
              <a:rPr dirty="0" sz="3500" spc="-50">
                <a:latin typeface="Calibri"/>
                <a:cs typeface="Calibri"/>
              </a:rPr>
              <a:t> </a:t>
            </a:r>
            <a:r>
              <a:rPr dirty="0" sz="3500" spc="-25">
                <a:latin typeface="Calibri"/>
                <a:cs typeface="Calibri"/>
              </a:rPr>
              <a:t>and </a:t>
            </a:r>
            <a:r>
              <a:rPr dirty="0" sz="3500" spc="-20">
                <a:latin typeface="Calibri"/>
                <a:cs typeface="Calibri"/>
              </a:rPr>
              <a:t>Context-</a:t>
            </a:r>
            <a:r>
              <a:rPr dirty="0" sz="3500">
                <a:latin typeface="Calibri"/>
                <a:cs typeface="Calibri"/>
              </a:rPr>
              <a:t>Aware</a:t>
            </a:r>
            <a:r>
              <a:rPr dirty="0" sz="3500" spc="-7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Autonomous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Response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for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intelligent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threat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detection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and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incident response.</a:t>
            </a:r>
            <a:endParaRPr sz="3500">
              <a:latin typeface="Calibri"/>
              <a:cs typeface="Calibri"/>
            </a:endParaRPr>
          </a:p>
          <a:p>
            <a:pPr marL="12700" marR="5080">
              <a:lnSpc>
                <a:spcPct val="121400"/>
              </a:lnSpc>
              <a:spcBef>
                <a:spcPts val="5"/>
              </a:spcBef>
            </a:pPr>
            <a:r>
              <a:rPr dirty="0" sz="3500">
                <a:latin typeface="Calibri"/>
                <a:cs typeface="Calibri"/>
              </a:rPr>
              <a:t>The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proposed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research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seeks</a:t>
            </a:r>
            <a:r>
              <a:rPr dirty="0" sz="3500" spc="-6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to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improve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threat</a:t>
            </a:r>
            <a:r>
              <a:rPr dirty="0" sz="3500" spc="-6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detection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accuracy,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reduce</a:t>
            </a:r>
            <a:r>
              <a:rPr dirty="0" sz="3500" spc="-6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false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positives, </a:t>
            </a:r>
            <a:r>
              <a:rPr dirty="0" sz="3500">
                <a:latin typeface="Calibri"/>
                <a:cs typeface="Calibri"/>
              </a:rPr>
              <a:t>and</a:t>
            </a:r>
            <a:r>
              <a:rPr dirty="0" sz="3500" spc="-7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provide</a:t>
            </a:r>
            <a:r>
              <a:rPr dirty="0" sz="3500" spc="-7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explainable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 spc="-20">
                <a:latin typeface="Calibri"/>
                <a:cs typeface="Calibri"/>
              </a:rPr>
              <a:t>AI-</a:t>
            </a:r>
            <a:r>
              <a:rPr dirty="0" sz="3500">
                <a:latin typeface="Calibri"/>
                <a:cs typeface="Calibri"/>
              </a:rPr>
              <a:t>driven</a:t>
            </a:r>
            <a:r>
              <a:rPr dirty="0" sz="3500" spc="-7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cybersecurity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for</a:t>
            </a:r>
            <a:r>
              <a:rPr dirty="0" sz="3500" spc="-70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next-</a:t>
            </a:r>
            <a:r>
              <a:rPr dirty="0" sz="3500">
                <a:latin typeface="Calibri"/>
                <a:cs typeface="Calibri"/>
              </a:rPr>
              <a:t>generation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smart</a:t>
            </a:r>
            <a:r>
              <a:rPr dirty="0" sz="3500" spc="-70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cities.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25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47934" rIns="0" bIns="0" rtlCol="0" vert="horz">
            <a:spAutoFit/>
          </a:bodyPr>
          <a:lstStyle/>
          <a:p>
            <a:pPr marL="506349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778" y="1109821"/>
            <a:ext cx="17520920" cy="779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8100"/>
              </a:lnSpc>
              <a:spcBef>
                <a:spcPts val="95"/>
              </a:spcBef>
            </a:pPr>
            <a:r>
              <a:rPr dirty="0" sz="3600">
                <a:latin typeface="Calibri"/>
                <a:cs typeface="Calibri"/>
              </a:rPr>
              <a:t>[1]</a:t>
            </a:r>
            <a:r>
              <a:rPr dirty="0" sz="3600" spc="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Nandiya,</a:t>
            </a:r>
            <a:r>
              <a:rPr dirty="0" sz="3600" spc="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Padmeswari,</a:t>
            </a:r>
            <a:r>
              <a:rPr dirty="0" sz="3600" spc="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Mohsin,</a:t>
            </a:r>
            <a:r>
              <a:rPr dirty="0" sz="3600" spc="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Ahmad,</a:t>
            </a:r>
            <a:r>
              <a:rPr dirty="0" sz="3600" spc="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Ibrahim,</a:t>
            </a:r>
            <a:r>
              <a:rPr dirty="0" sz="3600" spc="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Ahmed,</a:t>
            </a:r>
            <a:r>
              <a:rPr dirty="0" sz="3600" spc="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Sarker,</a:t>
            </a:r>
            <a:r>
              <a:rPr dirty="0" sz="3600" spc="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Iqbal</a:t>
            </a:r>
            <a:r>
              <a:rPr dirty="0" sz="3600" spc="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H.,</a:t>
            </a:r>
            <a:r>
              <a:rPr dirty="0" sz="3600" spc="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&amp;</a:t>
            </a:r>
            <a:r>
              <a:rPr dirty="0" sz="3600" spc="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Janicke,</a:t>
            </a:r>
            <a:r>
              <a:rPr dirty="0" sz="3600" spc="5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Helge. </a:t>
            </a:r>
            <a:r>
              <a:rPr dirty="0" sz="3600">
                <a:latin typeface="Calibri"/>
                <a:cs typeface="Calibri"/>
              </a:rPr>
              <a:t>(2026).</a:t>
            </a:r>
            <a:r>
              <a:rPr dirty="0" sz="3600" spc="110">
                <a:latin typeface="Calibri"/>
                <a:cs typeface="Calibri"/>
              </a:rPr>
              <a:t> </a:t>
            </a:r>
            <a:r>
              <a:rPr dirty="0" sz="3600" spc="-25">
                <a:latin typeface="Calibri"/>
                <a:cs typeface="Calibri"/>
              </a:rPr>
              <a:t>BRIDG-</a:t>
            </a:r>
            <a:r>
              <a:rPr dirty="0" sz="3600">
                <a:latin typeface="Calibri"/>
                <a:cs typeface="Calibri"/>
              </a:rPr>
              <a:t>ICS:</a:t>
            </a:r>
            <a:r>
              <a:rPr dirty="0" sz="3600" spc="114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AI-Grounded</a:t>
            </a:r>
            <a:r>
              <a:rPr dirty="0" sz="3600" spc="1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Knowledge</a:t>
            </a:r>
            <a:r>
              <a:rPr dirty="0" sz="3600" spc="114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Graphs</a:t>
            </a:r>
            <a:r>
              <a:rPr dirty="0" sz="3600" spc="114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for</a:t>
            </a:r>
            <a:r>
              <a:rPr dirty="0" sz="3600" spc="1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Intelligent</a:t>
            </a:r>
            <a:r>
              <a:rPr dirty="0" sz="3600" spc="114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Threat</a:t>
            </a:r>
            <a:r>
              <a:rPr dirty="0" sz="3600" spc="1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Analytics</a:t>
            </a:r>
            <a:r>
              <a:rPr dirty="0" sz="3600" spc="114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in</a:t>
            </a:r>
            <a:r>
              <a:rPr dirty="0" sz="3600" spc="114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Industry</a:t>
            </a:r>
            <a:endParaRPr sz="36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780"/>
              </a:spcBef>
            </a:pPr>
            <a:r>
              <a:rPr dirty="0" sz="3600">
                <a:latin typeface="Calibri"/>
                <a:cs typeface="Calibri"/>
              </a:rPr>
              <a:t>5.0</a:t>
            </a:r>
            <a:r>
              <a:rPr dirty="0" sz="3600" spc="-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Cyber-Physical</a:t>
            </a:r>
            <a:r>
              <a:rPr dirty="0" sz="3600" spc="-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Systems.</a:t>
            </a:r>
            <a:r>
              <a:rPr dirty="0" sz="3600" spc="-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Cybersecurity</a:t>
            </a:r>
            <a:r>
              <a:rPr dirty="0" sz="3600" spc="-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(Springer).</a:t>
            </a:r>
            <a:r>
              <a:rPr dirty="0" sz="3600" spc="-1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  <a:hlinkClick r:id="rId2"/>
              </a:rPr>
              <a:t>https://arxiv.org/abs/2512.12112</a:t>
            </a:r>
            <a:endParaRPr sz="3600">
              <a:latin typeface="Calibri"/>
              <a:cs typeface="Calibri"/>
            </a:endParaRPr>
          </a:p>
          <a:p>
            <a:pPr algn="just" marL="12700" marR="5080" indent="737870">
              <a:lnSpc>
                <a:spcPts val="5100"/>
              </a:lnSpc>
              <a:spcBef>
                <a:spcPts val="300"/>
              </a:spcBef>
              <a:buAutoNum type="arabicPlain" startAt="2"/>
              <a:tabLst>
                <a:tab pos="750570" algn="l"/>
              </a:tabLst>
            </a:pPr>
            <a:r>
              <a:rPr dirty="0" sz="3600">
                <a:latin typeface="Calibri"/>
                <a:cs typeface="Calibri"/>
              </a:rPr>
              <a:t>Empl,</a:t>
            </a:r>
            <a:r>
              <a:rPr dirty="0" sz="3600" spc="7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Philip</a:t>
            </a:r>
            <a:r>
              <a:rPr dirty="0" sz="3600" spc="7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&amp;</a:t>
            </a:r>
            <a:r>
              <a:rPr dirty="0" sz="3600" spc="7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Pernul,</a:t>
            </a:r>
            <a:r>
              <a:rPr dirty="0" sz="3600" spc="80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Günther.</a:t>
            </a:r>
            <a:r>
              <a:rPr dirty="0" sz="3600" spc="7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(2023).</a:t>
            </a:r>
            <a:r>
              <a:rPr dirty="0" sz="3600" spc="7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Digital-Twin-Based</a:t>
            </a:r>
            <a:r>
              <a:rPr dirty="0" sz="3600" spc="7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Security</a:t>
            </a:r>
            <a:r>
              <a:rPr dirty="0" sz="3600" spc="80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Analytics</a:t>
            </a:r>
            <a:r>
              <a:rPr dirty="0" sz="3600" spc="7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for</a:t>
            </a:r>
            <a:r>
              <a:rPr dirty="0" sz="3600" spc="75">
                <a:latin typeface="Calibri"/>
                <a:cs typeface="Calibri"/>
              </a:rPr>
              <a:t>  </a:t>
            </a:r>
            <a:r>
              <a:rPr dirty="0" sz="3600" spc="-25">
                <a:latin typeface="Calibri"/>
                <a:cs typeface="Calibri"/>
              </a:rPr>
              <a:t>the </a:t>
            </a:r>
            <a:r>
              <a:rPr dirty="0" sz="3600">
                <a:latin typeface="Calibri"/>
                <a:cs typeface="Calibri"/>
              </a:rPr>
              <a:t>Internet</a:t>
            </a:r>
            <a:r>
              <a:rPr dirty="0" sz="3600" spc="-1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of</a:t>
            </a:r>
            <a:r>
              <a:rPr dirty="0" sz="3600" spc="-1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Things.</a:t>
            </a:r>
            <a:r>
              <a:rPr dirty="0" sz="3600" spc="-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Information,</a:t>
            </a:r>
            <a:r>
              <a:rPr dirty="0" sz="3600" spc="-1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14(2),</a:t>
            </a:r>
            <a:r>
              <a:rPr dirty="0" sz="3600" spc="-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95.</a:t>
            </a:r>
            <a:r>
              <a:rPr dirty="0" sz="3600" spc="-1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  <a:hlinkClick r:id="rId3"/>
              </a:rPr>
              <a:t>https://doi.org/10.3390/info14020095</a:t>
            </a:r>
            <a:endParaRPr sz="3600">
              <a:latin typeface="Calibri"/>
              <a:cs typeface="Calibri"/>
            </a:endParaRPr>
          </a:p>
          <a:p>
            <a:pPr algn="just" marL="12700" marR="5080" indent="794385">
              <a:lnSpc>
                <a:spcPts val="5100"/>
              </a:lnSpc>
              <a:buAutoNum type="arabicPlain" startAt="2"/>
              <a:tabLst>
                <a:tab pos="807085" algn="l"/>
              </a:tabLst>
            </a:pPr>
            <a:r>
              <a:rPr dirty="0" sz="3600">
                <a:latin typeface="Calibri"/>
                <a:cs typeface="Calibri"/>
              </a:rPr>
              <a:t>Shalaby,</a:t>
            </a:r>
            <a:r>
              <a:rPr dirty="0" sz="3600" spc="290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Ahmed,</a:t>
            </a:r>
            <a:r>
              <a:rPr dirty="0" sz="3600" spc="29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et</a:t>
            </a:r>
            <a:r>
              <a:rPr dirty="0" sz="3600" spc="29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al.</a:t>
            </a:r>
            <a:r>
              <a:rPr dirty="0" sz="3600" spc="29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(2025).</a:t>
            </a:r>
            <a:r>
              <a:rPr dirty="0" sz="3600" spc="29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Cybersecurity</a:t>
            </a:r>
            <a:r>
              <a:rPr dirty="0" sz="3600" spc="29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Threat</a:t>
            </a:r>
            <a:r>
              <a:rPr dirty="0" sz="3600" spc="29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Detection</a:t>
            </a:r>
            <a:r>
              <a:rPr dirty="0" sz="3600" spc="29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Based</a:t>
            </a:r>
            <a:r>
              <a:rPr dirty="0" sz="3600" spc="29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on</a:t>
            </a:r>
            <a:r>
              <a:rPr dirty="0" sz="3600" spc="29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a</a:t>
            </a:r>
            <a:r>
              <a:rPr dirty="0" sz="3600" spc="295">
                <a:latin typeface="Calibri"/>
                <a:cs typeface="Calibri"/>
              </a:rPr>
              <a:t>  </a:t>
            </a:r>
            <a:r>
              <a:rPr dirty="0" sz="3600" spc="-20">
                <a:latin typeface="Calibri"/>
                <a:cs typeface="Calibri"/>
              </a:rPr>
              <a:t>UEBA </a:t>
            </a:r>
            <a:r>
              <a:rPr dirty="0" sz="3600">
                <a:latin typeface="Calibri"/>
                <a:cs typeface="Calibri"/>
              </a:rPr>
              <a:t>Framework</a:t>
            </a:r>
            <a:r>
              <a:rPr dirty="0" sz="3600" spc="-1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Using</a:t>
            </a:r>
            <a:r>
              <a:rPr dirty="0" sz="3600" spc="-1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Deep</a:t>
            </a:r>
            <a:r>
              <a:rPr dirty="0" sz="3600" spc="-1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Autoencoders.</a:t>
            </a:r>
            <a:r>
              <a:rPr dirty="0" sz="3600" spc="-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arXiv</a:t>
            </a:r>
            <a:r>
              <a:rPr dirty="0" sz="3600" spc="-1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Preprint.</a:t>
            </a:r>
            <a:r>
              <a:rPr dirty="0" sz="3600" spc="-1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  <a:hlinkClick r:id="rId4"/>
              </a:rPr>
              <a:t>https://arxiv.org/abs/2505.11542</a:t>
            </a:r>
            <a:endParaRPr sz="3600">
              <a:latin typeface="Calibri"/>
              <a:cs typeface="Calibri"/>
            </a:endParaRPr>
          </a:p>
          <a:p>
            <a:pPr algn="just" marL="12700" marR="5080" indent="690245">
              <a:lnSpc>
                <a:spcPts val="5100"/>
              </a:lnSpc>
              <a:buAutoNum type="arabicPlain" startAt="2"/>
              <a:tabLst>
                <a:tab pos="702945" algn="l"/>
              </a:tabLst>
            </a:pPr>
            <a:r>
              <a:rPr dirty="0" sz="3600">
                <a:latin typeface="Calibri"/>
                <a:cs typeface="Calibri"/>
              </a:rPr>
              <a:t>Daniel,</a:t>
            </a:r>
            <a:r>
              <a:rPr dirty="0" sz="3600" spc="5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G.,</a:t>
            </a:r>
            <a:r>
              <a:rPr dirty="0" sz="3600" spc="5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et</a:t>
            </a:r>
            <a:r>
              <a:rPr dirty="0" sz="3600" spc="5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al.</a:t>
            </a:r>
            <a:r>
              <a:rPr dirty="0" sz="3600" spc="5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(2025).</a:t>
            </a:r>
            <a:r>
              <a:rPr dirty="0" sz="3600" spc="5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Concept</a:t>
            </a:r>
            <a:r>
              <a:rPr dirty="0" sz="3600" spc="5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Drift</a:t>
            </a:r>
            <a:r>
              <a:rPr dirty="0" sz="3600" spc="5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Under</a:t>
            </a:r>
            <a:r>
              <a:rPr dirty="0" sz="3600" spc="5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Harsh</a:t>
            </a:r>
            <a:r>
              <a:rPr dirty="0" sz="3600" spc="5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Constraints:</a:t>
            </a:r>
            <a:r>
              <a:rPr dirty="0" sz="3600" spc="5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</a:t>
            </a:r>
            <a:r>
              <a:rPr dirty="0" sz="3600" spc="5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Review</a:t>
            </a:r>
            <a:r>
              <a:rPr dirty="0" sz="3600" spc="5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of</a:t>
            </a:r>
            <a:r>
              <a:rPr dirty="0" sz="3600" spc="58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Potential </a:t>
            </a:r>
            <a:r>
              <a:rPr dirty="0" sz="3600">
                <a:latin typeface="Calibri"/>
                <a:cs typeface="Calibri"/>
              </a:rPr>
              <a:t>Strategies</a:t>
            </a:r>
            <a:r>
              <a:rPr dirty="0" sz="3600" spc="-4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for</a:t>
            </a:r>
            <a:r>
              <a:rPr dirty="0" sz="3600" spc="-3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IoT</a:t>
            </a:r>
            <a:r>
              <a:rPr dirty="0" sz="3600" spc="-3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Systems.</a:t>
            </a:r>
            <a:r>
              <a:rPr dirty="0" sz="3600" spc="-3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IEEE</a:t>
            </a:r>
            <a:r>
              <a:rPr dirty="0" sz="3600" spc="-3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Access.</a:t>
            </a:r>
            <a:r>
              <a:rPr dirty="0" sz="3600" spc="-3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  <a:hlinkClick r:id="rId5"/>
              </a:rPr>
              <a:t>https://ieeexplore.ieee.org/document/11206138</a:t>
            </a:r>
            <a:endParaRPr sz="3600">
              <a:latin typeface="Calibri"/>
              <a:cs typeface="Calibri"/>
            </a:endParaRPr>
          </a:p>
          <a:p>
            <a:pPr algn="just" marL="12700" marR="5080" indent="667385">
              <a:lnSpc>
                <a:spcPts val="5100"/>
              </a:lnSpc>
              <a:buAutoNum type="arabicPlain" startAt="2"/>
              <a:tabLst>
                <a:tab pos="680085" algn="l"/>
              </a:tabLst>
            </a:pPr>
            <a:r>
              <a:rPr dirty="0" sz="3600">
                <a:latin typeface="Calibri"/>
                <a:cs typeface="Calibri"/>
              </a:rPr>
              <a:t>PROV-LLM:</a:t>
            </a:r>
            <a:r>
              <a:rPr dirty="0" sz="3600" spc="38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Advanced</a:t>
            </a:r>
            <a:r>
              <a:rPr dirty="0" sz="3600" spc="39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Persistent</a:t>
            </a:r>
            <a:r>
              <a:rPr dirty="0" sz="3600" spc="38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Threat</a:t>
            </a:r>
            <a:r>
              <a:rPr dirty="0" sz="3600" spc="39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Detection</a:t>
            </a:r>
            <a:r>
              <a:rPr dirty="0" sz="3600" spc="38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Based</a:t>
            </a:r>
            <a:r>
              <a:rPr dirty="0" sz="3600" spc="39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on</a:t>
            </a:r>
            <a:r>
              <a:rPr dirty="0" sz="3600" spc="39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Process</a:t>
            </a:r>
            <a:r>
              <a:rPr dirty="0" sz="3600" spc="38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Behavior</a:t>
            </a:r>
            <a:r>
              <a:rPr dirty="0" sz="3600" spc="39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Subgraphs </a:t>
            </a:r>
            <a:r>
              <a:rPr dirty="0" sz="3600">
                <a:latin typeface="Calibri"/>
                <a:cs typeface="Calibri"/>
              </a:rPr>
              <a:t>Using</a:t>
            </a:r>
            <a:r>
              <a:rPr dirty="0" sz="3600" spc="515">
                <a:latin typeface="Calibri"/>
                <a:cs typeface="Calibri"/>
              </a:rPr>
              <a:t>   </a:t>
            </a:r>
            <a:r>
              <a:rPr dirty="0" sz="3600">
                <a:latin typeface="Calibri"/>
                <a:cs typeface="Calibri"/>
              </a:rPr>
              <a:t>Large</a:t>
            </a:r>
            <a:r>
              <a:rPr dirty="0" sz="3600" spc="515">
                <a:latin typeface="Calibri"/>
                <a:cs typeface="Calibri"/>
              </a:rPr>
              <a:t>   </a:t>
            </a:r>
            <a:r>
              <a:rPr dirty="0" sz="3600">
                <a:latin typeface="Calibri"/>
                <a:cs typeface="Calibri"/>
              </a:rPr>
              <a:t>Language</a:t>
            </a:r>
            <a:r>
              <a:rPr dirty="0" sz="3600" spc="515">
                <a:latin typeface="Calibri"/>
                <a:cs typeface="Calibri"/>
              </a:rPr>
              <a:t>   </a:t>
            </a:r>
            <a:r>
              <a:rPr dirty="0" sz="3600">
                <a:latin typeface="Calibri"/>
                <a:cs typeface="Calibri"/>
              </a:rPr>
              <a:t>Models.</a:t>
            </a:r>
            <a:r>
              <a:rPr dirty="0" sz="3600" spc="515">
                <a:latin typeface="Calibri"/>
                <a:cs typeface="Calibri"/>
              </a:rPr>
              <a:t>   </a:t>
            </a:r>
            <a:r>
              <a:rPr dirty="0" sz="3600">
                <a:latin typeface="Calibri"/>
                <a:cs typeface="Calibri"/>
              </a:rPr>
              <a:t>(2025).</a:t>
            </a:r>
            <a:r>
              <a:rPr dirty="0" sz="3600" spc="515">
                <a:latin typeface="Calibri"/>
                <a:cs typeface="Calibri"/>
              </a:rPr>
              <a:t>   </a:t>
            </a:r>
            <a:r>
              <a:rPr dirty="0" sz="3600">
                <a:latin typeface="Calibri"/>
                <a:cs typeface="Calibri"/>
              </a:rPr>
              <a:t>Proceedings</a:t>
            </a:r>
            <a:r>
              <a:rPr dirty="0" sz="3600" spc="515">
                <a:latin typeface="Calibri"/>
                <a:cs typeface="Calibri"/>
              </a:rPr>
              <a:t>   </a:t>
            </a:r>
            <a:r>
              <a:rPr dirty="0" sz="3600">
                <a:latin typeface="Calibri"/>
                <a:cs typeface="Calibri"/>
              </a:rPr>
              <a:t>of</a:t>
            </a:r>
            <a:r>
              <a:rPr dirty="0" sz="3600" spc="515">
                <a:latin typeface="Calibri"/>
                <a:cs typeface="Calibri"/>
              </a:rPr>
              <a:t>   </a:t>
            </a:r>
            <a:r>
              <a:rPr dirty="0" sz="3600">
                <a:latin typeface="Calibri"/>
                <a:cs typeface="Calibri"/>
              </a:rPr>
              <a:t>IEEE</a:t>
            </a:r>
            <a:r>
              <a:rPr dirty="0" sz="3600" spc="515">
                <a:latin typeface="Calibri"/>
                <a:cs typeface="Calibri"/>
              </a:rPr>
              <a:t>   </a:t>
            </a:r>
            <a:r>
              <a:rPr dirty="0" sz="3600">
                <a:latin typeface="Calibri"/>
                <a:cs typeface="Calibri"/>
              </a:rPr>
              <a:t>TrustCom</a:t>
            </a:r>
            <a:r>
              <a:rPr dirty="0" sz="3600" spc="515">
                <a:latin typeface="Calibri"/>
                <a:cs typeface="Calibri"/>
              </a:rPr>
              <a:t>   </a:t>
            </a:r>
            <a:r>
              <a:rPr dirty="0" sz="3600" spc="-10">
                <a:latin typeface="Calibri"/>
                <a:cs typeface="Calibri"/>
              </a:rPr>
              <a:t>2025. </a:t>
            </a:r>
            <a:r>
              <a:rPr dirty="0" sz="3600" spc="-10">
                <a:latin typeface="Calibri"/>
                <a:cs typeface="Calibri"/>
                <a:hlinkClick r:id="rId6"/>
              </a:rPr>
              <a:t>https://doi.org/10.1109/Trustcom66490.2025.00113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26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394945" y="111125"/>
            <a:ext cx="5288915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0256" y="1221739"/>
            <a:ext cx="16727805" cy="7569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628015">
              <a:lnSpc>
                <a:spcPct val="125000"/>
              </a:lnSpc>
              <a:spcBef>
                <a:spcPts val="100"/>
              </a:spcBef>
              <a:buFont typeface="Calibri"/>
              <a:buAutoNum type="arabicPlain" startAt="6"/>
              <a:tabLst>
                <a:tab pos="640715" algn="l"/>
              </a:tabLst>
            </a:pPr>
            <a:r>
              <a:rPr dirty="0" sz="3600">
                <a:latin typeface="Calibri"/>
                <a:cs typeface="Calibri"/>
              </a:rPr>
              <a:t>Baha,</a:t>
            </a:r>
            <a:r>
              <a:rPr dirty="0" sz="3600" spc="7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Lina,</a:t>
            </a:r>
            <a:r>
              <a:rPr dirty="0" sz="3600" spc="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Mammasse,</a:t>
            </a:r>
            <a:r>
              <a:rPr dirty="0" sz="3600" spc="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Amine,</a:t>
            </a:r>
            <a:r>
              <a:rPr dirty="0" sz="3600" spc="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&amp;</a:t>
            </a:r>
            <a:r>
              <a:rPr dirty="0" sz="3600" spc="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Saci,</a:t>
            </a:r>
            <a:r>
              <a:rPr dirty="0" sz="3600" spc="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Oualid.</a:t>
            </a:r>
            <a:r>
              <a:rPr dirty="0" sz="3600" spc="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(2025).</a:t>
            </a:r>
            <a:r>
              <a:rPr dirty="0" sz="3600" spc="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</a:t>
            </a:r>
            <a:r>
              <a:rPr dirty="0" sz="3600" spc="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Hybrid</a:t>
            </a:r>
            <a:r>
              <a:rPr dirty="0" sz="3600" spc="7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GNN–LLM</a:t>
            </a:r>
            <a:r>
              <a:rPr dirty="0" sz="3600" spc="8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Framework </a:t>
            </a:r>
            <a:r>
              <a:rPr dirty="0" sz="3600">
                <a:latin typeface="Calibri"/>
                <a:cs typeface="Calibri"/>
              </a:rPr>
              <a:t>for</a:t>
            </a:r>
            <a:r>
              <a:rPr dirty="0" sz="3600" spc="200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Correlating</a:t>
            </a:r>
            <a:r>
              <a:rPr dirty="0" sz="3600" spc="200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Cybersecurity</a:t>
            </a:r>
            <a:r>
              <a:rPr dirty="0" sz="3600" spc="204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Incidents.</a:t>
            </a:r>
            <a:r>
              <a:rPr dirty="0" sz="3600" spc="200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Proceedings</a:t>
            </a:r>
            <a:r>
              <a:rPr dirty="0" sz="3600" spc="204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of</a:t>
            </a:r>
            <a:r>
              <a:rPr dirty="0" sz="3600" spc="200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the</a:t>
            </a:r>
            <a:r>
              <a:rPr dirty="0" sz="3600" spc="200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2025</a:t>
            </a:r>
            <a:r>
              <a:rPr dirty="0" sz="3600" spc="204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IEEE</a:t>
            </a:r>
            <a:r>
              <a:rPr dirty="0" sz="3600" spc="200">
                <a:latin typeface="Calibri"/>
                <a:cs typeface="Calibri"/>
              </a:rPr>
              <a:t>  </a:t>
            </a:r>
            <a:r>
              <a:rPr dirty="0" sz="3600" spc="-10">
                <a:latin typeface="Calibri"/>
                <a:cs typeface="Calibri"/>
              </a:rPr>
              <a:t>International </a:t>
            </a:r>
            <a:r>
              <a:rPr dirty="0" sz="3600">
                <a:latin typeface="Calibri"/>
                <a:cs typeface="Calibri"/>
              </a:rPr>
              <a:t>Conference</a:t>
            </a:r>
            <a:r>
              <a:rPr dirty="0" sz="3600" spc="130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on</a:t>
            </a:r>
            <a:r>
              <a:rPr dirty="0" sz="3600" spc="13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Theoretical</a:t>
            </a:r>
            <a:r>
              <a:rPr dirty="0" sz="3600" spc="130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and</a:t>
            </a:r>
            <a:r>
              <a:rPr dirty="0" sz="3600" spc="13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Applicative</a:t>
            </a:r>
            <a:r>
              <a:rPr dirty="0" sz="3600" spc="13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Aspects</a:t>
            </a:r>
            <a:r>
              <a:rPr dirty="0" sz="3600" spc="130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of</a:t>
            </a:r>
            <a:r>
              <a:rPr dirty="0" sz="3600" spc="13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Computer</a:t>
            </a:r>
            <a:r>
              <a:rPr dirty="0" sz="3600" spc="13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Science</a:t>
            </a:r>
            <a:r>
              <a:rPr dirty="0" sz="3600" spc="130">
                <a:latin typeface="Calibri"/>
                <a:cs typeface="Calibri"/>
              </a:rPr>
              <a:t>  </a:t>
            </a:r>
            <a:r>
              <a:rPr dirty="0" sz="3600" spc="-10">
                <a:latin typeface="Calibri"/>
                <a:cs typeface="Calibri"/>
              </a:rPr>
              <a:t>(ICTAACS). </a:t>
            </a:r>
            <a:r>
              <a:rPr dirty="0" sz="3600" spc="-10">
                <a:latin typeface="Calibri"/>
                <a:cs typeface="Calibri"/>
                <a:hlinkClick r:id="rId2"/>
              </a:rPr>
              <a:t>https://doi.org/10.1109/ICTAACS69003.2025.11399321</a:t>
            </a:r>
            <a:endParaRPr sz="3600">
              <a:latin typeface="Calibri"/>
              <a:cs typeface="Calibri"/>
            </a:endParaRPr>
          </a:p>
          <a:p>
            <a:pPr algn="just" marL="12700" marR="5080" indent="648335">
              <a:lnSpc>
                <a:spcPct val="125000"/>
              </a:lnSpc>
              <a:buAutoNum type="arabicPlain" startAt="6"/>
              <a:tabLst>
                <a:tab pos="661035" algn="l"/>
              </a:tabLst>
            </a:pPr>
            <a:r>
              <a:rPr dirty="0" sz="3600">
                <a:latin typeface="Calibri"/>
                <a:cs typeface="Calibri"/>
              </a:rPr>
              <a:t>Hmimou, Yasser, Tabaa, Mohamed, Khiat, Azeddine, &amp; Hidila, Zineb. (2025). A </a:t>
            </a:r>
            <a:r>
              <a:rPr dirty="0" sz="3600" spc="-10">
                <a:latin typeface="Calibri"/>
                <a:cs typeface="Calibri"/>
              </a:rPr>
              <a:t>Multi-</a:t>
            </a:r>
            <a:r>
              <a:rPr dirty="0" sz="3600">
                <a:latin typeface="Calibri"/>
                <a:cs typeface="Calibri"/>
              </a:rPr>
              <a:t>Agent</a:t>
            </a:r>
            <a:r>
              <a:rPr dirty="0" sz="3600" spc="37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System</a:t>
            </a:r>
            <a:r>
              <a:rPr dirty="0" sz="3600" spc="37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for</a:t>
            </a:r>
            <a:r>
              <a:rPr dirty="0" sz="3600" spc="3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Cybersecurity</a:t>
            </a:r>
            <a:r>
              <a:rPr dirty="0" sz="3600" spc="37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Threat</a:t>
            </a:r>
            <a:r>
              <a:rPr dirty="0" sz="3600" spc="37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Detection</a:t>
            </a:r>
            <a:r>
              <a:rPr dirty="0" sz="3600" spc="3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and</a:t>
            </a:r>
            <a:r>
              <a:rPr dirty="0" sz="3600" spc="37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Correlation</a:t>
            </a:r>
            <a:r>
              <a:rPr dirty="0" sz="3600" spc="37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Using</a:t>
            </a:r>
            <a:r>
              <a:rPr dirty="0" sz="3600" spc="38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Large</a:t>
            </a:r>
            <a:r>
              <a:rPr dirty="0" sz="3600" spc="37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Language </a:t>
            </a:r>
            <a:r>
              <a:rPr dirty="0" sz="3600">
                <a:latin typeface="Calibri"/>
                <a:cs typeface="Calibri"/>
              </a:rPr>
              <a:t>Models.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IEEE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Access,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13.</a:t>
            </a:r>
            <a:r>
              <a:rPr dirty="0" sz="3600" spc="-5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  <a:hlinkClick r:id="rId3"/>
              </a:rPr>
              <a:t>https://doi.org/10.1109/ACCESS.2025.3602681</a:t>
            </a:r>
            <a:endParaRPr sz="3600">
              <a:latin typeface="Calibri"/>
              <a:cs typeface="Calibri"/>
            </a:endParaRPr>
          </a:p>
          <a:p>
            <a:pPr algn="just" marL="12700" marR="5080" indent="713740">
              <a:lnSpc>
                <a:spcPct val="125000"/>
              </a:lnSpc>
              <a:buAutoNum type="arabicPlain" startAt="6"/>
              <a:tabLst>
                <a:tab pos="726440" algn="l"/>
              </a:tabLst>
            </a:pPr>
            <a:r>
              <a:rPr dirty="0" sz="3600">
                <a:latin typeface="Calibri"/>
                <a:cs typeface="Calibri"/>
              </a:rPr>
              <a:t>Islam,</a:t>
            </a:r>
            <a:r>
              <a:rPr dirty="0" sz="3600" spc="7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Mohammad</a:t>
            </a:r>
            <a:r>
              <a:rPr dirty="0" sz="3600" spc="7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M.,</a:t>
            </a:r>
            <a:r>
              <a:rPr dirty="0" sz="3600" spc="7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Elluri,</a:t>
            </a:r>
            <a:r>
              <a:rPr dirty="0" sz="3600" spc="7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Lavanya,</a:t>
            </a:r>
            <a:r>
              <a:rPr dirty="0" sz="3600" spc="7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&amp;</a:t>
            </a:r>
            <a:r>
              <a:rPr dirty="0" sz="3600" spc="7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Joshi,</a:t>
            </a:r>
            <a:r>
              <a:rPr dirty="0" sz="3600" spc="7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Karuna</a:t>
            </a:r>
            <a:r>
              <a:rPr dirty="0" sz="3600" spc="7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Pande.</a:t>
            </a:r>
            <a:r>
              <a:rPr dirty="0" sz="3600" spc="7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(2025).</a:t>
            </a:r>
            <a:r>
              <a:rPr dirty="0" sz="3600" spc="75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Integrating </a:t>
            </a:r>
            <a:r>
              <a:rPr dirty="0" sz="3600">
                <a:latin typeface="Calibri"/>
                <a:cs typeface="Calibri"/>
              </a:rPr>
              <a:t>Knowledge</a:t>
            </a:r>
            <a:r>
              <a:rPr dirty="0" sz="3600" spc="33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Graphs</a:t>
            </a:r>
            <a:r>
              <a:rPr dirty="0" sz="3600" spc="33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with</a:t>
            </a:r>
            <a:r>
              <a:rPr dirty="0" sz="3600" spc="33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Retrieval-Augmented</a:t>
            </a:r>
            <a:r>
              <a:rPr dirty="0" sz="3600" spc="33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Generation</a:t>
            </a:r>
            <a:r>
              <a:rPr dirty="0" sz="3600" spc="33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to</a:t>
            </a:r>
            <a:r>
              <a:rPr dirty="0" sz="3600" spc="340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Automate</a:t>
            </a:r>
            <a:r>
              <a:rPr dirty="0" sz="3600" spc="335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IoT</a:t>
            </a:r>
            <a:r>
              <a:rPr dirty="0" sz="3600" spc="335">
                <a:latin typeface="Calibri"/>
                <a:cs typeface="Calibri"/>
              </a:rPr>
              <a:t>  </a:t>
            </a:r>
            <a:r>
              <a:rPr dirty="0" sz="3600" spc="-10">
                <a:latin typeface="Calibri"/>
                <a:cs typeface="Calibri"/>
              </a:rPr>
              <a:t>Device </a:t>
            </a:r>
            <a:r>
              <a:rPr dirty="0" sz="3600">
                <a:latin typeface="Calibri"/>
                <a:cs typeface="Calibri"/>
              </a:rPr>
              <a:t>Security</a:t>
            </a:r>
            <a:r>
              <a:rPr dirty="0" sz="3600" spc="434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Compliance.</a:t>
            </a:r>
            <a:r>
              <a:rPr dirty="0" sz="3600" spc="440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Proceedings</a:t>
            </a:r>
            <a:r>
              <a:rPr dirty="0" sz="3600" spc="440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of</a:t>
            </a:r>
            <a:r>
              <a:rPr dirty="0" sz="3600" spc="434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the</a:t>
            </a:r>
            <a:r>
              <a:rPr dirty="0" sz="3600" spc="440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2025</a:t>
            </a:r>
            <a:r>
              <a:rPr dirty="0" sz="3600" spc="440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IEEE</a:t>
            </a:r>
            <a:r>
              <a:rPr dirty="0" sz="3600" spc="434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International</a:t>
            </a:r>
            <a:r>
              <a:rPr dirty="0" sz="3600" spc="440">
                <a:latin typeface="Calibri"/>
                <a:cs typeface="Calibri"/>
              </a:rPr>
              <a:t>  </a:t>
            </a:r>
            <a:r>
              <a:rPr dirty="0" sz="3600">
                <a:latin typeface="Calibri"/>
                <a:cs typeface="Calibri"/>
              </a:rPr>
              <a:t>Conference</a:t>
            </a:r>
            <a:r>
              <a:rPr dirty="0" sz="3600" spc="440">
                <a:latin typeface="Calibri"/>
                <a:cs typeface="Calibri"/>
              </a:rPr>
              <a:t>  </a:t>
            </a:r>
            <a:r>
              <a:rPr dirty="0" sz="3600" spc="-25">
                <a:latin typeface="Calibri"/>
                <a:cs typeface="Calibri"/>
              </a:rPr>
              <a:t>on </a:t>
            </a:r>
            <a:r>
              <a:rPr dirty="0" sz="3600">
                <a:latin typeface="Calibri"/>
                <a:cs typeface="Calibri"/>
              </a:rPr>
              <a:t>IntelligenceandSecurityInformatics(ISI). </a:t>
            </a:r>
            <a:r>
              <a:rPr dirty="0" sz="3600" spc="-10">
                <a:latin typeface="Calibri"/>
                <a:cs typeface="Calibri"/>
                <a:hlinkClick r:id="rId4"/>
              </a:rPr>
              <a:t>https://doi.org/10.1109/ISI65680.2025.11201135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27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394945" y="179514"/>
            <a:ext cx="5288915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49900" cy="10253980"/>
            <a:chOff x="0" y="0"/>
            <a:chExt cx="18249900" cy="1025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49899" cy="102536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43718" y="2535844"/>
              <a:ext cx="4936799" cy="411487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045"/>
              </a:lnSpc>
            </a:pPr>
            <a:r>
              <a:rPr dirty="0"/>
              <a:t>Page:</a:t>
            </a:r>
            <a:r>
              <a:rPr dirty="0" spc="-60"/>
              <a:t> </a:t>
            </a:r>
            <a:r>
              <a:rPr dirty="0" spc="-25"/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 Charan</dc:creator>
  <cp:keywords>DAHO0L-IUMQ,BAFvAr9iTFQ</cp:keywords>
  <dc:title>Guide Name: Dr. Kurunandan Jain, Assistant Professor</dc:title>
  <dcterms:created xsi:type="dcterms:W3CDTF">2026-07-27T09:14:03Z</dcterms:created>
  <dcterms:modified xsi:type="dcterms:W3CDTF">2026-07-27T09:14:03Z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2026-07-13T00:00:00Z</vt:filetime>
  </property>
  <property fmtid="{D5CDD505-2E9C-101B-9397-08002B2CF9AE}" pid="4" name="Creator">
    <vt:lpwstr>Canva</vt:lpwstr>
  </property>
  <property fmtid="{D5CDD505-2E9C-101B-9397-08002B2CF9AE}" pid="5" name="LastSaved">
    <vt:filetime>2026-07-27T00:00:00Z</vt:filetime>
  </property>
  <property fmtid="{D5CDD505-2E9C-101B-9397-08002B2CF9AE}" pid="6" name="Producer">
    <vt:lpwstr>Canva</vt:lpwstr>
  </property>
</Properties>
</file>